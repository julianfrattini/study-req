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79" r:id="rId4"/>
    <p:sldId id="260" r:id="rId5"/>
    <p:sldId id="269" r:id="rId6"/>
    <p:sldId id="261" r:id="rId7"/>
    <p:sldId id="271" r:id="rId8"/>
    <p:sldId id="272" r:id="rId9"/>
    <p:sldId id="273" r:id="rId10"/>
    <p:sldId id="262" r:id="rId11"/>
    <p:sldId id="280" r:id="rId12"/>
    <p:sldId id="283" r:id="rId13"/>
    <p:sldId id="281" r:id="rId14"/>
    <p:sldId id="282" r:id="rId15"/>
    <p:sldId id="284" r:id="rId16"/>
    <p:sldId id="285" r:id="rId17"/>
    <p:sldId id="274" r:id="rId18"/>
    <p:sldId id="286" r:id="rId19"/>
    <p:sldId id="287" r:id="rId20"/>
    <p:sldId id="275" r:id="rId21"/>
    <p:sldId id="276" r:id="rId22"/>
    <p:sldId id="289" r:id="rId23"/>
    <p:sldId id="277" r:id="rId24"/>
    <p:sldId id="278" r:id="rId25"/>
    <p:sldId id="270" r:id="rId26"/>
    <p:sldId id="288" r:id="rId27"/>
    <p:sldId id="267" r:id="rId28"/>
    <p:sldId id="268" r:id="rId29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CC29449-0C4D-440C-A898-37D5FC755553}">
          <p14:sldIdLst>
            <p14:sldId id="256"/>
            <p14:sldId id="258"/>
            <p14:sldId id="279"/>
            <p14:sldId id="260"/>
          </p14:sldIdLst>
        </p14:section>
        <p14:section name="Paradigm" id="{ECD3AEAA-E0B0-4A55-A38A-A7BB2E04A859}">
          <p14:sldIdLst>
            <p14:sldId id="269"/>
            <p14:sldId id="261"/>
            <p14:sldId id="271"/>
            <p14:sldId id="272"/>
            <p14:sldId id="273"/>
            <p14:sldId id="262"/>
            <p14:sldId id="280"/>
          </p14:sldIdLst>
        </p14:section>
        <p14:section name="Syntax" id="{A1B678BF-D43E-40A5-859A-6A44B7827314}">
          <p14:sldIdLst>
            <p14:sldId id="283"/>
            <p14:sldId id="281"/>
            <p14:sldId id="282"/>
            <p14:sldId id="284"/>
            <p14:sldId id="285"/>
            <p14:sldId id="274"/>
            <p14:sldId id="286"/>
            <p14:sldId id="287"/>
            <p14:sldId id="275"/>
            <p14:sldId id="276"/>
            <p14:sldId id="289"/>
            <p14:sldId id="277"/>
            <p14:sldId id="278"/>
          </p14:sldIdLst>
        </p14:section>
        <p14:section name="Conclusion" id="{1C5421DB-76E3-472E-A40F-F42F457B8670}">
          <p14:sldIdLst>
            <p14:sldId id="270"/>
            <p14:sldId id="288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741"/>
    <a:srgbClr val="56ABC3"/>
    <a:srgbClr val="ADDB7B"/>
    <a:srgbClr val="E1D5FF"/>
    <a:srgbClr val="F0A6A2"/>
    <a:srgbClr val="D42C22"/>
    <a:srgbClr val="DC5F12"/>
    <a:srgbClr val="ED7122"/>
    <a:srgbClr val="6B56D6"/>
    <a:srgbClr val="472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3" autoAdjust="0"/>
    <p:restoredTop sz="78935" autoAdjust="0"/>
  </p:normalViewPr>
  <p:slideViewPr>
    <p:cSldViewPr snapToGrid="0">
      <p:cViewPr varScale="1">
        <p:scale>
          <a:sx n="81" d="100"/>
          <a:sy n="81" d="100"/>
        </p:scale>
        <p:origin x="114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28809-A3C0-435B-AC12-B9138744A337}" type="datetimeFigureOut">
              <a:rPr lang="en-SE" smtClean="0"/>
              <a:t>2026-07-23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E9047-6757-432F-B3C4-B9B79F30218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6561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Status quo in requirements quality research: artifact-centric</a:t>
            </a:r>
          </a:p>
          <a:p>
            <a:r>
              <a:rPr lang="en-SE" dirty="0"/>
              <a:t>Looks good and sounds plausible, but there are still issues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21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A8D4B-4B10-EBAE-2A38-714FD23C1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ADE75-AC3A-23C6-B09B-3D2B4D696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1FA3B-19DC-81FF-FAD5-54672DABB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Sometimes we observe that the model/theory does not hold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Despite a “perfect” requirements specification (and a formal process), requirements artifacts are sometimes circumvented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SE" dirty="0"/>
              <a:t>Observed anomaly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47767-7FBB-2C23-7719-1BA9AA54D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13492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SE" dirty="0"/>
              <a:t>Paradigm: defines what counts as legitimate questions and valid answers (e.g., Newtonian mechanics)</a:t>
            </a:r>
          </a:p>
          <a:p>
            <a:pPr marL="228600" indent="-228600">
              <a:buFont typeface="+mj-lt"/>
              <a:buAutoNum type="arabicPeriod"/>
            </a:pPr>
            <a:r>
              <a:rPr lang="en-SE" dirty="0"/>
              <a:t>Normal science: productive scientific work within the framework defined by the paradigm</a:t>
            </a:r>
          </a:p>
          <a:p>
            <a:pPr marL="228600" indent="-228600">
              <a:buFont typeface="+mj-lt"/>
              <a:buAutoNum type="arabicPeriod"/>
            </a:pPr>
            <a:r>
              <a:rPr lang="en-SE" dirty="0"/>
              <a:t>Anomalies: results that do not fit the paradigm</a:t>
            </a:r>
          </a:p>
          <a:p>
            <a:pPr marL="228600" indent="-228600">
              <a:buFont typeface="+mj-lt"/>
              <a:buAutoNum type="arabicPeriod"/>
            </a:pPr>
            <a:r>
              <a:rPr lang="en-SE" dirty="0"/>
              <a:t>Crisis: anomalies that resist resolution</a:t>
            </a:r>
          </a:p>
          <a:p>
            <a:pPr marL="228600" indent="-228600">
              <a:buFont typeface="+mj-lt"/>
              <a:buAutoNum type="arabicPeriod"/>
            </a:pPr>
            <a:r>
              <a:rPr lang="en-SE" dirty="0"/>
              <a:t>Revolution: replacing an existing paradigm with a new one</a:t>
            </a:r>
          </a:p>
          <a:p>
            <a:pPr marL="0" indent="0">
              <a:buFont typeface="+mj-lt"/>
              <a:buNone/>
            </a:pPr>
            <a:endParaRPr lang="en-SE" dirty="0"/>
          </a:p>
          <a:p>
            <a:pPr marL="0" indent="0">
              <a:buFont typeface="+mj-lt"/>
              <a:buNone/>
            </a:pPr>
            <a:r>
              <a:rPr lang="en-SE" dirty="0"/>
              <a:t>New paradigm is </a:t>
            </a:r>
            <a:r>
              <a:rPr lang="en-SE" b="1" dirty="0"/>
              <a:t>incommensurable</a:t>
            </a:r>
            <a:r>
              <a:rPr lang="en-SE" b="0" dirty="0"/>
              <a:t> with the old one</a:t>
            </a:r>
            <a:endParaRPr lang="en-S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94230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Principle: </a:t>
            </a:r>
            <a:r>
              <a:rPr lang="en-SE" dirty="0" err="1"/>
              <a:t>requireme</a:t>
            </a:r>
            <a:r>
              <a:rPr lang="de-DE" dirty="0" err="1"/>
              <a:t>nt</a:t>
            </a:r>
            <a:r>
              <a:rPr lang="en-SE" dirty="0"/>
              <a:t>s are information</a:t>
            </a:r>
          </a:p>
          <a:p>
            <a:r>
              <a:rPr lang="en-SE" dirty="0"/>
              <a:t>Information particle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storage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transfer</a:t>
            </a:r>
          </a:p>
          <a:p>
            <a:r>
              <a:rPr lang="en-SE" dirty="0"/>
              <a:t>Information flow</a:t>
            </a:r>
          </a:p>
          <a:p>
            <a:pPr marL="0" indent="0">
              <a:buNone/>
            </a:pPr>
            <a:r>
              <a:rPr lang="en-SE" dirty="0"/>
              <a:t>-&gt; The quality of requirements engineering = effectiveness and efficiency of the information flow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93022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8AA9-A2A6-2624-AA67-0F5BDA3D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592C1-C4F1-F92B-C378-C17E63E1E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0C9C4-0F8D-424B-1B42-761DA7AD7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Principle: </a:t>
            </a:r>
            <a:r>
              <a:rPr lang="en-SE" dirty="0" err="1"/>
              <a:t>requireme</a:t>
            </a:r>
            <a:r>
              <a:rPr lang="de-DE" dirty="0" err="1"/>
              <a:t>nt</a:t>
            </a:r>
            <a:r>
              <a:rPr lang="en-SE" dirty="0"/>
              <a:t>s are information</a:t>
            </a:r>
          </a:p>
          <a:p>
            <a:r>
              <a:rPr lang="en-SE" dirty="0"/>
              <a:t>Information particle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storage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transfer</a:t>
            </a:r>
          </a:p>
          <a:p>
            <a:r>
              <a:rPr lang="en-SE" dirty="0"/>
              <a:t>Information flow</a:t>
            </a:r>
          </a:p>
          <a:p>
            <a:pPr marL="0" indent="0">
              <a:buNone/>
            </a:pPr>
            <a:r>
              <a:rPr lang="en-SE" dirty="0"/>
              <a:t>-&gt; The quality of requirements engineering = effectiveness and efficiency of the information flow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BE481-8CA0-276F-BA07-72BCE019B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82625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5BB1E-82BE-2BB9-6C03-F2FB6F70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58577-76AF-133C-1910-66AA6354B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7AE9E-DA8B-BC50-685D-076D87F9E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Principle: </a:t>
            </a:r>
            <a:r>
              <a:rPr lang="en-SE" dirty="0" err="1"/>
              <a:t>requireme</a:t>
            </a:r>
            <a:r>
              <a:rPr lang="de-DE" dirty="0" err="1"/>
              <a:t>nt</a:t>
            </a:r>
            <a:r>
              <a:rPr lang="en-SE" dirty="0"/>
              <a:t>s are information</a:t>
            </a:r>
          </a:p>
          <a:p>
            <a:r>
              <a:rPr lang="en-SE" dirty="0"/>
              <a:t>Information particle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storage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transfer</a:t>
            </a:r>
          </a:p>
          <a:p>
            <a:r>
              <a:rPr lang="en-SE" dirty="0"/>
              <a:t>Information flow</a:t>
            </a:r>
          </a:p>
          <a:p>
            <a:pPr marL="0" indent="0">
              <a:buNone/>
            </a:pPr>
            <a:r>
              <a:rPr lang="en-SE" dirty="0"/>
              <a:t>-&gt; The quality of requirements engineering = effectiveness and efficiency of the information flow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9F19F-3276-4415-54B0-EADC5E341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15693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2AC52-0D44-AA4E-5E63-46EA4A44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60722-539D-1316-DE91-00860E4E8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F3A67-CEC6-3E27-CF74-4EB149686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Principle: </a:t>
            </a:r>
            <a:r>
              <a:rPr lang="en-SE" dirty="0" err="1"/>
              <a:t>requireme</a:t>
            </a:r>
            <a:r>
              <a:rPr lang="de-DE" dirty="0" err="1"/>
              <a:t>nt</a:t>
            </a:r>
            <a:r>
              <a:rPr lang="en-SE" dirty="0"/>
              <a:t>s are information</a:t>
            </a:r>
          </a:p>
          <a:p>
            <a:r>
              <a:rPr lang="en-SE" dirty="0"/>
              <a:t>Information particle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storage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transfer</a:t>
            </a:r>
          </a:p>
          <a:p>
            <a:r>
              <a:rPr lang="en-SE" dirty="0"/>
              <a:t>Information flow</a:t>
            </a:r>
          </a:p>
          <a:p>
            <a:pPr marL="0" indent="0">
              <a:buNone/>
            </a:pPr>
            <a:r>
              <a:rPr lang="en-SE" dirty="0"/>
              <a:t>-&gt; The quality of requirements engineering = effectiveness and efficiency of the information flow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BE4C2-3492-0BEA-0992-779E8F6DD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98434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34341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AFAC-BBB1-6646-0E2D-FECDADF9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A840B-49EE-84FB-92C8-561EFD8F9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D5903-2DE5-394B-C9F1-148E209EC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626BF-AC86-EB6B-E82E-A90BBCE5B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84898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B066F-F4B5-2C77-1811-AD88FD9AC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6C48E-F038-41F1-BE21-07A09E1FC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EF92A-188D-117A-2FF5-9D38174CF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How can this be used prospectively?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5C922-DEE4-A262-8149-CC9B53153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09634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How can this be used prospectively?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89190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For example: cumulative Beta-distribution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3084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E24A5-9257-288F-3782-FAE8431F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38046-366D-94E8-7761-75A328649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3EC57-032D-5CDD-7856-4368B193E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For example: cumulative Beta-distribution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139A4-866B-7608-8082-C9B74D1F6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62327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D3E4-4EA5-B8B4-39A0-94A5346C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E0E9D-286D-CC51-4A62-4480E04B5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1F547-0EE7-D19D-D8B8-BD430DAE6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How can this be used prospectively?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09D5C-1017-4452-437A-A5C63B517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6943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ECFB-CC92-FB7D-062B-5F840C7CD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1909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DB82B-6165-1C54-C51D-F5D58F23C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955BD-5E43-FC47-D766-386274FE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45E8-8305-94BE-CD1F-E34E3021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BD3E-ECCB-B12E-8504-AE90BAE0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BA91CF-13DA-2A0F-EA36-67531A108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902" y="0"/>
            <a:ext cx="7600298" cy="190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44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46C5-11CD-4C87-4B7F-F0A00841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5"/>
            <a:ext cx="938097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7B5C-1FB8-DA82-8443-4DACD45F0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B50CE-E3D9-6C15-6C1B-8A30001A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06B3-8DD0-55B3-08A0-DD0591C9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94B0-86B7-2B02-AF74-37DFCA78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60DCA4-DA14-3BC0-98BC-FCE479BF44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840" y="365125"/>
            <a:ext cx="1152135" cy="128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71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3C64-99A3-C45B-FC04-CD6D7DF0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CEB3B-F9F7-57EA-A865-FA89E9BE9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A0C2-17AA-E8FA-AF35-325A5B6C1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95503-4D40-A4E1-4A17-B8F47614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C0937-6335-D00A-B738-E03007DF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A396C0-5271-1D3B-5DE7-8082FB398E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313" y="-91082"/>
            <a:ext cx="5224673" cy="131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7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472E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9F13EB-D1B4-1E48-DDC2-70804C0848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840" y="365125"/>
            <a:ext cx="1152135" cy="128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3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84F10-67C5-38A9-9573-9D83950E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813B2-F0B2-78B0-2431-5AE1C5DC3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A28DA-366D-4CD9-E1EB-113EAA959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68D1-9044-00B4-ABE4-8F49530AB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RE'26: Information-centric RE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36186-4B45-9116-C243-AC06504DF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7114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ulianfrattini.github.io/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github.com/JulianFrattini/bda4sci/blob/main/LICENS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lianFrattini/study-req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16.sv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16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3.sv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3.sv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6.svg"/><Relationship Id="rId7" Type="http://schemas.openxmlformats.org/officeDocument/2006/relationships/image" Target="../media/image30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4.png"/><Relationship Id="rId5" Type="http://schemas.openxmlformats.org/officeDocument/2006/relationships/image" Target="../media/image23.svg"/><Relationship Id="rId10" Type="http://schemas.openxmlformats.org/officeDocument/2006/relationships/image" Target="../media/image22.svg"/><Relationship Id="rId4" Type="http://schemas.openxmlformats.org/officeDocument/2006/relationships/image" Target="../media/image32.png"/><Relationship Id="rId9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16.svg"/><Relationship Id="rId4" Type="http://schemas.openxmlformats.org/officeDocument/2006/relationships/image" Target="../media/image13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2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6.svg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12" Type="http://schemas.openxmlformats.org/officeDocument/2006/relationships/image" Target="../media/image7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svg"/><Relationship Id="rId11" Type="http://schemas.openxmlformats.org/officeDocument/2006/relationships/image" Target="../media/image45.svg"/><Relationship Id="rId5" Type="http://schemas.openxmlformats.org/officeDocument/2006/relationships/image" Target="../media/image39.sv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8D0B-776C-E8F7-4D2E-37BA60724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Information is all you need: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CA751-926C-8553-9E48-80B7DF1A9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noProof="0" dirty="0"/>
              <a:t>Requirements Engineering Quality Reframed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5591A-FA02-7123-DF74-EDB9D33C0122}"/>
              </a:ext>
            </a:extLst>
          </p:cNvPr>
          <p:cNvSpPr txBox="1"/>
          <p:nvPr/>
        </p:nvSpPr>
        <p:spPr>
          <a:xfrm>
            <a:off x="7326064" y="5859885"/>
            <a:ext cx="41753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Copyright © 2026 Julian Frattini. </a:t>
            </a:r>
          </a:p>
          <a:p>
            <a:pPr algn="r"/>
            <a:r>
              <a:rPr lang="en-US" sz="1400" noProof="0" dirty="0"/>
              <a:t>This work is licensed under the </a:t>
            </a:r>
            <a:r>
              <a:rPr lang="en-US" sz="1400" noProof="0" dirty="0">
                <a:hlinkClick r:id="rId2"/>
              </a:rPr>
              <a:t>Apache-2.0</a:t>
            </a:r>
            <a:r>
              <a:rPr lang="en-US" sz="1400" noProof="0" dirty="0"/>
              <a:t> License.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FEC08-B055-2789-C209-ABB868E097B3}"/>
              </a:ext>
            </a:extLst>
          </p:cNvPr>
          <p:cNvSpPr txBox="1"/>
          <p:nvPr/>
        </p:nvSpPr>
        <p:spPr>
          <a:xfrm>
            <a:off x="1507676" y="5617773"/>
            <a:ext cx="35444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Julian </a:t>
            </a:r>
            <a:r>
              <a:rPr lang="en-US" sz="1400" b="1" noProof="0" dirty="0"/>
              <a:t>Frattini</a:t>
            </a:r>
            <a:r>
              <a:rPr lang="en-US" sz="1400" noProof="0" dirty="0"/>
              <a:t>, Ph.D.</a:t>
            </a:r>
          </a:p>
          <a:p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Chalmers University of Technology, Sweden</a:t>
            </a:r>
          </a:p>
          <a:p>
            <a:r>
              <a:rPr lang="en-US" sz="1400" noProof="0" dirty="0">
                <a:hlinkClick r:id="rId3"/>
              </a:rPr>
              <a:t>https://julianfrattini.github.io/</a:t>
            </a:r>
            <a:r>
              <a:rPr lang="en-US" sz="1400" noProof="0" dirty="0"/>
              <a:t>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E9483-BEDA-C731-B7BE-ABF0A5518387}"/>
              </a:ext>
            </a:extLst>
          </p:cNvPr>
          <p:cNvSpPr/>
          <p:nvPr/>
        </p:nvSpPr>
        <p:spPr>
          <a:xfrm>
            <a:off x="715676" y="5591105"/>
            <a:ext cx="792000" cy="7920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798A69-EB09-98BB-3545-08FB2D638C62}"/>
              </a:ext>
            </a:extLst>
          </p:cNvPr>
          <p:cNvGrpSpPr/>
          <p:nvPr/>
        </p:nvGrpSpPr>
        <p:grpSpPr>
          <a:xfrm>
            <a:off x="7629832" y="5317289"/>
            <a:ext cx="3982066" cy="444265"/>
            <a:chOff x="7629832" y="5317289"/>
            <a:chExt cx="3982066" cy="44426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CE08EC-E9A8-C79D-4C75-8B6A9708A3FB}"/>
                </a:ext>
              </a:extLst>
            </p:cNvPr>
            <p:cNvGrpSpPr/>
            <p:nvPr/>
          </p:nvGrpSpPr>
          <p:grpSpPr>
            <a:xfrm>
              <a:off x="7830019" y="5370114"/>
              <a:ext cx="3646305" cy="369332"/>
              <a:chOff x="7758582" y="5406529"/>
              <a:chExt cx="3646305" cy="369332"/>
            </a:xfrm>
          </p:grpSpPr>
          <p:pic>
            <p:nvPicPr>
              <p:cNvPr id="8" name="Picture 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65BDC89-0957-2AB2-5308-DA5566DFCF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58582" y="5422888"/>
                <a:ext cx="344101" cy="344101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5BE95E-49F9-842E-7B93-BDF91E09C7D3}"/>
                  </a:ext>
                </a:extLst>
              </p:cNvPr>
              <p:cNvSpPr txBox="1"/>
              <p:nvPr/>
            </p:nvSpPr>
            <p:spPr>
              <a:xfrm>
                <a:off x="8102683" y="5406529"/>
                <a:ext cx="25352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 err="1"/>
                  <a:t>JulianFrattini</a:t>
                </a:r>
                <a:r>
                  <a:rPr lang="en-US" noProof="0" dirty="0"/>
                  <a:t>/</a:t>
                </a:r>
                <a:r>
                  <a:rPr lang="en-US" b="1" noProof="0" dirty="0"/>
                  <a:t>study-req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E137170-F20B-D8DB-3856-32092459914B}"/>
                  </a:ext>
                </a:extLst>
              </p:cNvPr>
              <p:cNvSpPr/>
              <p:nvPr/>
            </p:nvSpPr>
            <p:spPr>
              <a:xfrm>
                <a:off x="10668000" y="5456392"/>
                <a:ext cx="736887" cy="279245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</a:t>
                </a:r>
              </a:p>
            </p:txBody>
          </p:sp>
        </p:grpSp>
        <p:sp>
          <p:nvSpPr>
            <p:cNvPr id="7" name="Rectangle 6">
              <a:hlinkClick r:id="rId6"/>
              <a:extLst>
                <a:ext uri="{FF2B5EF4-FFF2-40B4-BE49-F238E27FC236}">
                  <a16:creationId xmlns:a16="http://schemas.microsoft.com/office/drawing/2014/main" id="{1523D628-A64F-768E-A385-ECA75D071607}"/>
                </a:ext>
              </a:extLst>
            </p:cNvPr>
            <p:cNvSpPr/>
            <p:nvPr/>
          </p:nvSpPr>
          <p:spPr>
            <a:xfrm>
              <a:off x="7629832" y="5317289"/>
              <a:ext cx="3982066" cy="4442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76DCAF7-486B-9E3B-F125-7256ED77B400}"/>
              </a:ext>
            </a:extLst>
          </p:cNvPr>
          <p:cNvSpPr txBox="1"/>
          <p:nvPr/>
        </p:nvSpPr>
        <p:spPr>
          <a:xfrm>
            <a:off x="1507676" y="4778973"/>
            <a:ext cx="2576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Henning </a:t>
            </a:r>
            <a:r>
              <a:rPr lang="en-US" sz="1400" b="1" noProof="0" dirty="0"/>
              <a:t>Femmer</a:t>
            </a:r>
            <a:r>
              <a:rPr lang="en-US" sz="1400" noProof="0" dirty="0"/>
              <a:t>, Ph.D.</a:t>
            </a:r>
          </a:p>
          <a:p>
            <a:r>
              <a:rPr lang="en-US" sz="14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Fachhochschule</a:t>
            </a:r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Südwestfalen</a:t>
            </a:r>
            <a:endParaRPr lang="en-US" sz="14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965A4A-C3ED-4E27-AC9E-1689DA87CF4D}"/>
              </a:ext>
            </a:extLst>
          </p:cNvPr>
          <p:cNvSpPr/>
          <p:nvPr/>
        </p:nvSpPr>
        <p:spPr>
          <a:xfrm>
            <a:off x="715676" y="4645787"/>
            <a:ext cx="792000" cy="79200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2000" sy="12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219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1CF7-E576-1D0A-C956-9026EC995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Requirements Quality Research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73235-886E-907B-A927-28B4A67C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7F1D12-623C-C735-08E7-809E93D6D85B}"/>
              </a:ext>
            </a:extLst>
          </p:cNvPr>
          <p:cNvGrpSpPr/>
          <p:nvPr/>
        </p:nvGrpSpPr>
        <p:grpSpPr>
          <a:xfrm>
            <a:off x="1498092" y="2466992"/>
            <a:ext cx="2883408" cy="1109808"/>
            <a:chOff x="1827276" y="2270980"/>
            <a:chExt cx="2883408" cy="1109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Octagon 6">
              <a:extLst>
                <a:ext uri="{FF2B5EF4-FFF2-40B4-BE49-F238E27FC236}">
                  <a16:creationId xmlns:a16="http://schemas.microsoft.com/office/drawing/2014/main" id="{65A32A84-D194-1A53-A74F-DF4C0553455C}"/>
                </a:ext>
              </a:extLst>
            </p:cNvPr>
            <p:cNvSpPr/>
            <p:nvPr/>
          </p:nvSpPr>
          <p:spPr>
            <a:xfrm>
              <a:off x="1827276" y="2770184"/>
              <a:ext cx="2883408" cy="610604"/>
            </a:xfrm>
            <a:prstGeom prst="octagon">
              <a:avLst>
                <a:gd name="adj" fmla="val 952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Requirements Specification</a:t>
              </a:r>
              <a:b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10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e.g., SRS, user story, …</a:t>
              </a:r>
              <a:endParaRPr lang="en-US" b="1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4A5D64F-EBFB-D054-B4A6-BD3F29FDF8F0}"/>
                </a:ext>
              </a:extLst>
            </p:cNvPr>
            <p:cNvGrpSpPr/>
            <p:nvPr/>
          </p:nvGrpSpPr>
          <p:grpSpPr>
            <a:xfrm>
              <a:off x="2980980" y="2270980"/>
              <a:ext cx="576000" cy="576000"/>
              <a:chOff x="2908980" y="2096798"/>
              <a:chExt cx="576000" cy="576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8B04F6B-8565-5155-1EEF-E10884FC81C3}"/>
                  </a:ext>
                </a:extLst>
              </p:cNvPr>
              <p:cNvSpPr/>
              <p:nvPr/>
            </p:nvSpPr>
            <p:spPr>
              <a:xfrm>
                <a:off x="2908980" y="2096798"/>
                <a:ext cx="576000" cy="576000"/>
              </a:xfrm>
              <a:prstGeom prst="ellipse">
                <a:avLst/>
              </a:prstGeom>
              <a:solidFill>
                <a:srgbClr val="472EB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0" name="Graphic 9" descr="Document with solid fill">
                <a:extLst>
                  <a:ext uri="{FF2B5EF4-FFF2-40B4-BE49-F238E27FC236}">
                    <a16:creationId xmlns:a16="http://schemas.microsoft.com/office/drawing/2014/main" id="{90D0DE5E-57D2-A0D2-FE70-71138B1E6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80980" y="2168798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29C280-4D87-8F92-D34C-1FDCA160CBD1}"/>
              </a:ext>
            </a:extLst>
          </p:cNvPr>
          <p:cNvGrpSpPr/>
          <p:nvPr/>
        </p:nvGrpSpPr>
        <p:grpSpPr>
          <a:xfrm>
            <a:off x="1498092" y="4097339"/>
            <a:ext cx="2883408" cy="1109808"/>
            <a:chOff x="1827276" y="2270980"/>
            <a:chExt cx="2883408" cy="1109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ctagon 11">
              <a:extLst>
                <a:ext uri="{FF2B5EF4-FFF2-40B4-BE49-F238E27FC236}">
                  <a16:creationId xmlns:a16="http://schemas.microsoft.com/office/drawing/2014/main" id="{26347BC2-BFE6-3799-29B6-D312096601E4}"/>
                </a:ext>
              </a:extLst>
            </p:cNvPr>
            <p:cNvSpPr/>
            <p:nvPr/>
          </p:nvSpPr>
          <p:spPr>
            <a:xfrm>
              <a:off x="1827276" y="2770184"/>
              <a:ext cx="2883408" cy="610604"/>
            </a:xfrm>
            <a:prstGeom prst="octagon">
              <a:avLst>
                <a:gd name="adj" fmla="val 952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Quality Factor</a:t>
              </a:r>
              <a:b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10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e.g., ambiguous pronoun, passive voice, …</a:t>
              </a:r>
              <a:endParaRPr lang="en-US" b="1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B90B095-A3BC-7623-1C76-33A2623B0692}"/>
                </a:ext>
              </a:extLst>
            </p:cNvPr>
            <p:cNvGrpSpPr/>
            <p:nvPr/>
          </p:nvGrpSpPr>
          <p:grpSpPr>
            <a:xfrm>
              <a:off x="2980980" y="2270980"/>
              <a:ext cx="576000" cy="576000"/>
              <a:chOff x="2908980" y="2096798"/>
              <a:chExt cx="576000" cy="576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A2B968-CB8B-E1FB-274C-5BE710D180DC}"/>
                  </a:ext>
                </a:extLst>
              </p:cNvPr>
              <p:cNvSpPr/>
              <p:nvPr/>
            </p:nvSpPr>
            <p:spPr>
              <a:xfrm>
                <a:off x="2908980" y="2096798"/>
                <a:ext cx="576000" cy="576000"/>
              </a:xfrm>
              <a:prstGeom prst="ellipse">
                <a:avLst/>
              </a:prstGeom>
              <a:solidFill>
                <a:srgbClr val="6B56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5" name="Graphic 14" descr="Triangle Ruler with solid fill">
                <a:extLst>
                  <a:ext uri="{FF2B5EF4-FFF2-40B4-BE49-F238E27FC236}">
                    <a16:creationId xmlns:a16="http://schemas.microsoft.com/office/drawing/2014/main" id="{72B4A77B-86C6-F16A-C5D0-D00B0DD989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2980980" y="2168798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375CDD-2C4B-4C1A-3CC9-EDA99D4D28E1}"/>
              </a:ext>
            </a:extLst>
          </p:cNvPr>
          <p:cNvGrpSpPr/>
          <p:nvPr/>
        </p:nvGrpSpPr>
        <p:grpSpPr>
          <a:xfrm>
            <a:off x="7810500" y="4097339"/>
            <a:ext cx="2883408" cy="1109808"/>
            <a:chOff x="1827276" y="2270980"/>
            <a:chExt cx="2883408" cy="1109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Octagon 16">
              <a:extLst>
                <a:ext uri="{FF2B5EF4-FFF2-40B4-BE49-F238E27FC236}">
                  <a16:creationId xmlns:a16="http://schemas.microsoft.com/office/drawing/2014/main" id="{2A9CCC76-DB22-6DA3-BD12-2CC0C4566304}"/>
                </a:ext>
              </a:extLst>
            </p:cNvPr>
            <p:cNvSpPr/>
            <p:nvPr/>
          </p:nvSpPr>
          <p:spPr>
            <a:xfrm>
              <a:off x="1827276" y="2770184"/>
              <a:ext cx="2883408" cy="610604"/>
            </a:xfrm>
            <a:prstGeom prst="octagon">
              <a:avLst>
                <a:gd name="adj" fmla="val 952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Attribute</a:t>
              </a:r>
              <a:b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10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e.g., duration, correctness, …</a:t>
              </a:r>
              <a:endParaRPr lang="en-US" b="1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D482843-34EE-E09B-4A83-2A9384AA4C59}"/>
                </a:ext>
              </a:extLst>
            </p:cNvPr>
            <p:cNvGrpSpPr/>
            <p:nvPr/>
          </p:nvGrpSpPr>
          <p:grpSpPr>
            <a:xfrm>
              <a:off x="2980980" y="2270980"/>
              <a:ext cx="576000" cy="576000"/>
              <a:chOff x="2908980" y="2096798"/>
              <a:chExt cx="576000" cy="576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CED1B64-A353-57B2-4C14-98647E840803}"/>
                  </a:ext>
                </a:extLst>
              </p:cNvPr>
              <p:cNvSpPr/>
              <p:nvPr/>
            </p:nvSpPr>
            <p:spPr>
              <a:xfrm>
                <a:off x="2908980" y="2096798"/>
                <a:ext cx="576000" cy="576000"/>
              </a:xfrm>
              <a:prstGeom prst="ellipse">
                <a:avLst/>
              </a:prstGeom>
              <a:solidFill>
                <a:srgbClr val="ED71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0" name="Graphic 19" descr="Stopwatch 66% with solid fill">
                <a:extLst>
                  <a:ext uri="{FF2B5EF4-FFF2-40B4-BE49-F238E27FC236}">
                    <a16:creationId xmlns:a16="http://schemas.microsoft.com/office/drawing/2014/main" id="{5DBFA205-E112-1DDE-5717-E1BD76D33A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2980980" y="2168798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60BD02-81A2-F19C-0118-18C6F50AEB53}"/>
              </a:ext>
            </a:extLst>
          </p:cNvPr>
          <p:cNvGrpSpPr/>
          <p:nvPr/>
        </p:nvGrpSpPr>
        <p:grpSpPr>
          <a:xfrm>
            <a:off x="7810500" y="2464467"/>
            <a:ext cx="2883408" cy="1109808"/>
            <a:chOff x="1827276" y="2270980"/>
            <a:chExt cx="2883408" cy="1109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Octagon 21">
              <a:extLst>
                <a:ext uri="{FF2B5EF4-FFF2-40B4-BE49-F238E27FC236}">
                  <a16:creationId xmlns:a16="http://schemas.microsoft.com/office/drawing/2014/main" id="{9B36739C-A9F0-8A7E-190D-AE83B5CBCC09}"/>
                </a:ext>
              </a:extLst>
            </p:cNvPr>
            <p:cNvSpPr/>
            <p:nvPr/>
          </p:nvSpPr>
          <p:spPr>
            <a:xfrm>
              <a:off x="1827276" y="2770184"/>
              <a:ext cx="2883408" cy="610604"/>
            </a:xfrm>
            <a:prstGeom prst="octagon">
              <a:avLst>
                <a:gd name="adj" fmla="val 952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Activity</a:t>
              </a:r>
              <a:b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10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e.g., implementation, testing, …</a:t>
              </a:r>
              <a:endParaRPr lang="en-US" b="1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2554771-2142-A8B2-3E1F-770D026D15D1}"/>
                </a:ext>
              </a:extLst>
            </p:cNvPr>
            <p:cNvGrpSpPr/>
            <p:nvPr/>
          </p:nvGrpSpPr>
          <p:grpSpPr>
            <a:xfrm>
              <a:off x="2980980" y="2270980"/>
              <a:ext cx="576000" cy="576000"/>
              <a:chOff x="2908980" y="2096798"/>
              <a:chExt cx="576000" cy="576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1531DF0-B136-98AF-BF6F-5A5E040DB449}"/>
                  </a:ext>
                </a:extLst>
              </p:cNvPr>
              <p:cNvSpPr/>
              <p:nvPr/>
            </p:nvSpPr>
            <p:spPr>
              <a:xfrm>
                <a:off x="2908980" y="2096798"/>
                <a:ext cx="576000" cy="576000"/>
              </a:xfrm>
              <a:prstGeom prst="ellipse">
                <a:avLst/>
              </a:prstGeom>
              <a:solidFill>
                <a:srgbClr val="DC5F1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5" name="Graphic 24" descr="Continuous Improvement with solid fill">
                <a:extLst>
                  <a:ext uri="{FF2B5EF4-FFF2-40B4-BE49-F238E27FC236}">
                    <a16:creationId xmlns:a16="http://schemas.microsoft.com/office/drawing/2014/main" id="{903D004F-AC45-8D8A-D536-68527465BC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980980" y="2168798"/>
                <a:ext cx="432000" cy="432000"/>
              </a:xfrm>
              <a:prstGeom prst="rect">
                <a:avLst/>
              </a:prstGeom>
            </p:spPr>
          </p:pic>
        </p:grp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6DB528-DF28-CF59-A124-4A63545E1581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939796" y="3576800"/>
            <a:ext cx="0" cy="5205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6ABDDD-D56A-F1B3-FCB4-D72A636365BF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9252204" y="3576800"/>
            <a:ext cx="0" cy="5205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9401E1A-B897-D9FC-2135-E7F6B86C70B4}"/>
              </a:ext>
            </a:extLst>
          </p:cNvPr>
          <p:cNvCxnSpPr>
            <a:cxnSpLocks/>
          </p:cNvCxnSpPr>
          <p:nvPr/>
        </p:nvCxnSpPr>
        <p:spPr>
          <a:xfrm>
            <a:off x="4381500" y="4900582"/>
            <a:ext cx="3429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3D592F-5A95-7341-71CF-6BCEC5B5F97B}"/>
              </a:ext>
            </a:extLst>
          </p:cNvPr>
          <p:cNvCxnSpPr>
            <a:cxnSpLocks/>
          </p:cNvCxnSpPr>
          <p:nvPr/>
        </p:nvCxnSpPr>
        <p:spPr>
          <a:xfrm>
            <a:off x="4381501" y="3279046"/>
            <a:ext cx="3429000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B74183-AADC-3419-DCF2-2892E5F1B2EC}"/>
              </a:ext>
            </a:extLst>
          </p:cNvPr>
          <p:cNvSpPr txBox="1"/>
          <p:nvPr/>
        </p:nvSpPr>
        <p:spPr>
          <a:xfrm>
            <a:off x="5367138" y="2973486"/>
            <a:ext cx="1444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latin typeface="Calibri" panose="020F0502020204030204" pitchFamily="34" charset="0"/>
                <a:cs typeface="Calibri" panose="020F0502020204030204" pitchFamily="34" charset="0"/>
              </a:rPr>
              <a:t>affects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D6E5A4-9B27-F135-F590-10E98217C1C3}"/>
              </a:ext>
            </a:extLst>
          </p:cNvPr>
          <p:cNvSpPr txBox="1"/>
          <p:nvPr/>
        </p:nvSpPr>
        <p:spPr>
          <a:xfrm>
            <a:off x="5373642" y="4570522"/>
            <a:ext cx="1444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latin typeface="Calibri" panose="020F0502020204030204" pitchFamily="34" charset="0"/>
                <a:cs typeface="Calibri" panose="020F0502020204030204" pitchFamily="34" charset="0"/>
              </a:rPr>
              <a:t>impacts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05557A-BDAE-3C73-0C58-52D3D2D08010}"/>
              </a:ext>
            </a:extLst>
          </p:cNvPr>
          <p:cNvSpPr txBox="1"/>
          <p:nvPr/>
        </p:nvSpPr>
        <p:spPr>
          <a:xfrm>
            <a:off x="2955481" y="3707906"/>
            <a:ext cx="1444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latin typeface="Calibri" panose="020F0502020204030204" pitchFamily="34" charset="0"/>
                <a:cs typeface="Calibri" panose="020F0502020204030204" pitchFamily="34" charset="0"/>
              </a:rPr>
              <a:t>characterize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5FBF17-6514-61DB-FB70-2CA460BA0040}"/>
              </a:ext>
            </a:extLst>
          </p:cNvPr>
          <p:cNvSpPr txBox="1"/>
          <p:nvPr/>
        </p:nvSpPr>
        <p:spPr>
          <a:xfrm>
            <a:off x="9249192" y="3706417"/>
            <a:ext cx="1444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latin typeface="Calibri" panose="020F0502020204030204" pitchFamily="34" charset="0"/>
                <a:cs typeface="Calibri" panose="020F0502020204030204" pitchFamily="34" charset="0"/>
              </a:rPr>
              <a:t>characterize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80C84-E77F-7D80-BE24-2895BD2F5479}"/>
              </a:ext>
            </a:extLst>
          </p:cNvPr>
          <p:cNvSpPr txBox="1"/>
          <p:nvPr/>
        </p:nvSpPr>
        <p:spPr>
          <a:xfrm>
            <a:off x="2723796" y="3594846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F3DDBD-5F40-69CC-E6F4-2F7ED4DA877D}"/>
              </a:ext>
            </a:extLst>
          </p:cNvPr>
          <p:cNvSpPr txBox="1"/>
          <p:nvPr/>
        </p:nvSpPr>
        <p:spPr>
          <a:xfrm>
            <a:off x="2723796" y="3861749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EBB880-1632-9755-1AA6-ED9D68FC30F8}"/>
              </a:ext>
            </a:extLst>
          </p:cNvPr>
          <p:cNvSpPr txBox="1"/>
          <p:nvPr/>
        </p:nvSpPr>
        <p:spPr>
          <a:xfrm>
            <a:off x="9033191" y="3600721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C13E36-E6E2-C32C-7A03-5585E639E2CE}"/>
              </a:ext>
            </a:extLst>
          </p:cNvPr>
          <p:cNvSpPr txBox="1"/>
          <p:nvPr/>
        </p:nvSpPr>
        <p:spPr>
          <a:xfrm>
            <a:off x="9033191" y="3867624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9EA4AC-8C63-06C2-0A47-C11DC1953CC7}"/>
              </a:ext>
            </a:extLst>
          </p:cNvPr>
          <p:cNvSpPr txBox="1"/>
          <p:nvPr/>
        </p:nvSpPr>
        <p:spPr>
          <a:xfrm>
            <a:off x="7594524" y="4624176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E7D09C-1715-C5AD-1D81-D0EFBE16E0E2}"/>
              </a:ext>
            </a:extLst>
          </p:cNvPr>
          <p:cNvSpPr txBox="1"/>
          <p:nvPr/>
        </p:nvSpPr>
        <p:spPr>
          <a:xfrm>
            <a:off x="4398752" y="4624175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FC21BF-8A71-2E85-A286-78330EBF6C19}"/>
              </a:ext>
            </a:extLst>
          </p:cNvPr>
          <p:cNvSpPr txBox="1"/>
          <p:nvPr/>
        </p:nvSpPr>
        <p:spPr>
          <a:xfrm>
            <a:off x="7593728" y="2974724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F05D7D-6F14-5AD8-3F4A-F41C16AA7CFF}"/>
              </a:ext>
            </a:extLst>
          </p:cNvPr>
          <p:cNvSpPr txBox="1"/>
          <p:nvPr/>
        </p:nvSpPr>
        <p:spPr>
          <a:xfrm>
            <a:off x="4397956" y="2974723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4D3555-C574-41C2-0A45-675AA466510B}"/>
              </a:ext>
            </a:extLst>
          </p:cNvPr>
          <p:cNvSpPr txBox="1"/>
          <p:nvPr/>
        </p:nvSpPr>
        <p:spPr>
          <a:xfrm>
            <a:off x="838200" y="5962598"/>
            <a:ext cx="60939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noProof="0" dirty="0"/>
              <a:t>Frattini, J., Montgomery, L., Fischbach, J., Mendez, D., Fucci, D., &amp; Unterkalmsteiner, M. (2023). Requirements quality research: a harmonized theory, evaluation, and roadmap. </a:t>
            </a:r>
            <a:r>
              <a:rPr lang="en-US" sz="800" i="1" noProof="0" dirty="0"/>
              <a:t>Requirements engineering</a:t>
            </a:r>
            <a:r>
              <a:rPr lang="en-US" sz="800" noProof="0" dirty="0"/>
              <a:t>, </a:t>
            </a:r>
            <a:r>
              <a:rPr lang="en-US" sz="800" i="1" noProof="0" dirty="0"/>
              <a:t>28</a:t>
            </a:r>
            <a:r>
              <a:rPr lang="en-US" sz="800" noProof="0" dirty="0"/>
              <a:t>(4), 507-520.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A8C2A88-93F0-A1A5-2F83-E9AEAD1048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5283" y="-765833"/>
            <a:ext cx="5867908" cy="58679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BBC06-14D5-EB1C-C123-6DC108F6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73203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0" grpId="0"/>
      <p:bldP spid="41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2C96D-8BD9-E9B7-5D05-D3CE2E64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6D412-65A5-C590-877F-7A936005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Observed Inconsistencies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2D436-317E-B95C-A9E7-9A2102ABF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4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Despite the plausibility of the artifact-centric theory of requirements quality, we still observe inconsistencies.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13C34-5CCA-7630-D4D0-A41AADBE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pic>
        <p:nvPicPr>
          <p:cNvPr id="7" name="Graphic 6" descr="Programmer male with solid fill">
            <a:extLst>
              <a:ext uri="{FF2B5EF4-FFF2-40B4-BE49-F238E27FC236}">
                <a16:creationId xmlns:a16="http://schemas.microsoft.com/office/drawing/2014/main" id="{EC396E29-EDE5-9885-5A7C-5B3B7C09C6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1973" y="3409657"/>
            <a:ext cx="914400" cy="91440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6CFDEB19-1DE9-4F5D-76D2-BD81D8F4B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825" y="3409657"/>
            <a:ext cx="914400" cy="914400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4CE74D16-E5FA-5B61-BFB1-DF73D4000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31936" y="3409657"/>
            <a:ext cx="914400" cy="914400"/>
          </a:xfrm>
          <a:prstGeom prst="rect">
            <a:avLst/>
          </a:prstGeom>
        </p:spPr>
      </p:pic>
      <p:pic>
        <p:nvPicPr>
          <p:cNvPr id="13" name="Graphic 12" descr="Research with solid fill">
            <a:extLst>
              <a:ext uri="{FF2B5EF4-FFF2-40B4-BE49-F238E27FC236}">
                <a16:creationId xmlns:a16="http://schemas.microsoft.com/office/drawing/2014/main" id="{83AEE3D5-A957-1373-44E3-5323E4B39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301899" y="3409657"/>
            <a:ext cx="914400" cy="914400"/>
          </a:xfrm>
          <a:prstGeom prst="rect">
            <a:avLst/>
          </a:prstGeom>
        </p:spPr>
      </p:pic>
      <p:pic>
        <p:nvPicPr>
          <p:cNvPr id="15" name="Graphic 14" descr="Chat with solid fill">
            <a:extLst>
              <a:ext uri="{FF2B5EF4-FFF2-40B4-BE49-F238E27FC236}">
                <a16:creationId xmlns:a16="http://schemas.microsoft.com/office/drawing/2014/main" id="{ABF7D1D9-FCB0-2988-EC3E-70DD532325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1862" y="3409657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84887A-D840-E479-A51F-4E63FE832D7B}"/>
              </a:ext>
            </a:extLst>
          </p:cNvPr>
          <p:cNvSpPr txBox="1"/>
          <p:nvPr/>
        </p:nvSpPr>
        <p:spPr>
          <a:xfrm>
            <a:off x="607970" y="4438521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Stakeholder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AC03A3-AAA4-7781-944F-3DAC2EE34E02}"/>
              </a:ext>
            </a:extLst>
          </p:cNvPr>
          <p:cNvSpPr txBox="1"/>
          <p:nvPr/>
        </p:nvSpPr>
        <p:spPr>
          <a:xfrm>
            <a:off x="9617534" y="4438521"/>
            <a:ext cx="1203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Developer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A67D5E-BC1E-7F7E-8DA9-67CF5BA54598}"/>
              </a:ext>
            </a:extLst>
          </p:cNvPr>
          <p:cNvSpPr txBox="1"/>
          <p:nvPr/>
        </p:nvSpPr>
        <p:spPr>
          <a:xfrm>
            <a:off x="2982053" y="3040325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Interview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3F292F-4C5F-DA06-A685-321BFFF23431}"/>
              </a:ext>
            </a:extLst>
          </p:cNvPr>
          <p:cNvSpPr txBox="1"/>
          <p:nvPr/>
        </p:nvSpPr>
        <p:spPr>
          <a:xfrm>
            <a:off x="5275507" y="3062682"/>
            <a:ext cx="967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noProof="0" dirty="0"/>
              <a:t>Analyse</a:t>
            </a:r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949EE4-08A1-17B1-6F85-412F7B9633AE}"/>
              </a:ext>
            </a:extLst>
          </p:cNvPr>
          <p:cNvSpPr txBox="1"/>
          <p:nvPr/>
        </p:nvSpPr>
        <p:spPr>
          <a:xfrm>
            <a:off x="7368618" y="3040325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noProof="0" dirty="0"/>
              <a:t>Document</a:t>
            </a:r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D75517-AE69-78AE-23ED-C1BFC07A75F7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756225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10F54B-48F4-1D4F-F054-A62C72E372D2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3986262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79B772-DEDC-34CD-3877-66B7ECA0604B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6216299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10D690-50B7-DEED-A134-EB956E0B6EEC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>
            <a:off x="8446336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AF680-FBE3-2BB8-28E8-C85FBB2F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9EC42B8-2238-6B11-5181-4E62AA9C8BCA}"/>
              </a:ext>
            </a:extLst>
          </p:cNvPr>
          <p:cNvCxnSpPr>
            <a:stCxn id="16" idx="2"/>
            <a:endCxn id="17" idx="2"/>
          </p:cNvCxnSpPr>
          <p:nvPr/>
        </p:nvCxnSpPr>
        <p:spPr>
          <a:xfrm rot="16200000" flipH="1">
            <a:off x="5759099" y="347779"/>
            <a:ext cx="12700" cy="8920148"/>
          </a:xfrm>
          <a:prstGeom prst="bentConnector3">
            <a:avLst>
              <a:gd name="adj1" fmla="val 3184614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223307-821B-7237-8B84-451CEB6742E3}"/>
              </a:ext>
            </a:extLst>
          </p:cNvPr>
          <p:cNvSpPr/>
          <p:nvPr/>
        </p:nvSpPr>
        <p:spPr>
          <a:xfrm>
            <a:off x="6822831" y="2890025"/>
            <a:ext cx="4527344" cy="1924178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79234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EF7A-2A85-C1B2-E35D-4B77E5C1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Research Philosophy: Kuhn’s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1F5A4-161D-37E9-CAB6-304570936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8025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Thomas Kuhn describes scientific progress as follows: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6EFEA-75E6-7AE2-809F-4E75C72C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C4CEE-FCDF-D598-29C2-1EDD68982BB6}"/>
              </a:ext>
            </a:extLst>
          </p:cNvPr>
          <p:cNvSpPr txBox="1"/>
          <p:nvPr/>
        </p:nvSpPr>
        <p:spPr>
          <a:xfrm>
            <a:off x="838198" y="6140906"/>
            <a:ext cx="60939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noProof="0" dirty="0"/>
              <a:t>Kuhn, T. S., &amp; Hacking, I. (1970). The structure of scientific revolutions (Vol. 2, No. 2, p. 310). Chicago: University of Chicago press.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22BC71E-3813-6558-6C98-5BCABFBEE2B5}"/>
              </a:ext>
            </a:extLst>
          </p:cNvPr>
          <p:cNvGrpSpPr/>
          <p:nvPr/>
        </p:nvGrpSpPr>
        <p:grpSpPr>
          <a:xfrm>
            <a:off x="838198" y="2781299"/>
            <a:ext cx="4000500" cy="3143251"/>
            <a:chOff x="838198" y="2781299"/>
            <a:chExt cx="4000500" cy="314325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829FFEB-E42D-8FA5-C297-DDB08A39119A}"/>
                </a:ext>
              </a:extLst>
            </p:cNvPr>
            <p:cNvSpPr/>
            <p:nvPr/>
          </p:nvSpPr>
          <p:spPr>
            <a:xfrm>
              <a:off x="838198" y="2781299"/>
              <a:ext cx="4000500" cy="314325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noProof="0" dirty="0">
                  <a:solidFill>
                    <a:schemeClr val="tx1"/>
                  </a:solidFill>
                </a:rPr>
                <a:t>Paradigm</a:t>
              </a:r>
            </a:p>
          </p:txBody>
        </p:sp>
        <p:pic>
          <p:nvPicPr>
            <p:cNvPr id="9" name="Graphic 8" descr="Thermometer with solid fill">
              <a:extLst>
                <a:ext uri="{FF2B5EF4-FFF2-40B4-BE49-F238E27FC236}">
                  <a16:creationId xmlns:a16="http://schemas.microsoft.com/office/drawing/2014/main" id="{5436CB7E-A0BD-3385-AB20-ECEF963CB3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5325" y="4953184"/>
              <a:ext cx="720000" cy="720000"/>
            </a:xfrm>
            <a:prstGeom prst="rect">
              <a:avLst/>
            </a:prstGeom>
          </p:spPr>
        </p:pic>
        <p:pic>
          <p:nvPicPr>
            <p:cNvPr id="11" name="Graphic 10" descr="Books with solid fill">
              <a:extLst>
                <a:ext uri="{FF2B5EF4-FFF2-40B4-BE49-F238E27FC236}">
                  <a16:creationId xmlns:a16="http://schemas.microsoft.com/office/drawing/2014/main" id="{8F62DCD4-869A-7315-B13D-866332ACAF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5325" y="4155964"/>
              <a:ext cx="720000" cy="720000"/>
            </a:xfrm>
            <a:prstGeom prst="rect">
              <a:avLst/>
            </a:prstGeom>
          </p:spPr>
        </p:pic>
        <p:pic>
          <p:nvPicPr>
            <p:cNvPr id="13" name="Graphic 12" descr="Atom with solid fill">
              <a:extLst>
                <a:ext uri="{FF2B5EF4-FFF2-40B4-BE49-F238E27FC236}">
                  <a16:creationId xmlns:a16="http://schemas.microsoft.com/office/drawing/2014/main" id="{1D71E4EE-A54F-2CC3-0108-0413E45F23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5325" y="3358744"/>
              <a:ext cx="720000" cy="720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D38B2F-C7A5-81F7-0B9B-09AF0F41B1F8}"/>
                </a:ext>
              </a:extLst>
            </p:cNvPr>
            <p:cNvSpPr txBox="1"/>
            <p:nvPr/>
          </p:nvSpPr>
          <p:spPr>
            <a:xfrm>
              <a:off x="1872452" y="3534078"/>
              <a:ext cx="187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Governing theory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1EE074-76D1-1E9E-4FBA-3B52EAF4B6A2}"/>
                </a:ext>
              </a:extLst>
            </p:cNvPr>
            <p:cNvSpPr txBox="1"/>
            <p:nvPr/>
          </p:nvSpPr>
          <p:spPr>
            <a:xfrm>
              <a:off x="1872452" y="4331298"/>
              <a:ext cx="21519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Accepted examples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9CEA369-22ED-94D9-97C7-F2CEB3721A2A}"/>
                </a:ext>
              </a:extLst>
            </p:cNvPr>
            <p:cNvSpPr txBox="1"/>
            <p:nvPr/>
          </p:nvSpPr>
          <p:spPr>
            <a:xfrm>
              <a:off x="1872452" y="5128518"/>
              <a:ext cx="2821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Measurement instruments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711179-35C9-160A-861F-08EA7FBA6CB7}"/>
              </a:ext>
            </a:extLst>
          </p:cNvPr>
          <p:cNvGrpSpPr/>
          <p:nvPr/>
        </p:nvGrpSpPr>
        <p:grpSpPr>
          <a:xfrm>
            <a:off x="7353304" y="2781299"/>
            <a:ext cx="4000500" cy="3143251"/>
            <a:chOff x="838198" y="2781299"/>
            <a:chExt cx="4000500" cy="314325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8160A11-5862-D2A7-0AA5-166769ED8632}"/>
                </a:ext>
              </a:extLst>
            </p:cNvPr>
            <p:cNvSpPr/>
            <p:nvPr/>
          </p:nvSpPr>
          <p:spPr>
            <a:xfrm>
              <a:off x="838198" y="2781299"/>
              <a:ext cx="4000500" cy="314325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SE" sz="2400" b="1" noProof="0" dirty="0">
                  <a:solidFill>
                    <a:schemeClr val="tx1"/>
                  </a:solidFill>
                </a:rPr>
                <a:t>New </a:t>
              </a:r>
              <a:r>
                <a:rPr lang="en-US" sz="2400" b="1" noProof="0" dirty="0">
                  <a:solidFill>
                    <a:schemeClr val="tx1"/>
                  </a:solidFill>
                </a:rPr>
                <a:t>Paradigm</a:t>
              </a:r>
            </a:p>
          </p:txBody>
        </p:sp>
        <p:pic>
          <p:nvPicPr>
            <p:cNvPr id="20" name="Graphic 19" descr="Thermometer with solid fill">
              <a:extLst>
                <a:ext uri="{FF2B5EF4-FFF2-40B4-BE49-F238E27FC236}">
                  <a16:creationId xmlns:a16="http://schemas.microsoft.com/office/drawing/2014/main" id="{7D78A00E-5058-A0E8-FBC9-7734B48910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5325" y="4953184"/>
              <a:ext cx="720000" cy="720000"/>
            </a:xfrm>
            <a:prstGeom prst="rect">
              <a:avLst/>
            </a:prstGeom>
          </p:spPr>
        </p:pic>
        <p:pic>
          <p:nvPicPr>
            <p:cNvPr id="21" name="Graphic 20" descr="Books with solid fill">
              <a:extLst>
                <a:ext uri="{FF2B5EF4-FFF2-40B4-BE49-F238E27FC236}">
                  <a16:creationId xmlns:a16="http://schemas.microsoft.com/office/drawing/2014/main" id="{9D093005-B191-B835-4458-60040A7624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5325" y="4155964"/>
              <a:ext cx="720000" cy="720000"/>
            </a:xfrm>
            <a:prstGeom prst="rect">
              <a:avLst/>
            </a:prstGeom>
          </p:spPr>
        </p:pic>
        <p:pic>
          <p:nvPicPr>
            <p:cNvPr id="22" name="Graphic 21" descr="Atom with solid fill">
              <a:extLst>
                <a:ext uri="{FF2B5EF4-FFF2-40B4-BE49-F238E27FC236}">
                  <a16:creationId xmlns:a16="http://schemas.microsoft.com/office/drawing/2014/main" id="{02BF216E-9835-89FE-DF28-C0F9D6A3C0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5325" y="3358744"/>
              <a:ext cx="720000" cy="720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FC68410-3908-D2D8-9E30-3908C1ED32B7}"/>
                </a:ext>
              </a:extLst>
            </p:cNvPr>
            <p:cNvSpPr txBox="1"/>
            <p:nvPr/>
          </p:nvSpPr>
          <p:spPr>
            <a:xfrm>
              <a:off x="1872452" y="3534078"/>
              <a:ext cx="187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Governing theory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C2A994-ECAF-15A4-B115-DBECF7C8EC36}"/>
                </a:ext>
              </a:extLst>
            </p:cNvPr>
            <p:cNvSpPr txBox="1"/>
            <p:nvPr/>
          </p:nvSpPr>
          <p:spPr>
            <a:xfrm>
              <a:off x="1872452" y="4331298"/>
              <a:ext cx="21519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Accepted examples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BADEFE6-8BE1-EDD4-436A-329844D41764}"/>
                </a:ext>
              </a:extLst>
            </p:cNvPr>
            <p:cNvSpPr txBox="1"/>
            <p:nvPr/>
          </p:nvSpPr>
          <p:spPr>
            <a:xfrm>
              <a:off x="1872452" y="5128518"/>
              <a:ext cx="2821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Measurement instruments</a:t>
              </a:r>
            </a:p>
          </p:txBody>
        </p:sp>
      </p:grpSp>
      <p:pic>
        <p:nvPicPr>
          <p:cNvPr id="27" name="Graphic 26" descr="Warning with solid fill">
            <a:extLst>
              <a:ext uri="{FF2B5EF4-FFF2-40B4-BE49-F238E27FC236}">
                <a16:creationId xmlns:a16="http://schemas.microsoft.com/office/drawing/2014/main" id="{727D255D-C55C-80FA-4FBB-D7D700D5F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29" name="Graphic 28" descr="Radioactive with solid fill">
            <a:extLst>
              <a:ext uri="{FF2B5EF4-FFF2-40B4-BE49-F238E27FC236}">
                <a16:creationId xmlns:a16="http://schemas.microsoft.com/office/drawing/2014/main" id="{4135EAC3-6DC1-9F6A-6293-7F287DE02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4495984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EC4A2EC-5F1D-9605-D4BF-005C56038C46}"/>
              </a:ext>
            </a:extLst>
          </p:cNvPr>
          <p:cNvSpPr txBox="1"/>
          <p:nvPr/>
        </p:nvSpPr>
        <p:spPr>
          <a:xfrm>
            <a:off x="5566849" y="2606675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Anomaly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C44BB5-B77E-354E-215A-94AB931804F2}"/>
              </a:ext>
            </a:extLst>
          </p:cNvPr>
          <p:cNvSpPr txBox="1"/>
          <p:nvPr/>
        </p:nvSpPr>
        <p:spPr>
          <a:xfrm>
            <a:off x="5668368" y="5478730"/>
            <a:ext cx="75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Crisis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11B372-32C0-715B-7ED6-70C4B3A5EF08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838698" y="3429000"/>
            <a:ext cx="800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E9BDB1-DE9B-428B-4B16-554CC7D57C1D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6096000" y="3886200"/>
            <a:ext cx="0" cy="609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4403937-2A0F-5493-56FE-E4468986498C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6553200" y="4953184"/>
            <a:ext cx="800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83E973-120A-0FD6-A6E8-AD02A4C9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56311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046DAF-F1EA-67DC-C561-A21223D3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FF1EF7-4B98-3392-86D9-5AF9A5DAA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noProof="0" dirty="0"/>
              <a:t>From </a:t>
            </a:r>
            <a:r>
              <a:rPr lang="en-SE" b="1" noProof="0" dirty="0"/>
              <a:t>Requirements Artifact Quality </a:t>
            </a:r>
            <a:r>
              <a:rPr lang="en-SE" noProof="0" dirty="0"/>
              <a:t>to </a:t>
            </a:r>
            <a:r>
              <a:rPr lang="en-SE" b="1" noProof="0" dirty="0"/>
              <a:t>Requirements Engineering Quality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47020-4031-DC8D-F15A-DF2B9866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4ABBC-BA5E-1D58-E961-11A9D8C24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61058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D892-A5D1-986D-B5EE-4EEB88CBC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6455C-549D-BA9D-78F9-8FE2DB55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9150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R</a:t>
            </a:r>
            <a:r>
              <a:rPr lang="en-US" noProof="0" dirty="0" err="1"/>
              <a:t>equirements</a:t>
            </a:r>
            <a:r>
              <a:rPr lang="en-US" noProof="0" dirty="0"/>
              <a:t> are information.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0D97F-84C1-8221-6CBE-08ED1BA87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8AC38A-015F-41AB-7B66-964FBF9673BB}"/>
              </a:ext>
            </a:extLst>
          </p:cNvPr>
          <p:cNvSpPr/>
          <p:nvPr/>
        </p:nvSpPr>
        <p:spPr>
          <a:xfrm>
            <a:off x="1219200" y="4213226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785795-AB24-5B2C-F577-868DB5E2A02D}"/>
              </a:ext>
            </a:extLst>
          </p:cNvPr>
          <p:cNvSpPr/>
          <p:nvPr/>
        </p:nvSpPr>
        <p:spPr>
          <a:xfrm>
            <a:off x="8896350" y="3228975"/>
            <a:ext cx="21717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&lt;information particle&gt;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6A3928-7781-8749-96FA-735E4249E860}"/>
              </a:ext>
            </a:extLst>
          </p:cNvPr>
          <p:cNvSpPr/>
          <p:nvPr/>
        </p:nvSpPr>
        <p:spPr>
          <a:xfrm>
            <a:off x="8610600" y="2644775"/>
            <a:ext cx="2743200" cy="371157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 dirty="0">
                <a:solidFill>
                  <a:sysClr val="windowText" lastClr="000000"/>
                </a:solidFill>
              </a:rPr>
              <a:t>Legend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69D47C-7843-99F1-C7F3-1976DFEC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32257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E0AAA-4E99-0A77-B269-04E70759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16FD21-A860-2012-83F9-B53E4CA16590}"/>
              </a:ext>
            </a:extLst>
          </p:cNvPr>
          <p:cNvGrpSpPr/>
          <p:nvPr/>
        </p:nvGrpSpPr>
        <p:grpSpPr>
          <a:xfrm>
            <a:off x="1219200" y="3228975"/>
            <a:ext cx="2743200" cy="1054099"/>
            <a:chOff x="1219200" y="2955925"/>
            <a:chExt cx="2743200" cy="105409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3C2753B-7FD1-4F75-201B-C532D6B4E609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End user</a:t>
              </a:r>
            </a:p>
          </p:txBody>
        </p:sp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BFC04873-D0AF-6A59-B788-DB822AFB74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ABB508DB-74CF-3AD6-44F1-C75743BB18C8}"/>
              </a:ext>
            </a:extLst>
          </p:cNvPr>
          <p:cNvSpPr/>
          <p:nvPr/>
        </p:nvSpPr>
        <p:spPr>
          <a:xfrm>
            <a:off x="1219200" y="4213226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F0594-7B07-81CF-7A8D-5042E61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8645-154F-286E-AB2C-A0D8404FC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9150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Information storages contain information particles.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6645C-420C-4087-834F-E943C1CE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C0BDD5-40A8-F6E9-DA9E-04A673ECC660}"/>
              </a:ext>
            </a:extLst>
          </p:cNvPr>
          <p:cNvSpPr/>
          <p:nvPr/>
        </p:nvSpPr>
        <p:spPr>
          <a:xfrm>
            <a:off x="8896350" y="3228975"/>
            <a:ext cx="21717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&lt;information particle&gt;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37C392-1F21-476F-59A3-20EA5AC7EBB0}"/>
              </a:ext>
            </a:extLst>
          </p:cNvPr>
          <p:cNvSpPr/>
          <p:nvPr/>
        </p:nvSpPr>
        <p:spPr>
          <a:xfrm>
            <a:off x="8610600" y="2644775"/>
            <a:ext cx="2743200" cy="371157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 dirty="0">
                <a:solidFill>
                  <a:sysClr val="windowText" lastClr="000000"/>
                </a:solidFill>
              </a:rPr>
              <a:t>Legend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A5DA5C-1FFC-584B-9A7D-93A423827B82}"/>
              </a:ext>
            </a:extLst>
          </p:cNvPr>
          <p:cNvGrpSpPr/>
          <p:nvPr/>
        </p:nvGrpSpPr>
        <p:grpSpPr>
          <a:xfrm>
            <a:off x="8801100" y="4370388"/>
            <a:ext cx="2362200" cy="811577"/>
            <a:chOff x="1219200" y="3095624"/>
            <a:chExt cx="2362200" cy="81157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5032607-FC32-FE73-96E9-F5DB10BA7A04}"/>
                </a:ext>
              </a:extLst>
            </p:cNvPr>
            <p:cNvSpPr/>
            <p:nvPr/>
          </p:nvSpPr>
          <p:spPr>
            <a:xfrm>
              <a:off x="1219200" y="3095624"/>
              <a:ext cx="2362200" cy="81157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&lt;information storage&gt;</a:t>
              </a: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9682F44E-7AD7-2CAF-F686-DF80B74C29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E262793-D4DB-A106-69C8-30EBC30D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80400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07B4-94AF-F8BA-3210-B282FD89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0FF5430-47A6-06BF-3A11-DE68C940912B}"/>
              </a:ext>
            </a:extLst>
          </p:cNvPr>
          <p:cNvGrpSpPr/>
          <p:nvPr/>
        </p:nvGrpSpPr>
        <p:grpSpPr>
          <a:xfrm>
            <a:off x="1219200" y="3228975"/>
            <a:ext cx="2743200" cy="1054099"/>
            <a:chOff x="1219200" y="2955925"/>
            <a:chExt cx="2743200" cy="105409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6064D34-0DA1-7FAA-3E9B-40F04E47C7B0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End user</a:t>
              </a:r>
            </a:p>
          </p:txBody>
        </p:sp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8B535085-0DDA-3AE4-892F-F2F33F3084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CA0E64C1-B390-1190-8770-8F93918EEC73}"/>
              </a:ext>
            </a:extLst>
          </p:cNvPr>
          <p:cNvSpPr/>
          <p:nvPr/>
        </p:nvSpPr>
        <p:spPr>
          <a:xfrm>
            <a:off x="1219200" y="4213226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426B8-67F1-0B4B-CEC0-757D0823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A476E-9083-DE3F-2F7C-64CC801C5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9150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Information storages can be tangible or intangible.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53EB6-F959-2183-9BCF-5BF3DFF3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05294F-2432-4BEC-E901-C891D16EA40B}"/>
              </a:ext>
            </a:extLst>
          </p:cNvPr>
          <p:cNvSpPr/>
          <p:nvPr/>
        </p:nvSpPr>
        <p:spPr>
          <a:xfrm>
            <a:off x="8896350" y="3228975"/>
            <a:ext cx="21717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&lt;information particle&gt;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A7C4D4-9D1A-48E3-0FEC-291459D9306E}"/>
              </a:ext>
            </a:extLst>
          </p:cNvPr>
          <p:cNvSpPr/>
          <p:nvPr/>
        </p:nvSpPr>
        <p:spPr>
          <a:xfrm>
            <a:off x="8610600" y="2644775"/>
            <a:ext cx="2743200" cy="371157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 dirty="0">
                <a:solidFill>
                  <a:sysClr val="windowText" lastClr="000000"/>
                </a:solidFill>
              </a:rPr>
              <a:t>Legend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151BD5-5662-CDEF-0FE0-2F8CABA395D0}"/>
              </a:ext>
            </a:extLst>
          </p:cNvPr>
          <p:cNvGrpSpPr/>
          <p:nvPr/>
        </p:nvGrpSpPr>
        <p:grpSpPr>
          <a:xfrm>
            <a:off x="8801100" y="4370388"/>
            <a:ext cx="2362200" cy="811577"/>
            <a:chOff x="1219200" y="3095624"/>
            <a:chExt cx="2362200" cy="81157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B7F80CB-BABA-B520-6B68-C5534EC40A50}"/>
                </a:ext>
              </a:extLst>
            </p:cNvPr>
            <p:cNvSpPr/>
            <p:nvPr/>
          </p:nvSpPr>
          <p:spPr>
            <a:xfrm>
              <a:off x="1219200" y="3095624"/>
              <a:ext cx="2362200" cy="81157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&lt;information storage&gt;</a:t>
              </a: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10E22A36-813D-8561-7B5E-69A23CF6D1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5C2A7E-401A-A7B6-CB8D-35F9002BA8B4}"/>
              </a:ext>
            </a:extLst>
          </p:cNvPr>
          <p:cNvGrpSpPr/>
          <p:nvPr/>
        </p:nvGrpSpPr>
        <p:grpSpPr>
          <a:xfrm>
            <a:off x="5349150" y="3228974"/>
            <a:ext cx="2743200" cy="1054099"/>
            <a:chOff x="1219200" y="2955925"/>
            <a:chExt cx="2743200" cy="105409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5EA7DF6-A440-FB33-4FF4-AF3871E75980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Backlog</a:t>
              </a: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97A638CA-73C7-8DE6-40BA-1B1A626119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511B196-F71B-C8D9-5CFC-7A293FCE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58250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8AA8-71A4-4068-20EB-18F73F631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345666A-5D5A-F1EC-D497-43C550A41735}"/>
              </a:ext>
            </a:extLst>
          </p:cNvPr>
          <p:cNvGrpSpPr/>
          <p:nvPr/>
        </p:nvGrpSpPr>
        <p:grpSpPr>
          <a:xfrm>
            <a:off x="5349150" y="3228974"/>
            <a:ext cx="2743200" cy="1054099"/>
            <a:chOff x="1219200" y="2955925"/>
            <a:chExt cx="2743200" cy="105409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1379795-BBC9-DB97-BA2C-EEBD1C45104F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Backlog</a:t>
              </a: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922B686A-ABDC-7789-3A30-8FFB3EFEB3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38B7D0-4CCD-F261-82A3-DD9C0B0F974D}"/>
              </a:ext>
            </a:extLst>
          </p:cNvPr>
          <p:cNvGrpSpPr/>
          <p:nvPr/>
        </p:nvGrpSpPr>
        <p:grpSpPr>
          <a:xfrm>
            <a:off x="1219200" y="3228975"/>
            <a:ext cx="2743200" cy="1054099"/>
            <a:chOff x="1219200" y="2955925"/>
            <a:chExt cx="2743200" cy="105409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2ABBB2A-38FF-A267-4BF8-5E4915C1C19E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End user</a:t>
              </a:r>
            </a:p>
          </p:txBody>
        </p:sp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46582467-E4F6-A8F3-1E22-02DC8E6B7C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BF457BEA-D952-E140-D607-A61399487D68}"/>
              </a:ext>
            </a:extLst>
          </p:cNvPr>
          <p:cNvSpPr/>
          <p:nvPr/>
        </p:nvSpPr>
        <p:spPr>
          <a:xfrm>
            <a:off x="5349150" y="4185872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2E50A-F035-5823-7EFC-AB8388F3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CCED6-8497-4F55-7427-F89398BB1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9150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Information particles can transfer from one storage to another.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63676-C0EB-4D99-CFD2-FF92D519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70E791-A60D-BF3E-2420-2D1F5A900CFF}"/>
              </a:ext>
            </a:extLst>
          </p:cNvPr>
          <p:cNvSpPr/>
          <p:nvPr/>
        </p:nvSpPr>
        <p:spPr>
          <a:xfrm>
            <a:off x="8896350" y="3228975"/>
            <a:ext cx="21717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&lt;information particle&gt;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B336F2-FF35-EFF3-8BA3-1D36BD017E0F}"/>
              </a:ext>
            </a:extLst>
          </p:cNvPr>
          <p:cNvSpPr/>
          <p:nvPr/>
        </p:nvSpPr>
        <p:spPr>
          <a:xfrm>
            <a:off x="8610600" y="2644775"/>
            <a:ext cx="2743200" cy="371157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 dirty="0">
                <a:solidFill>
                  <a:sysClr val="windowText" lastClr="000000"/>
                </a:solidFill>
              </a:rPr>
              <a:t>Legend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B670CC-5CB0-AC95-BB83-3C6A5E3F597A}"/>
              </a:ext>
            </a:extLst>
          </p:cNvPr>
          <p:cNvGrpSpPr/>
          <p:nvPr/>
        </p:nvGrpSpPr>
        <p:grpSpPr>
          <a:xfrm>
            <a:off x="8801100" y="4370388"/>
            <a:ext cx="2362200" cy="811577"/>
            <a:chOff x="1219200" y="3095624"/>
            <a:chExt cx="2362200" cy="81157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E5E3BF0-8527-910C-A1BE-87B68813BA0D}"/>
                </a:ext>
              </a:extLst>
            </p:cNvPr>
            <p:cNvSpPr/>
            <p:nvPr/>
          </p:nvSpPr>
          <p:spPr>
            <a:xfrm>
              <a:off x="1219200" y="3095624"/>
              <a:ext cx="2362200" cy="81157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&lt;information storage&gt;</a:t>
              </a: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65538BB0-224C-374A-2657-97D5DD0492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2D8C8C-346E-3AF8-96B6-F58371574ACE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3962400" y="3756024"/>
            <a:ext cx="13867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CE3F36-3FC3-C96C-D057-E6B955F108F2}"/>
              </a:ext>
            </a:extLst>
          </p:cNvPr>
          <p:cNvCxnSpPr>
            <a:cxnSpLocks/>
          </p:cNvCxnSpPr>
          <p:nvPr/>
        </p:nvCxnSpPr>
        <p:spPr>
          <a:xfrm flipV="1">
            <a:off x="8848725" y="5868988"/>
            <a:ext cx="22669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0EFA098-8712-0722-749C-C4E2850CB6EA}"/>
              </a:ext>
            </a:extLst>
          </p:cNvPr>
          <p:cNvSpPr txBox="1"/>
          <p:nvPr/>
        </p:nvSpPr>
        <p:spPr>
          <a:xfrm>
            <a:off x="8780781" y="5484660"/>
            <a:ext cx="2402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&lt;information transfer&gt;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DC34292-42D8-01D7-C826-80E152AD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72481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9747-7353-2C79-E7C5-E76BE802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Resolving the Anomaly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7252F-934D-0854-BA28-8ED6FBD5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3775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The new, information-centric paradigm explains the anomaly and allows resolving the crisis.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63C9E-8A05-130C-3E46-FBD2356C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C62427-E539-B2B6-2CF5-D02DA1A3C2F9}"/>
              </a:ext>
            </a:extLst>
          </p:cNvPr>
          <p:cNvGrpSpPr/>
          <p:nvPr/>
        </p:nvGrpSpPr>
        <p:grpSpPr>
          <a:xfrm>
            <a:off x="838198" y="3967162"/>
            <a:ext cx="2362200" cy="809626"/>
            <a:chOff x="1219200" y="2955926"/>
            <a:chExt cx="2362200" cy="80962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5967642-39C8-FC18-1DD4-C8A184546036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</a:p>
          </p:txBody>
        </p:sp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F7BF45F1-D3C5-EF84-E4A4-F641F97D9C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AD0C0F4-33E1-CEC0-3F53-7AC2683659CC}"/>
              </a:ext>
            </a:extLst>
          </p:cNvPr>
          <p:cNvGrpSpPr/>
          <p:nvPr/>
        </p:nvGrpSpPr>
        <p:grpSpPr>
          <a:xfrm>
            <a:off x="8991600" y="3967162"/>
            <a:ext cx="2362200" cy="809626"/>
            <a:chOff x="1219200" y="2955926"/>
            <a:chExt cx="2362200" cy="80962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16330E8-F0AF-D2E5-F2F5-5DC1F3A7F9BC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Developer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5" name="Graphic 34" descr="User with solid fill">
              <a:extLst>
                <a:ext uri="{FF2B5EF4-FFF2-40B4-BE49-F238E27FC236}">
                  <a16:creationId xmlns:a16="http://schemas.microsoft.com/office/drawing/2014/main" id="{1BA7F5BD-3EE3-C1AA-89A3-7BF12302AA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12AF06A-9794-3268-4A3D-8947D48D97A5}"/>
              </a:ext>
            </a:extLst>
          </p:cNvPr>
          <p:cNvGrpSpPr/>
          <p:nvPr/>
        </p:nvGrpSpPr>
        <p:grpSpPr>
          <a:xfrm>
            <a:off x="7204802" y="2880518"/>
            <a:ext cx="2362200" cy="809626"/>
            <a:chOff x="1219200" y="2955926"/>
            <a:chExt cx="2362200" cy="80962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8438FF7-9B82-A845-8310-43250CF1929E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Specification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8" name="Graphic 37" descr="Database with solid fill">
              <a:extLst>
                <a:ext uri="{FF2B5EF4-FFF2-40B4-BE49-F238E27FC236}">
                  <a16:creationId xmlns:a16="http://schemas.microsoft.com/office/drawing/2014/main" id="{E8AC107F-107F-9D9E-47D4-1EEF0D9630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8842273-B1E4-5624-249D-AB2FC2A84881}"/>
              </a:ext>
            </a:extLst>
          </p:cNvPr>
          <p:cNvGrpSpPr/>
          <p:nvPr/>
        </p:nvGrpSpPr>
        <p:grpSpPr>
          <a:xfrm>
            <a:off x="2625000" y="2880518"/>
            <a:ext cx="2362200" cy="809626"/>
            <a:chOff x="1219200" y="2955926"/>
            <a:chExt cx="2362200" cy="80962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38AB779-277B-6B3F-D33E-B16BA2BC7949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1" name="Graphic 40" descr="User with solid fill">
              <a:extLst>
                <a:ext uri="{FF2B5EF4-FFF2-40B4-BE49-F238E27FC236}">
                  <a16:creationId xmlns:a16="http://schemas.microsoft.com/office/drawing/2014/main" id="{D9F7D3F7-19A6-B32C-469A-08CDBF384C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4E8A7C4-DABA-3E84-994E-6C7BFE2F24FA}"/>
              </a:ext>
            </a:extLst>
          </p:cNvPr>
          <p:cNvCxnSpPr>
            <a:stCxn id="40" idx="3"/>
            <a:endCxn id="37" idx="1"/>
          </p:cNvCxnSpPr>
          <p:nvPr/>
        </p:nvCxnSpPr>
        <p:spPr>
          <a:xfrm>
            <a:off x="4987200" y="3285331"/>
            <a:ext cx="2217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DA8AEE-6DEC-BAEA-F863-CEF70FF4DDC4}"/>
              </a:ext>
            </a:extLst>
          </p:cNvPr>
          <p:cNvCxnSpPr>
            <a:cxnSpLocks/>
            <a:stCxn id="25" idx="3"/>
            <a:endCxn id="34" idx="1"/>
          </p:cNvCxnSpPr>
          <p:nvPr/>
        </p:nvCxnSpPr>
        <p:spPr>
          <a:xfrm>
            <a:off x="3200398" y="4371975"/>
            <a:ext cx="57912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89CC9EA-ADE2-FD1C-0F51-68DAB87DA4F5}"/>
              </a:ext>
            </a:extLst>
          </p:cNvPr>
          <p:cNvCxnSpPr>
            <a:cxnSpLocks/>
            <a:stCxn id="25" idx="0"/>
            <a:endCxn id="40" idx="1"/>
          </p:cNvCxnSpPr>
          <p:nvPr/>
        </p:nvCxnSpPr>
        <p:spPr>
          <a:xfrm rot="5400000" flipH="1" flipV="1">
            <a:off x="1981234" y="3323396"/>
            <a:ext cx="681831" cy="6057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6">
            <a:extLst>
              <a:ext uri="{FF2B5EF4-FFF2-40B4-BE49-F238E27FC236}">
                <a16:creationId xmlns:a16="http://schemas.microsoft.com/office/drawing/2014/main" id="{229164D8-C450-86F5-7B54-88C173A47D11}"/>
              </a:ext>
            </a:extLst>
          </p:cNvPr>
          <p:cNvCxnSpPr>
            <a:cxnSpLocks/>
            <a:stCxn id="37" idx="3"/>
            <a:endCxn id="34" idx="0"/>
          </p:cNvCxnSpPr>
          <p:nvPr/>
        </p:nvCxnSpPr>
        <p:spPr>
          <a:xfrm>
            <a:off x="9567002" y="3285331"/>
            <a:ext cx="605698" cy="6818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3D194B-9C46-E698-57D1-8D6A347ED870}"/>
              </a:ext>
            </a:extLst>
          </p:cNvPr>
          <p:cNvGrpSpPr/>
          <p:nvPr/>
        </p:nvGrpSpPr>
        <p:grpSpPr>
          <a:xfrm>
            <a:off x="647583" y="2792313"/>
            <a:ext cx="1821230" cy="432000"/>
            <a:chOff x="1124335" y="3054350"/>
            <a:chExt cx="1821230" cy="432000"/>
          </a:xfrm>
        </p:grpSpPr>
        <p:pic>
          <p:nvPicPr>
            <p:cNvPr id="53" name="Graphic 52" descr="Chat with solid fill">
              <a:extLst>
                <a:ext uri="{FF2B5EF4-FFF2-40B4-BE49-F238E27FC236}">
                  <a16:creationId xmlns:a16="http://schemas.microsoft.com/office/drawing/2014/main" id="{01DABE9C-C919-FEC1-E443-3C5E454EB6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482145B-16C0-5D02-EA4D-2BE624C1BC89}"/>
                </a:ext>
              </a:extLst>
            </p:cNvPr>
            <p:cNvSpPr txBox="1"/>
            <p:nvPr/>
          </p:nvSpPr>
          <p:spPr>
            <a:xfrm>
              <a:off x="1558198" y="3085684"/>
              <a:ext cx="1387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Interviewing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3B807C7-46B5-BB2A-64F3-82F7EC948373}"/>
              </a:ext>
            </a:extLst>
          </p:cNvPr>
          <p:cNvGrpSpPr/>
          <p:nvPr/>
        </p:nvGrpSpPr>
        <p:grpSpPr>
          <a:xfrm>
            <a:off x="5111870" y="2792313"/>
            <a:ext cx="1968257" cy="432000"/>
            <a:chOff x="1124335" y="3054350"/>
            <a:chExt cx="1968257" cy="432000"/>
          </a:xfrm>
        </p:grpSpPr>
        <p:pic>
          <p:nvPicPr>
            <p:cNvPr id="57" name="Graphic 56" descr="Pen with solid fill">
              <a:extLst>
                <a:ext uri="{FF2B5EF4-FFF2-40B4-BE49-F238E27FC236}">
                  <a16:creationId xmlns:a16="http://schemas.microsoft.com/office/drawing/2014/main" id="{13257F38-ADC8-6DBE-B2E1-77D9E82227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D78A2AB-37B2-4ADC-DDC6-0BD84C487174}"/>
                </a:ext>
              </a:extLst>
            </p:cNvPr>
            <p:cNvSpPr txBox="1"/>
            <p:nvPr/>
          </p:nvSpPr>
          <p:spPr>
            <a:xfrm>
              <a:off x="1558198" y="3085684"/>
              <a:ext cx="1534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Documenting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8216D53-E7AE-0254-E922-4BDA6BCAF949}"/>
              </a:ext>
            </a:extLst>
          </p:cNvPr>
          <p:cNvGrpSpPr/>
          <p:nvPr/>
        </p:nvGrpSpPr>
        <p:grpSpPr>
          <a:xfrm>
            <a:off x="9691677" y="2792313"/>
            <a:ext cx="1426442" cy="432000"/>
            <a:chOff x="1124335" y="3054350"/>
            <a:chExt cx="1426442" cy="432000"/>
          </a:xfrm>
        </p:grpSpPr>
        <p:pic>
          <p:nvPicPr>
            <p:cNvPr id="60" name="Graphic 59" descr="Glasses with solid fill">
              <a:extLst>
                <a:ext uri="{FF2B5EF4-FFF2-40B4-BE49-F238E27FC236}">
                  <a16:creationId xmlns:a16="http://schemas.microsoft.com/office/drawing/2014/main" id="{A7D8D5C4-8D18-9590-FA32-557FD7B9D4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6A133E1-B36F-DAAB-592C-8A202DB616BB}"/>
                </a:ext>
              </a:extLst>
            </p:cNvPr>
            <p:cNvSpPr txBox="1"/>
            <p:nvPr/>
          </p:nvSpPr>
          <p:spPr>
            <a:xfrm>
              <a:off x="1558198" y="3085684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Reading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D28FCDB-AD79-8465-F085-60D177534464}"/>
              </a:ext>
            </a:extLst>
          </p:cNvPr>
          <p:cNvGrpSpPr/>
          <p:nvPr/>
        </p:nvGrpSpPr>
        <p:grpSpPr>
          <a:xfrm>
            <a:off x="4814301" y="4416788"/>
            <a:ext cx="2997257" cy="432000"/>
            <a:chOff x="1124335" y="3054350"/>
            <a:chExt cx="2997257" cy="432000"/>
          </a:xfrm>
        </p:grpSpPr>
        <p:pic>
          <p:nvPicPr>
            <p:cNvPr id="63" name="Graphic 62" descr="Chat with solid fill">
              <a:extLst>
                <a:ext uri="{FF2B5EF4-FFF2-40B4-BE49-F238E27FC236}">
                  <a16:creationId xmlns:a16="http://schemas.microsoft.com/office/drawing/2014/main" id="{83FD063E-03AC-2AF5-BBDF-F22DBD7976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4BEFF1-3F0A-BFD0-C9FB-6325DAC5F06F}"/>
                </a:ext>
              </a:extLst>
            </p:cNvPr>
            <p:cNvSpPr txBox="1"/>
            <p:nvPr/>
          </p:nvSpPr>
          <p:spPr>
            <a:xfrm>
              <a:off x="1558198" y="3085684"/>
              <a:ext cx="2563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Directly communicating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15C1D7E7-009C-27D5-3164-9235333DDFE6}"/>
              </a:ext>
            </a:extLst>
          </p:cNvPr>
          <p:cNvSpPr/>
          <p:nvPr/>
        </p:nvSpPr>
        <p:spPr>
          <a:xfrm>
            <a:off x="1107031" y="4614963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27C64556-18D3-7230-009E-72CBA927FC15}"/>
              </a:ext>
            </a:extLst>
          </p:cNvPr>
          <p:cNvSpPr txBox="1">
            <a:spLocks/>
          </p:cNvSpPr>
          <p:nvPr/>
        </p:nvSpPr>
        <p:spPr>
          <a:xfrm>
            <a:off x="838198" y="5537630"/>
            <a:ext cx="10515600" cy="99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What matters is </a:t>
            </a:r>
            <a:r>
              <a:rPr lang="en-SE" b="1" dirty="0"/>
              <a:t>through which path </a:t>
            </a:r>
            <a:r>
              <a:rPr lang="en-SE" dirty="0"/>
              <a:t>does the information (i.e., the requirements particle) flow better/faster to the developer?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EEAA6-C0BA-ED86-9928-1D5A8AC3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12131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9733-7B46-48D7-CBFB-5ECF5CE1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A323-223F-8A7D-703D-FFCF7895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Resolving the Anomaly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0AD7-C538-322A-ADF7-468F8120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D98DC3-154D-4267-51F6-50472BFA9CDB}"/>
              </a:ext>
            </a:extLst>
          </p:cNvPr>
          <p:cNvGrpSpPr/>
          <p:nvPr/>
        </p:nvGrpSpPr>
        <p:grpSpPr>
          <a:xfrm>
            <a:off x="838198" y="3967162"/>
            <a:ext cx="2362200" cy="809626"/>
            <a:chOff x="1219200" y="2955926"/>
            <a:chExt cx="2362200" cy="80962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7195694-27A7-3282-0694-1A56E47517D5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</a:p>
          </p:txBody>
        </p:sp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BD1B5C18-0B3B-16C4-8D3A-1669BD1777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D236F61-D7CF-0C36-5AC9-3A9C8544DDAE}"/>
              </a:ext>
            </a:extLst>
          </p:cNvPr>
          <p:cNvGrpSpPr/>
          <p:nvPr/>
        </p:nvGrpSpPr>
        <p:grpSpPr>
          <a:xfrm>
            <a:off x="8991600" y="3967162"/>
            <a:ext cx="2362200" cy="809626"/>
            <a:chOff x="1219200" y="2955926"/>
            <a:chExt cx="2362200" cy="80962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98EE2A6-BEA4-E76B-FC70-D70FB243939E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Developer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5" name="Graphic 34" descr="User with solid fill">
              <a:extLst>
                <a:ext uri="{FF2B5EF4-FFF2-40B4-BE49-F238E27FC236}">
                  <a16:creationId xmlns:a16="http://schemas.microsoft.com/office/drawing/2014/main" id="{192199CC-0D68-1278-C00A-704B2220FD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8E787CA-9A4C-C6EC-31D1-22A9C763033E}"/>
              </a:ext>
            </a:extLst>
          </p:cNvPr>
          <p:cNvGrpSpPr/>
          <p:nvPr/>
        </p:nvGrpSpPr>
        <p:grpSpPr>
          <a:xfrm>
            <a:off x="7204802" y="2880518"/>
            <a:ext cx="2362200" cy="809626"/>
            <a:chOff x="1219200" y="2955926"/>
            <a:chExt cx="2362200" cy="80962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502DF4BB-CED9-C17E-A30C-8A9312663272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Specification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8" name="Graphic 37" descr="Database with solid fill">
              <a:extLst>
                <a:ext uri="{FF2B5EF4-FFF2-40B4-BE49-F238E27FC236}">
                  <a16:creationId xmlns:a16="http://schemas.microsoft.com/office/drawing/2014/main" id="{62E1497F-DD4E-D0E3-524C-1CC40BEC9C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7381C58-88E5-5B83-CCFB-78D5876FD129}"/>
              </a:ext>
            </a:extLst>
          </p:cNvPr>
          <p:cNvGrpSpPr/>
          <p:nvPr/>
        </p:nvGrpSpPr>
        <p:grpSpPr>
          <a:xfrm>
            <a:off x="2625000" y="2880518"/>
            <a:ext cx="2362200" cy="809626"/>
            <a:chOff x="1219200" y="2955926"/>
            <a:chExt cx="2362200" cy="80962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9B86821-2C8F-8709-9A96-75590C6476A2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1" name="Graphic 40" descr="User with solid fill">
              <a:extLst>
                <a:ext uri="{FF2B5EF4-FFF2-40B4-BE49-F238E27FC236}">
                  <a16:creationId xmlns:a16="http://schemas.microsoft.com/office/drawing/2014/main" id="{9C23A190-83B3-C2F5-508C-B18883554A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CCBDE2C-7443-68C3-0C69-594779E7F948}"/>
              </a:ext>
            </a:extLst>
          </p:cNvPr>
          <p:cNvCxnSpPr>
            <a:stCxn id="40" idx="3"/>
            <a:endCxn id="37" idx="1"/>
          </p:cNvCxnSpPr>
          <p:nvPr/>
        </p:nvCxnSpPr>
        <p:spPr>
          <a:xfrm>
            <a:off x="4987200" y="3285331"/>
            <a:ext cx="2217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FBDE654-5876-C32C-68C3-00C016E5A3B6}"/>
              </a:ext>
            </a:extLst>
          </p:cNvPr>
          <p:cNvCxnSpPr>
            <a:cxnSpLocks/>
            <a:stCxn id="25" idx="3"/>
            <a:endCxn id="34" idx="1"/>
          </p:cNvCxnSpPr>
          <p:nvPr/>
        </p:nvCxnSpPr>
        <p:spPr>
          <a:xfrm>
            <a:off x="3200398" y="4371975"/>
            <a:ext cx="57912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9E3E505-F24B-859C-1183-C9E302CF0724}"/>
              </a:ext>
            </a:extLst>
          </p:cNvPr>
          <p:cNvCxnSpPr>
            <a:cxnSpLocks/>
            <a:stCxn id="25" idx="0"/>
            <a:endCxn id="40" idx="1"/>
          </p:cNvCxnSpPr>
          <p:nvPr/>
        </p:nvCxnSpPr>
        <p:spPr>
          <a:xfrm rot="5400000" flipH="1" flipV="1">
            <a:off x="1981234" y="3323396"/>
            <a:ext cx="681831" cy="6057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6">
            <a:extLst>
              <a:ext uri="{FF2B5EF4-FFF2-40B4-BE49-F238E27FC236}">
                <a16:creationId xmlns:a16="http://schemas.microsoft.com/office/drawing/2014/main" id="{DC6A15F6-4D32-6A73-14D4-4F2F9AFCB499}"/>
              </a:ext>
            </a:extLst>
          </p:cNvPr>
          <p:cNvCxnSpPr>
            <a:cxnSpLocks/>
            <a:stCxn id="37" idx="3"/>
            <a:endCxn id="34" idx="0"/>
          </p:cNvCxnSpPr>
          <p:nvPr/>
        </p:nvCxnSpPr>
        <p:spPr>
          <a:xfrm>
            <a:off x="9567002" y="3285331"/>
            <a:ext cx="605698" cy="6818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8F3CA99-4C28-7222-76A0-522580743193}"/>
              </a:ext>
            </a:extLst>
          </p:cNvPr>
          <p:cNvGrpSpPr/>
          <p:nvPr/>
        </p:nvGrpSpPr>
        <p:grpSpPr>
          <a:xfrm>
            <a:off x="647583" y="2792313"/>
            <a:ext cx="1821230" cy="432000"/>
            <a:chOff x="1124335" y="3054350"/>
            <a:chExt cx="1821230" cy="432000"/>
          </a:xfrm>
        </p:grpSpPr>
        <p:pic>
          <p:nvPicPr>
            <p:cNvPr id="53" name="Graphic 52" descr="Chat with solid fill">
              <a:extLst>
                <a:ext uri="{FF2B5EF4-FFF2-40B4-BE49-F238E27FC236}">
                  <a16:creationId xmlns:a16="http://schemas.microsoft.com/office/drawing/2014/main" id="{60D71A7B-ADB3-29F7-F985-77CB4F37EB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10C8BAD-EC6D-835D-4995-4E55FCC336AA}"/>
                </a:ext>
              </a:extLst>
            </p:cNvPr>
            <p:cNvSpPr txBox="1"/>
            <p:nvPr/>
          </p:nvSpPr>
          <p:spPr>
            <a:xfrm>
              <a:off x="1558198" y="3085684"/>
              <a:ext cx="1387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Interviewing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5142865-7B54-D6B2-3BEE-E2204A41C832}"/>
              </a:ext>
            </a:extLst>
          </p:cNvPr>
          <p:cNvGrpSpPr/>
          <p:nvPr/>
        </p:nvGrpSpPr>
        <p:grpSpPr>
          <a:xfrm>
            <a:off x="5111870" y="2792313"/>
            <a:ext cx="1968257" cy="432000"/>
            <a:chOff x="1124335" y="3054350"/>
            <a:chExt cx="1968257" cy="432000"/>
          </a:xfrm>
        </p:grpSpPr>
        <p:pic>
          <p:nvPicPr>
            <p:cNvPr id="57" name="Graphic 56" descr="Pen with solid fill">
              <a:extLst>
                <a:ext uri="{FF2B5EF4-FFF2-40B4-BE49-F238E27FC236}">
                  <a16:creationId xmlns:a16="http://schemas.microsoft.com/office/drawing/2014/main" id="{CCE4F411-C8D2-1535-3BFF-299482E80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081511B-BB17-CD8A-2294-2233E709471E}"/>
                </a:ext>
              </a:extLst>
            </p:cNvPr>
            <p:cNvSpPr txBox="1"/>
            <p:nvPr/>
          </p:nvSpPr>
          <p:spPr>
            <a:xfrm>
              <a:off x="1558198" y="3085684"/>
              <a:ext cx="1534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Documenting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BAB30F8-0F36-FB5A-27C7-E09D01D0A6E1}"/>
              </a:ext>
            </a:extLst>
          </p:cNvPr>
          <p:cNvGrpSpPr/>
          <p:nvPr/>
        </p:nvGrpSpPr>
        <p:grpSpPr>
          <a:xfrm>
            <a:off x="9691677" y="2792313"/>
            <a:ext cx="1426442" cy="432000"/>
            <a:chOff x="1124335" y="3054350"/>
            <a:chExt cx="1426442" cy="432000"/>
          </a:xfrm>
        </p:grpSpPr>
        <p:pic>
          <p:nvPicPr>
            <p:cNvPr id="60" name="Graphic 59" descr="Glasses with solid fill">
              <a:extLst>
                <a:ext uri="{FF2B5EF4-FFF2-40B4-BE49-F238E27FC236}">
                  <a16:creationId xmlns:a16="http://schemas.microsoft.com/office/drawing/2014/main" id="{7158EE99-AA77-482B-21BF-5C8935BF27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21E5B7D-E333-83B5-0946-AD0D9A6C68BE}"/>
                </a:ext>
              </a:extLst>
            </p:cNvPr>
            <p:cNvSpPr txBox="1"/>
            <p:nvPr/>
          </p:nvSpPr>
          <p:spPr>
            <a:xfrm>
              <a:off x="1558198" y="3085684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Reading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9F9C22-60C5-B842-14BC-22DAC6AFCBF7}"/>
              </a:ext>
            </a:extLst>
          </p:cNvPr>
          <p:cNvGrpSpPr/>
          <p:nvPr/>
        </p:nvGrpSpPr>
        <p:grpSpPr>
          <a:xfrm>
            <a:off x="4814301" y="4416788"/>
            <a:ext cx="2997257" cy="432000"/>
            <a:chOff x="1124335" y="3054350"/>
            <a:chExt cx="2997257" cy="432000"/>
          </a:xfrm>
        </p:grpSpPr>
        <p:pic>
          <p:nvPicPr>
            <p:cNvPr id="63" name="Graphic 62" descr="Chat with solid fill">
              <a:extLst>
                <a:ext uri="{FF2B5EF4-FFF2-40B4-BE49-F238E27FC236}">
                  <a16:creationId xmlns:a16="http://schemas.microsoft.com/office/drawing/2014/main" id="{6C85EED8-09EA-7119-C502-CB6E25F583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07EE89F-08E3-43DD-CFF7-370208EB9FE8}"/>
                </a:ext>
              </a:extLst>
            </p:cNvPr>
            <p:cNvSpPr txBox="1"/>
            <p:nvPr/>
          </p:nvSpPr>
          <p:spPr>
            <a:xfrm>
              <a:off x="1558198" y="3085684"/>
              <a:ext cx="2563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Directly communicating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2F0E03BF-47CE-82AE-12A5-3EC68BDFA37F}"/>
              </a:ext>
            </a:extLst>
          </p:cNvPr>
          <p:cNvSpPr/>
          <p:nvPr/>
        </p:nvSpPr>
        <p:spPr>
          <a:xfrm>
            <a:off x="1107031" y="4614963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E8578-34E9-8E02-D928-D3535B39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6233D5BE-60DD-FAAF-C238-99FFD6F31AD7}"/>
              </a:ext>
            </a:extLst>
          </p:cNvPr>
          <p:cNvSpPr/>
          <p:nvPr/>
        </p:nvSpPr>
        <p:spPr>
          <a:xfrm>
            <a:off x="4349260" y="1517185"/>
            <a:ext cx="3804140" cy="1011360"/>
          </a:xfrm>
          <a:prstGeom prst="wedgeRectCallout">
            <a:avLst>
              <a:gd name="adj1" fmla="val 27244"/>
              <a:gd name="adj2" fmla="val 84524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Tangible and intangible information storages are equally represented 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1FF9F818-54EC-F765-4B06-85A3E80E6251}"/>
              </a:ext>
            </a:extLst>
          </p:cNvPr>
          <p:cNvSpPr/>
          <p:nvPr/>
        </p:nvSpPr>
        <p:spPr>
          <a:xfrm>
            <a:off x="3641800" y="5283546"/>
            <a:ext cx="3804140" cy="1011360"/>
          </a:xfrm>
          <a:prstGeom prst="wedgeRectCallout">
            <a:avLst>
              <a:gd name="adj1" fmla="val 33715"/>
              <a:gd name="adj2" fmla="val -83551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The goal of RE is formalized as the transport of information from sources to targets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E9BE20A4-AFFE-0730-008F-86628E5E6C78}"/>
              </a:ext>
            </a:extLst>
          </p:cNvPr>
          <p:cNvSpPr/>
          <p:nvPr/>
        </p:nvSpPr>
        <p:spPr>
          <a:xfrm>
            <a:off x="7564802" y="5283546"/>
            <a:ext cx="3804140" cy="1011360"/>
          </a:xfrm>
          <a:prstGeom prst="wedgeRectCallout">
            <a:avLst>
              <a:gd name="adj1" fmla="val -55653"/>
              <a:gd name="adj2" fmla="val 11498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The properties of the information flow constitute RE quality</a:t>
            </a:r>
          </a:p>
        </p:txBody>
      </p:sp>
    </p:spTree>
    <p:extLst>
      <p:ext uri="{BB962C8B-B14F-4D97-AF65-F5344CB8AC3E}">
        <p14:creationId xmlns:p14="http://schemas.microsoft.com/office/powerpoint/2010/main" val="2770112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2F27A01-6AF9-3016-96ED-280299B6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Application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25D8A8-DDDC-C335-DEC1-E842473B4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Syntaxes for Information-centric 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29CAE-17DE-351F-B0E3-53F64043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E385D-C19B-1E7E-A2F0-5304D69F7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72121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F942-F995-59A0-14CC-14AD103D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B8DE-3DEF-2201-703C-ABA5020BD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C1C41-490E-981C-0E05-FF620DE9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F5D882-CD01-85F7-799E-7B1276A64D3B}"/>
              </a:ext>
            </a:extLst>
          </p:cNvPr>
          <p:cNvGrpSpPr/>
          <p:nvPr/>
        </p:nvGrpSpPr>
        <p:grpSpPr>
          <a:xfrm>
            <a:off x="1928446" y="1855656"/>
            <a:ext cx="2705596" cy="929704"/>
            <a:chOff x="2209800" y="1986659"/>
            <a:chExt cx="2705596" cy="9297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2AC0F3E-6D53-C600-2F50-423DC82D9AE6}"/>
                </a:ext>
              </a:extLst>
            </p:cNvPr>
            <p:cNvGrpSpPr/>
            <p:nvPr/>
          </p:nvGrpSpPr>
          <p:grpSpPr>
            <a:xfrm>
              <a:off x="3907211" y="1986659"/>
              <a:ext cx="1008185" cy="569302"/>
              <a:chOff x="1219200" y="2955926"/>
              <a:chExt cx="1008185" cy="56930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4195EE8A-6409-8997-0EB4-867F9DBFABED}"/>
                  </a:ext>
                </a:extLst>
              </p:cNvPr>
              <p:cNvSpPr/>
              <p:nvPr/>
            </p:nvSpPr>
            <p:spPr>
              <a:xfrm>
                <a:off x="1219200" y="2955926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8" name="Graphic 7" descr="Database with solid fill">
                <a:extLst>
                  <a:ext uri="{FF2B5EF4-FFF2-40B4-BE49-F238E27FC236}">
                    <a16:creationId xmlns:a16="http://schemas.microsoft.com/office/drawing/2014/main" id="{E164019D-690E-A8F4-CED8-A63B6B484F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8509C83-E634-4DCE-4C68-93992DBCC340}"/>
                </a:ext>
              </a:extLst>
            </p:cNvPr>
            <p:cNvGrpSpPr/>
            <p:nvPr/>
          </p:nvGrpSpPr>
          <p:grpSpPr>
            <a:xfrm>
              <a:off x="2209800" y="1989791"/>
              <a:ext cx="1008185" cy="569302"/>
              <a:chOff x="1201615" y="2935941"/>
              <a:chExt cx="1008185" cy="569302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472BC53-CE39-CC78-3B1B-3910673658A7}"/>
                  </a:ext>
                </a:extLst>
              </p:cNvPr>
              <p:cNvSpPr/>
              <p:nvPr/>
            </p:nvSpPr>
            <p:spPr>
              <a:xfrm>
                <a:off x="1201615" y="2935941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1" name="Graphic 10" descr="User with solid fill">
                <a:extLst>
                  <a:ext uri="{FF2B5EF4-FFF2-40B4-BE49-F238E27FC236}">
                    <a16:creationId xmlns:a16="http://schemas.microsoft.com/office/drawing/2014/main" id="{42CABB88-DE12-36C6-FA41-93E5C6447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E7A3A90-40BB-18BB-3C4B-8038EC2D0919}"/>
                </a:ext>
              </a:extLst>
            </p:cNvPr>
            <p:cNvSpPr/>
            <p:nvPr/>
          </p:nvSpPr>
          <p:spPr>
            <a:xfrm>
              <a:off x="2576735" y="2483343"/>
              <a:ext cx="746850" cy="43302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BA25CD-0B6B-E26D-0D9F-90B14CC5D6BB}"/>
                </a:ext>
              </a:extLst>
            </p:cNvPr>
            <p:cNvCxnSpPr>
              <a:cxnSpLocks/>
              <a:stCxn id="10" idx="3"/>
              <a:endCxn id="7" idx="1"/>
            </p:cNvCxnSpPr>
            <p:nvPr/>
          </p:nvCxnSpPr>
          <p:spPr>
            <a:xfrm flipV="1">
              <a:off x="3217985" y="2271310"/>
              <a:ext cx="689226" cy="3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F2E7D99-8FFC-F63B-44E4-E70B0233A2A8}"/>
              </a:ext>
            </a:extLst>
          </p:cNvPr>
          <p:cNvSpPr txBox="1"/>
          <p:nvPr/>
        </p:nvSpPr>
        <p:spPr>
          <a:xfrm>
            <a:off x="1487613" y="2819326"/>
            <a:ext cx="3587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000" b="1" dirty="0"/>
              <a:t>Information as discrete, concrete particles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2A323A2-7B6A-1175-C35E-2A429B6AE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2181"/>
            <a:ext cx="4835769" cy="1651715"/>
          </a:xfrm>
        </p:spPr>
        <p:txBody>
          <a:bodyPr>
            <a:normAutofit/>
          </a:bodyPr>
          <a:lstStyle/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High granularity and specificity</a:t>
            </a:r>
          </a:p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Directly empirically grounded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0FCC2A9-4189-FAC3-499E-0E67F9A6F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5C974-0E47-F4D0-2AC1-425FE43AD4D5}"/>
              </a:ext>
            </a:extLst>
          </p:cNvPr>
          <p:cNvSpPr txBox="1"/>
          <p:nvPr/>
        </p:nvSpPr>
        <p:spPr>
          <a:xfrm>
            <a:off x="838198" y="5342292"/>
            <a:ext cx="48357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Useful for retrospective analyses (e.g., identifying bottlenecks)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Models requirements semantically</a:t>
            </a:r>
          </a:p>
        </p:txBody>
      </p:sp>
    </p:spTree>
    <p:extLst>
      <p:ext uri="{BB962C8B-B14F-4D97-AF65-F5344CB8AC3E}">
        <p14:creationId xmlns:p14="http://schemas.microsoft.com/office/powerpoint/2010/main" val="247997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3617-5DEA-E291-444E-1C6E800F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Use Case: Modelling Information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03F04-5285-281B-402B-9B56A7C64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9537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Information particles about the same target may merge at a single information storage, potentially, producing conflicts.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9268E-610B-EA96-A3E0-5A2F3649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75922-9FF4-F49A-9EF3-50971F89C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675B08-1BB7-485C-7DBC-BA3F654857BE}"/>
              </a:ext>
            </a:extLst>
          </p:cNvPr>
          <p:cNvGrpSpPr/>
          <p:nvPr/>
        </p:nvGrpSpPr>
        <p:grpSpPr>
          <a:xfrm>
            <a:off x="838198" y="3912838"/>
            <a:ext cx="2362200" cy="809626"/>
            <a:chOff x="1219200" y="2955926"/>
            <a:chExt cx="2362200" cy="8096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C16925C-21E1-3BA1-0A69-C176CBEF8E9E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</a:p>
          </p:txBody>
        </p:sp>
        <p:pic>
          <p:nvPicPr>
            <p:cNvPr id="9" name="Graphic 8" descr="User with solid fill">
              <a:extLst>
                <a:ext uri="{FF2B5EF4-FFF2-40B4-BE49-F238E27FC236}">
                  <a16:creationId xmlns:a16="http://schemas.microsoft.com/office/drawing/2014/main" id="{2DBBC856-C45F-886D-3781-800E9FA7C9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CBD29F-AC10-D95C-6E6A-31246145CE06}"/>
              </a:ext>
            </a:extLst>
          </p:cNvPr>
          <p:cNvGrpSpPr/>
          <p:nvPr/>
        </p:nvGrpSpPr>
        <p:grpSpPr>
          <a:xfrm>
            <a:off x="8991600" y="3912838"/>
            <a:ext cx="2362200" cy="809626"/>
            <a:chOff x="1219200" y="2955926"/>
            <a:chExt cx="2362200" cy="80962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2B7A76E-FC3F-855C-C895-2E4B570D78C2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Specification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Graphic 11" descr="Database with solid fill">
              <a:extLst>
                <a:ext uri="{FF2B5EF4-FFF2-40B4-BE49-F238E27FC236}">
                  <a16:creationId xmlns:a16="http://schemas.microsoft.com/office/drawing/2014/main" id="{C71BAE68-CB9A-223C-F60A-0D168438A4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239221-8FE9-D991-8C9D-7267E889B42F}"/>
              </a:ext>
            </a:extLst>
          </p:cNvPr>
          <p:cNvGrpSpPr/>
          <p:nvPr/>
        </p:nvGrpSpPr>
        <p:grpSpPr>
          <a:xfrm>
            <a:off x="4914899" y="3912838"/>
            <a:ext cx="2362200" cy="809626"/>
            <a:chOff x="1219200" y="2955926"/>
            <a:chExt cx="2362200" cy="80962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1D40228-DF88-964A-D0BB-3910A0BB7B99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886FA56A-D80C-0A65-308E-FA75477278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53B968-72ED-B443-F118-68B360352BBE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>
            <a:off x="7277099" y="4317651"/>
            <a:ext cx="17145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6">
            <a:extLst>
              <a:ext uri="{FF2B5EF4-FFF2-40B4-BE49-F238E27FC236}">
                <a16:creationId xmlns:a16="http://schemas.microsoft.com/office/drawing/2014/main" id="{1B108321-0AD1-BF48-95D0-C734C1DE9F39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3200398" y="4317651"/>
            <a:ext cx="17145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51043E-5CAE-9737-F8AC-9E076BE54B06}"/>
              </a:ext>
            </a:extLst>
          </p:cNvPr>
          <p:cNvGrpSpPr/>
          <p:nvPr/>
        </p:nvGrpSpPr>
        <p:grpSpPr>
          <a:xfrm>
            <a:off x="3372396" y="3954319"/>
            <a:ext cx="1370505" cy="307777"/>
            <a:chOff x="1124335" y="3039701"/>
            <a:chExt cx="1370505" cy="307777"/>
          </a:xfrm>
        </p:grpSpPr>
        <p:pic>
          <p:nvPicPr>
            <p:cNvPr id="19" name="Graphic 18" descr="Chat with solid fill">
              <a:extLst>
                <a:ext uri="{FF2B5EF4-FFF2-40B4-BE49-F238E27FC236}">
                  <a16:creationId xmlns:a16="http://schemas.microsoft.com/office/drawing/2014/main" id="{EC6FD2BE-FAC6-839C-23CA-C07B29EF18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4335" y="3054350"/>
              <a:ext cx="288000" cy="2880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95F768-4D82-5639-DE53-44CA7643E4E1}"/>
                </a:ext>
              </a:extLst>
            </p:cNvPr>
            <p:cNvSpPr txBox="1"/>
            <p:nvPr/>
          </p:nvSpPr>
          <p:spPr>
            <a:xfrm>
              <a:off x="1372417" y="3039701"/>
              <a:ext cx="11224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400" dirty="0"/>
                <a:t>Interviewing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FEF2A1-0549-EE6A-3712-6507377839D3}"/>
              </a:ext>
            </a:extLst>
          </p:cNvPr>
          <p:cNvGrpSpPr/>
          <p:nvPr/>
        </p:nvGrpSpPr>
        <p:grpSpPr>
          <a:xfrm>
            <a:off x="7371429" y="3954320"/>
            <a:ext cx="1525839" cy="307777"/>
            <a:chOff x="1270198" y="3085684"/>
            <a:chExt cx="1525839" cy="307777"/>
          </a:xfrm>
        </p:grpSpPr>
        <p:pic>
          <p:nvPicPr>
            <p:cNvPr id="22" name="Graphic 21" descr="Pen with solid fill">
              <a:extLst>
                <a:ext uri="{FF2B5EF4-FFF2-40B4-BE49-F238E27FC236}">
                  <a16:creationId xmlns:a16="http://schemas.microsoft.com/office/drawing/2014/main" id="{C80757A5-403B-A622-59A1-3618937303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270198" y="3085684"/>
              <a:ext cx="288000" cy="288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A432099-F04C-77ED-8071-650155F9C505}"/>
                </a:ext>
              </a:extLst>
            </p:cNvPr>
            <p:cNvSpPr txBox="1"/>
            <p:nvPr/>
          </p:nvSpPr>
          <p:spPr>
            <a:xfrm>
              <a:off x="1558198" y="3085684"/>
              <a:ext cx="1237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400" dirty="0"/>
                <a:t>Documenting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8FF43B21-4065-5DC9-E00D-DD7128E26E65}"/>
              </a:ext>
            </a:extLst>
          </p:cNvPr>
          <p:cNvSpPr/>
          <p:nvPr/>
        </p:nvSpPr>
        <p:spPr>
          <a:xfrm>
            <a:off x="830112" y="3065368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600" noProof="0" dirty="0">
                <a:solidFill>
                  <a:schemeClr val="tx1"/>
                </a:solidFill>
              </a:rPr>
              <a:t>The system should be available 100% of the time.</a:t>
            </a:r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CF3F599-25A8-A441-E8A9-57C269AA1344}"/>
              </a:ext>
            </a:extLst>
          </p:cNvPr>
          <p:cNvSpPr/>
          <p:nvPr/>
        </p:nvSpPr>
        <p:spPr>
          <a:xfrm>
            <a:off x="4628229" y="4689202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600" noProof="0" dirty="0">
                <a:solidFill>
                  <a:schemeClr val="tx1"/>
                </a:solidFill>
              </a:rPr>
              <a:t>No system can be available 100% of the time.</a:t>
            </a:r>
            <a:endParaRPr lang="en-US" sz="16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147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56FB6-6E70-1D08-C603-6AF0A6A00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CF58-4B9F-0BBC-0555-C0A18989E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Use Case: Modelling Information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30999-A612-8C58-3AA7-FD621104D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40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E" dirty="0"/>
              <a:t>Information particles about the same target may merge at a single information storage, potentially, producing conflicts.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59A17-C510-4C2A-6FCD-D744BB47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F486F-31E6-A43B-8769-94D5D4CA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A75599-5EAD-DBD9-355A-2D9C252E27D0}"/>
              </a:ext>
            </a:extLst>
          </p:cNvPr>
          <p:cNvGrpSpPr/>
          <p:nvPr/>
        </p:nvGrpSpPr>
        <p:grpSpPr>
          <a:xfrm>
            <a:off x="838198" y="3912838"/>
            <a:ext cx="2362200" cy="809626"/>
            <a:chOff x="1219200" y="2955926"/>
            <a:chExt cx="2362200" cy="8096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002DEDD-80FB-F0E7-FFDD-751E4871D86F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</a:p>
          </p:txBody>
        </p:sp>
        <p:pic>
          <p:nvPicPr>
            <p:cNvPr id="9" name="Graphic 8" descr="User with solid fill">
              <a:extLst>
                <a:ext uri="{FF2B5EF4-FFF2-40B4-BE49-F238E27FC236}">
                  <a16:creationId xmlns:a16="http://schemas.microsoft.com/office/drawing/2014/main" id="{6732EABE-1666-8863-F643-821EC52702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399721-ABF3-DE92-7DCE-C3B59DBF9D24}"/>
              </a:ext>
            </a:extLst>
          </p:cNvPr>
          <p:cNvGrpSpPr/>
          <p:nvPr/>
        </p:nvGrpSpPr>
        <p:grpSpPr>
          <a:xfrm>
            <a:off x="8991600" y="3912838"/>
            <a:ext cx="2362200" cy="809626"/>
            <a:chOff x="1219200" y="2955926"/>
            <a:chExt cx="2362200" cy="80962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BE1CE7A-4A47-6A11-CE6B-AF8534470613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Specification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Graphic 11" descr="Database with solid fill">
              <a:extLst>
                <a:ext uri="{FF2B5EF4-FFF2-40B4-BE49-F238E27FC236}">
                  <a16:creationId xmlns:a16="http://schemas.microsoft.com/office/drawing/2014/main" id="{06632F36-505F-A8DB-56E4-AB873AB6B9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EC3B80-1DC2-CA98-7275-AF5EC0FEC7A9}"/>
              </a:ext>
            </a:extLst>
          </p:cNvPr>
          <p:cNvGrpSpPr/>
          <p:nvPr/>
        </p:nvGrpSpPr>
        <p:grpSpPr>
          <a:xfrm>
            <a:off x="4914899" y="3912838"/>
            <a:ext cx="2362200" cy="809626"/>
            <a:chOff x="1219200" y="2955926"/>
            <a:chExt cx="2362200" cy="80962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AA3295D-78E1-B9B2-BD12-9F9242F14170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C11C5F5F-13AA-CEA6-4556-4052914F61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BF8074-CFE5-4C29-9689-A490DCC76F18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>
            <a:off x="7277099" y="4317651"/>
            <a:ext cx="17145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6">
            <a:extLst>
              <a:ext uri="{FF2B5EF4-FFF2-40B4-BE49-F238E27FC236}">
                <a16:creationId xmlns:a16="http://schemas.microsoft.com/office/drawing/2014/main" id="{CCC1063A-DC31-0D0C-0F7B-B91E0FA9CD4E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3200398" y="4317651"/>
            <a:ext cx="17145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B862B2-7CBA-FCC5-6BD8-B15393228F80}"/>
              </a:ext>
            </a:extLst>
          </p:cNvPr>
          <p:cNvGrpSpPr/>
          <p:nvPr/>
        </p:nvGrpSpPr>
        <p:grpSpPr>
          <a:xfrm>
            <a:off x="3372396" y="3954319"/>
            <a:ext cx="1370505" cy="307777"/>
            <a:chOff x="1124335" y="3039701"/>
            <a:chExt cx="1370505" cy="307777"/>
          </a:xfrm>
        </p:grpSpPr>
        <p:pic>
          <p:nvPicPr>
            <p:cNvPr id="19" name="Graphic 18" descr="Chat with solid fill">
              <a:extLst>
                <a:ext uri="{FF2B5EF4-FFF2-40B4-BE49-F238E27FC236}">
                  <a16:creationId xmlns:a16="http://schemas.microsoft.com/office/drawing/2014/main" id="{1B93E049-6964-713D-10BC-F7AF089CA5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4335" y="3054350"/>
              <a:ext cx="288000" cy="2880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C535BC-620D-2675-3D1C-C1C3C2E2905E}"/>
                </a:ext>
              </a:extLst>
            </p:cNvPr>
            <p:cNvSpPr txBox="1"/>
            <p:nvPr/>
          </p:nvSpPr>
          <p:spPr>
            <a:xfrm>
              <a:off x="1372417" y="3039701"/>
              <a:ext cx="11224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400" dirty="0"/>
                <a:t>Interviewing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4DD07A9-9E0A-15B1-19C6-F7F8FF8A9F88}"/>
              </a:ext>
            </a:extLst>
          </p:cNvPr>
          <p:cNvGrpSpPr/>
          <p:nvPr/>
        </p:nvGrpSpPr>
        <p:grpSpPr>
          <a:xfrm>
            <a:off x="7371429" y="3954320"/>
            <a:ext cx="1525839" cy="307777"/>
            <a:chOff x="1270198" y="3085684"/>
            <a:chExt cx="1525839" cy="307777"/>
          </a:xfrm>
        </p:grpSpPr>
        <p:pic>
          <p:nvPicPr>
            <p:cNvPr id="22" name="Graphic 21" descr="Pen with solid fill">
              <a:extLst>
                <a:ext uri="{FF2B5EF4-FFF2-40B4-BE49-F238E27FC236}">
                  <a16:creationId xmlns:a16="http://schemas.microsoft.com/office/drawing/2014/main" id="{FFA8F373-5FB8-AF89-AA16-815094C4F7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270198" y="3085684"/>
              <a:ext cx="288000" cy="288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2A5110-15EF-0DC2-7236-FCB6F6AFE5BE}"/>
                </a:ext>
              </a:extLst>
            </p:cNvPr>
            <p:cNvSpPr txBox="1"/>
            <p:nvPr/>
          </p:nvSpPr>
          <p:spPr>
            <a:xfrm>
              <a:off x="1558198" y="3085684"/>
              <a:ext cx="1237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400" dirty="0"/>
                <a:t>Documenting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221EF62B-E4C6-0D52-08B8-74032B3C9939}"/>
              </a:ext>
            </a:extLst>
          </p:cNvPr>
          <p:cNvSpPr/>
          <p:nvPr/>
        </p:nvSpPr>
        <p:spPr>
          <a:xfrm>
            <a:off x="5152465" y="3026805"/>
            <a:ext cx="2743200" cy="914400"/>
          </a:xfrm>
          <a:prstGeom prst="ellipse">
            <a:avLst/>
          </a:prstGeom>
          <a:solidFill>
            <a:srgbClr val="F0A6A2"/>
          </a:solidFill>
          <a:ln>
            <a:solidFill>
              <a:srgbClr val="D42C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600" noProof="0" dirty="0">
                <a:solidFill>
                  <a:schemeClr val="tx1"/>
                </a:solidFill>
              </a:rPr>
              <a:t>The system should be available 100% of the time.</a:t>
            </a:r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BAEE98-BD8F-5B0C-A826-34443B02EAF5}"/>
              </a:ext>
            </a:extLst>
          </p:cNvPr>
          <p:cNvSpPr/>
          <p:nvPr/>
        </p:nvSpPr>
        <p:spPr>
          <a:xfrm>
            <a:off x="4628229" y="4689202"/>
            <a:ext cx="2743200" cy="914400"/>
          </a:xfrm>
          <a:prstGeom prst="ellipse">
            <a:avLst/>
          </a:prstGeom>
          <a:solidFill>
            <a:srgbClr val="F0A6A2"/>
          </a:solidFill>
          <a:ln>
            <a:solidFill>
              <a:srgbClr val="D42C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600" noProof="0" dirty="0">
                <a:solidFill>
                  <a:schemeClr val="tx1"/>
                </a:solidFill>
              </a:rPr>
              <a:t>No system can be available 100% of the time.</a:t>
            </a:r>
            <a:endParaRPr lang="en-US" sz="1600" noProof="0" dirty="0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D4404F2-ABAC-2917-345A-654E5DB1DE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5283" y="-765833"/>
            <a:ext cx="5867908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15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C9526-DBED-4B32-211B-6C44B3A4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2D1A-3F5D-8AAA-807E-8EBE59BF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Use Case: Modelling Information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940FA-6A55-6CD0-D14B-DD96D5A03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7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E" dirty="0"/>
              <a:t>Information particles about the same target may merge at a single information storage, potentially, producing conflicts.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B2EC-5D75-999A-0F84-B7522B89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93792-24EF-37F5-0E1E-48C29726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F2DE20-935A-77C3-C808-6CE87E3B66DD}"/>
              </a:ext>
            </a:extLst>
          </p:cNvPr>
          <p:cNvGrpSpPr/>
          <p:nvPr/>
        </p:nvGrpSpPr>
        <p:grpSpPr>
          <a:xfrm>
            <a:off x="838198" y="3912838"/>
            <a:ext cx="2362200" cy="809626"/>
            <a:chOff x="1219200" y="2955926"/>
            <a:chExt cx="2362200" cy="8096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402CBA5-2535-225C-F2EF-683AED13BC2C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</a:p>
          </p:txBody>
        </p:sp>
        <p:pic>
          <p:nvPicPr>
            <p:cNvPr id="9" name="Graphic 8" descr="User with solid fill">
              <a:extLst>
                <a:ext uri="{FF2B5EF4-FFF2-40B4-BE49-F238E27FC236}">
                  <a16:creationId xmlns:a16="http://schemas.microsoft.com/office/drawing/2014/main" id="{12A3FD85-4C53-C9A7-E0F1-CB9E387D6E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C8A9FC-0C22-C643-8D53-17DFDD536018}"/>
              </a:ext>
            </a:extLst>
          </p:cNvPr>
          <p:cNvGrpSpPr/>
          <p:nvPr/>
        </p:nvGrpSpPr>
        <p:grpSpPr>
          <a:xfrm>
            <a:off x="8991600" y="3912838"/>
            <a:ext cx="2362200" cy="809626"/>
            <a:chOff x="1219200" y="2955926"/>
            <a:chExt cx="2362200" cy="80962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04E07A8-9757-DBD2-0661-E6FF889041A9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Specification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Graphic 11" descr="Database with solid fill">
              <a:extLst>
                <a:ext uri="{FF2B5EF4-FFF2-40B4-BE49-F238E27FC236}">
                  <a16:creationId xmlns:a16="http://schemas.microsoft.com/office/drawing/2014/main" id="{4AA9150F-8477-5291-69D1-58E3B23A58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C19418-DFC2-C5FC-609B-C7C0B1912BE5}"/>
              </a:ext>
            </a:extLst>
          </p:cNvPr>
          <p:cNvGrpSpPr/>
          <p:nvPr/>
        </p:nvGrpSpPr>
        <p:grpSpPr>
          <a:xfrm>
            <a:off x="4914899" y="3912838"/>
            <a:ext cx="2362200" cy="809626"/>
            <a:chOff x="1219200" y="2955926"/>
            <a:chExt cx="2362200" cy="80962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B475DCD-5BDF-FB06-CFCE-1DCA39369112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1E1C1535-7CCF-EC37-0749-5B85AFEC2E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47FBC1-6203-0A9B-945E-BA28125B75D5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>
            <a:off x="7277099" y="4317651"/>
            <a:ext cx="17145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6">
            <a:extLst>
              <a:ext uri="{FF2B5EF4-FFF2-40B4-BE49-F238E27FC236}">
                <a16:creationId xmlns:a16="http://schemas.microsoft.com/office/drawing/2014/main" id="{7D1C6297-EFBE-74D6-3D04-C9269808E7B5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3200398" y="4317651"/>
            <a:ext cx="17145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40CC13-80BE-2B06-A4F6-6D30B6A91866}"/>
              </a:ext>
            </a:extLst>
          </p:cNvPr>
          <p:cNvGrpSpPr/>
          <p:nvPr/>
        </p:nvGrpSpPr>
        <p:grpSpPr>
          <a:xfrm>
            <a:off x="3372396" y="3954319"/>
            <a:ext cx="1370505" cy="307777"/>
            <a:chOff x="1124335" y="3039701"/>
            <a:chExt cx="1370505" cy="307777"/>
          </a:xfrm>
        </p:grpSpPr>
        <p:pic>
          <p:nvPicPr>
            <p:cNvPr id="19" name="Graphic 18" descr="Chat with solid fill">
              <a:extLst>
                <a:ext uri="{FF2B5EF4-FFF2-40B4-BE49-F238E27FC236}">
                  <a16:creationId xmlns:a16="http://schemas.microsoft.com/office/drawing/2014/main" id="{8CD99C4B-20F2-C715-AB3C-54FD27AC22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4335" y="3054350"/>
              <a:ext cx="288000" cy="2880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2BD2DE-084D-8AC4-5680-5CE8ABF635EB}"/>
                </a:ext>
              </a:extLst>
            </p:cNvPr>
            <p:cNvSpPr txBox="1"/>
            <p:nvPr/>
          </p:nvSpPr>
          <p:spPr>
            <a:xfrm>
              <a:off x="1372417" y="3039701"/>
              <a:ext cx="11224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400" dirty="0"/>
                <a:t>Interviewing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A69CD5-CA30-63A3-9FEE-F1711CC29357}"/>
              </a:ext>
            </a:extLst>
          </p:cNvPr>
          <p:cNvGrpSpPr/>
          <p:nvPr/>
        </p:nvGrpSpPr>
        <p:grpSpPr>
          <a:xfrm>
            <a:off x="7371429" y="3954320"/>
            <a:ext cx="1525839" cy="307777"/>
            <a:chOff x="1270198" y="3085684"/>
            <a:chExt cx="1525839" cy="307777"/>
          </a:xfrm>
        </p:grpSpPr>
        <p:pic>
          <p:nvPicPr>
            <p:cNvPr id="22" name="Graphic 21" descr="Pen with solid fill">
              <a:extLst>
                <a:ext uri="{FF2B5EF4-FFF2-40B4-BE49-F238E27FC236}">
                  <a16:creationId xmlns:a16="http://schemas.microsoft.com/office/drawing/2014/main" id="{74954BDD-2CB3-E104-BDD5-8515BA761E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270198" y="3085684"/>
              <a:ext cx="288000" cy="288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EA96D12-99BD-9846-0BFF-3B710D9E4A8F}"/>
                </a:ext>
              </a:extLst>
            </p:cNvPr>
            <p:cNvSpPr txBox="1"/>
            <p:nvPr/>
          </p:nvSpPr>
          <p:spPr>
            <a:xfrm>
              <a:off x="1558198" y="3085684"/>
              <a:ext cx="1237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400" dirty="0"/>
                <a:t>Documenting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90C9DBBE-CC46-7722-9C40-A8FC306AF685}"/>
              </a:ext>
            </a:extLst>
          </p:cNvPr>
          <p:cNvSpPr/>
          <p:nvPr/>
        </p:nvSpPr>
        <p:spPr>
          <a:xfrm>
            <a:off x="5152465" y="3029253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600" noProof="0" dirty="0">
                <a:solidFill>
                  <a:schemeClr val="tx1"/>
                </a:solidFill>
              </a:rPr>
              <a:t>The system should be available 99.5% of the time.</a:t>
            </a:r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5AE8F40-CFF2-C599-D931-32EAB305E5F5}"/>
              </a:ext>
            </a:extLst>
          </p:cNvPr>
          <p:cNvSpPr/>
          <p:nvPr/>
        </p:nvSpPr>
        <p:spPr>
          <a:xfrm>
            <a:off x="4628229" y="4689202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600" noProof="0" dirty="0">
                <a:solidFill>
                  <a:schemeClr val="tx1"/>
                </a:solidFill>
              </a:rPr>
              <a:t>No system can be available 100% of the time.</a:t>
            </a:r>
            <a:endParaRPr lang="en-US" sz="1600" noProof="0" dirty="0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D75A659-AEFF-111D-F0FB-FCF58B59C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5283" y="-765833"/>
            <a:ext cx="5867908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2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33333E-6 L 0.30299 -3.33333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C92B-A52D-B4FB-2354-50B3B0C5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856A3-5A62-0198-684F-51B5CE5D5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8734A7-3899-B245-88A2-A0E2FAB64F87}"/>
              </a:ext>
            </a:extLst>
          </p:cNvPr>
          <p:cNvGrpSpPr/>
          <p:nvPr/>
        </p:nvGrpSpPr>
        <p:grpSpPr>
          <a:xfrm>
            <a:off x="1928446" y="1855656"/>
            <a:ext cx="2705596" cy="929704"/>
            <a:chOff x="2209800" y="1986659"/>
            <a:chExt cx="2705596" cy="9297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E0573A-F232-6519-7E89-D30E28928C44}"/>
                </a:ext>
              </a:extLst>
            </p:cNvPr>
            <p:cNvGrpSpPr/>
            <p:nvPr/>
          </p:nvGrpSpPr>
          <p:grpSpPr>
            <a:xfrm>
              <a:off x="3907211" y="1986659"/>
              <a:ext cx="1008185" cy="569302"/>
              <a:chOff x="1219200" y="2955926"/>
              <a:chExt cx="1008185" cy="56930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9220273-8D2C-788B-05CA-B5D9F6566E5B}"/>
                  </a:ext>
                </a:extLst>
              </p:cNvPr>
              <p:cNvSpPr/>
              <p:nvPr/>
            </p:nvSpPr>
            <p:spPr>
              <a:xfrm>
                <a:off x="1219200" y="2955926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8" name="Graphic 7" descr="Database with solid fill">
                <a:extLst>
                  <a:ext uri="{FF2B5EF4-FFF2-40B4-BE49-F238E27FC236}">
                    <a16:creationId xmlns:a16="http://schemas.microsoft.com/office/drawing/2014/main" id="{0DFF8BB0-6A2F-4385-2292-B7FD9F3AC9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CA583B1-3CE1-C4A5-35D2-8A269A205666}"/>
                </a:ext>
              </a:extLst>
            </p:cNvPr>
            <p:cNvGrpSpPr/>
            <p:nvPr/>
          </p:nvGrpSpPr>
          <p:grpSpPr>
            <a:xfrm>
              <a:off x="2209800" y="1989791"/>
              <a:ext cx="1008185" cy="569302"/>
              <a:chOff x="1201615" y="2935941"/>
              <a:chExt cx="1008185" cy="569302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DB8A718-ED3F-A092-D065-E8FE04342708}"/>
                  </a:ext>
                </a:extLst>
              </p:cNvPr>
              <p:cNvSpPr/>
              <p:nvPr/>
            </p:nvSpPr>
            <p:spPr>
              <a:xfrm>
                <a:off x="1201615" y="2935941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1" name="Graphic 10" descr="User with solid fill">
                <a:extLst>
                  <a:ext uri="{FF2B5EF4-FFF2-40B4-BE49-F238E27FC236}">
                    <a16:creationId xmlns:a16="http://schemas.microsoft.com/office/drawing/2014/main" id="{B13EA14C-A2A1-1840-9355-A3F33EC7A2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DCC468-73EE-91C6-6098-8916F757AB09}"/>
                </a:ext>
              </a:extLst>
            </p:cNvPr>
            <p:cNvSpPr/>
            <p:nvPr/>
          </p:nvSpPr>
          <p:spPr>
            <a:xfrm>
              <a:off x="2576735" y="2483343"/>
              <a:ext cx="746850" cy="43302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04F0275-C6DB-5832-1F4B-E1FF72209362}"/>
                </a:ext>
              </a:extLst>
            </p:cNvPr>
            <p:cNvCxnSpPr>
              <a:cxnSpLocks/>
              <a:stCxn id="10" idx="3"/>
              <a:endCxn id="7" idx="1"/>
            </p:cNvCxnSpPr>
            <p:nvPr/>
          </p:nvCxnSpPr>
          <p:spPr>
            <a:xfrm flipV="1">
              <a:off x="3217985" y="2271310"/>
              <a:ext cx="689226" cy="3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A248CEB-C1AB-449E-D52C-BBA0E6063936}"/>
              </a:ext>
            </a:extLst>
          </p:cNvPr>
          <p:cNvSpPr txBox="1"/>
          <p:nvPr/>
        </p:nvSpPr>
        <p:spPr>
          <a:xfrm>
            <a:off x="1487613" y="2819326"/>
            <a:ext cx="3587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000" b="1" dirty="0"/>
              <a:t>Information as discrete, concrete particles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6EA5FA2-0665-BC2C-9888-23DFAC3A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2181"/>
            <a:ext cx="4835769" cy="1651715"/>
          </a:xfrm>
        </p:spPr>
        <p:txBody>
          <a:bodyPr>
            <a:normAutofit/>
          </a:bodyPr>
          <a:lstStyle/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High granularity and specificity</a:t>
            </a:r>
          </a:p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Directly empirically grounded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en-SE" sz="2000" dirty="0"/>
              <a:t>Only retrospective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de-DE" sz="2000" dirty="0"/>
              <a:t>L</a:t>
            </a:r>
            <a:r>
              <a:rPr lang="en-SE" sz="2000" dirty="0"/>
              <a:t>ow generalizability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4212C40-259C-E554-C09A-840138B6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C18CE7-0A54-0E75-4B73-115339B99185}"/>
              </a:ext>
            </a:extLst>
          </p:cNvPr>
          <p:cNvSpPr txBox="1"/>
          <p:nvPr/>
        </p:nvSpPr>
        <p:spPr>
          <a:xfrm>
            <a:off x="838198" y="5342292"/>
            <a:ext cx="48357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Useful for retrospective analyses (e.g., identifying bottlenecks)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Models requirements semantically</a:t>
            </a:r>
          </a:p>
        </p:txBody>
      </p:sp>
    </p:spTree>
    <p:extLst>
      <p:ext uri="{BB962C8B-B14F-4D97-AF65-F5344CB8AC3E}">
        <p14:creationId xmlns:p14="http://schemas.microsoft.com/office/powerpoint/2010/main" val="823545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8AC2-E9E3-43EE-3C4C-77F3A6D0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From Description to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33320-EBB2-78BC-2E78-C2B40E734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071954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Modelling several RE contexts with discrete particles would allow us to abstract certain properties from 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72FD4-E535-7F43-AAF9-0D870171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FAC3B-C3C8-816D-8146-ABFC8F408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23F429F-1ABD-4176-6B7A-DDAA36C7D129}"/>
              </a:ext>
            </a:extLst>
          </p:cNvPr>
          <p:cNvGrpSpPr/>
          <p:nvPr/>
        </p:nvGrpSpPr>
        <p:grpSpPr>
          <a:xfrm>
            <a:off x="838198" y="4136874"/>
            <a:ext cx="2917355" cy="818348"/>
            <a:chOff x="664045" y="3555535"/>
            <a:chExt cx="2917355" cy="81834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2EDB4CD-F801-7F77-9279-624F7D0A4114}"/>
                </a:ext>
              </a:extLst>
            </p:cNvPr>
            <p:cNvGrpSpPr/>
            <p:nvPr/>
          </p:nvGrpSpPr>
          <p:grpSpPr>
            <a:xfrm>
              <a:off x="2573215" y="3555535"/>
              <a:ext cx="1008185" cy="569302"/>
              <a:chOff x="1219200" y="2955926"/>
              <a:chExt cx="1008185" cy="569302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9A207AF0-8688-0564-5792-77D2CAF78342}"/>
                  </a:ext>
                </a:extLst>
              </p:cNvPr>
              <p:cNvSpPr/>
              <p:nvPr/>
            </p:nvSpPr>
            <p:spPr>
              <a:xfrm>
                <a:off x="1219200" y="2955926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33" name="Graphic 32" descr="User with solid fill">
                <a:extLst>
                  <a:ext uri="{FF2B5EF4-FFF2-40B4-BE49-F238E27FC236}">
                    <a16:creationId xmlns:a16="http://schemas.microsoft.com/office/drawing/2014/main" id="{8904441C-AF00-3B7A-F70F-D249E9C9C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A395B7C-70AB-8825-B80C-F5CBF9C1FD9F}"/>
                </a:ext>
              </a:extLst>
            </p:cNvPr>
            <p:cNvGrpSpPr/>
            <p:nvPr/>
          </p:nvGrpSpPr>
          <p:grpSpPr>
            <a:xfrm>
              <a:off x="875804" y="3558667"/>
              <a:ext cx="1008185" cy="569302"/>
              <a:chOff x="1201615" y="2935941"/>
              <a:chExt cx="1008185" cy="569302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272EF495-161A-A780-BEA8-8E01088FBDCC}"/>
                  </a:ext>
                </a:extLst>
              </p:cNvPr>
              <p:cNvSpPr/>
              <p:nvPr/>
            </p:nvSpPr>
            <p:spPr>
              <a:xfrm>
                <a:off x="1201615" y="2935941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31" name="Graphic 30" descr="User with solid fill">
                <a:extLst>
                  <a:ext uri="{FF2B5EF4-FFF2-40B4-BE49-F238E27FC236}">
                    <a16:creationId xmlns:a16="http://schemas.microsoft.com/office/drawing/2014/main" id="{0B95AFA0-1004-389B-9E69-73D198FFF2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A48C944-6481-F24D-C04F-773F736BA02C}"/>
                </a:ext>
              </a:extLst>
            </p:cNvPr>
            <p:cNvSpPr/>
            <p:nvPr/>
          </p:nvSpPr>
          <p:spPr>
            <a:xfrm>
              <a:off x="664045" y="3899537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99F6793-7290-7E22-B5F1-CEBF9E14F5E2}"/>
                </a:ext>
              </a:extLst>
            </p:cNvPr>
            <p:cNvCxnSpPr>
              <a:cxnSpLocks/>
              <a:stCxn id="30" idx="3"/>
              <a:endCxn id="32" idx="1"/>
            </p:cNvCxnSpPr>
            <p:nvPr/>
          </p:nvCxnSpPr>
          <p:spPr>
            <a:xfrm flipV="1">
              <a:off x="1883989" y="3840186"/>
              <a:ext cx="689226" cy="3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AA3043-A1DD-E6D3-7DE7-75E55F1699FC}"/>
                </a:ext>
              </a:extLst>
            </p:cNvPr>
            <p:cNvSpPr/>
            <p:nvPr/>
          </p:nvSpPr>
          <p:spPr>
            <a:xfrm>
              <a:off x="837457" y="4095720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853E850-3869-381E-DE55-5DBF6EB453AB}"/>
                </a:ext>
              </a:extLst>
            </p:cNvPr>
            <p:cNvSpPr/>
            <p:nvPr/>
          </p:nvSpPr>
          <p:spPr>
            <a:xfrm>
              <a:off x="1134739" y="4157883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6AF9004-936C-1FF3-5DF1-344AD3D75D3E}"/>
                </a:ext>
              </a:extLst>
            </p:cNvPr>
            <p:cNvSpPr/>
            <p:nvPr/>
          </p:nvSpPr>
          <p:spPr>
            <a:xfrm>
              <a:off x="1432021" y="4124837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pic>
          <p:nvPicPr>
            <p:cNvPr id="41" name="Graphic 40" descr="Chat with solid fill">
              <a:extLst>
                <a:ext uri="{FF2B5EF4-FFF2-40B4-BE49-F238E27FC236}">
                  <a16:creationId xmlns:a16="http://schemas.microsoft.com/office/drawing/2014/main" id="{DF6E3F1B-7B5A-4ABF-BC3F-A40A133CB0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65800" y="3578583"/>
              <a:ext cx="288000" cy="2880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7CD10AF-4B60-396C-F759-0724F7F0C7BA}"/>
              </a:ext>
            </a:extLst>
          </p:cNvPr>
          <p:cNvGrpSpPr/>
          <p:nvPr/>
        </p:nvGrpSpPr>
        <p:grpSpPr>
          <a:xfrm>
            <a:off x="6459786" y="4136874"/>
            <a:ext cx="1008185" cy="569302"/>
            <a:chOff x="1219200" y="2955926"/>
            <a:chExt cx="1008185" cy="569302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12723CFB-EFC2-4AE2-8AFD-B3D582EEAE1A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BAD32215-DF48-7274-C37A-61B2136D73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E53B820-F473-239E-717A-9ACB75194DDA}"/>
              </a:ext>
            </a:extLst>
          </p:cNvPr>
          <p:cNvGrpSpPr/>
          <p:nvPr/>
        </p:nvGrpSpPr>
        <p:grpSpPr>
          <a:xfrm>
            <a:off x="4762375" y="4140006"/>
            <a:ext cx="1008185" cy="569302"/>
            <a:chOff x="1201615" y="2935941"/>
            <a:chExt cx="1008185" cy="569302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D9598E7A-7D57-06C6-90AF-EAB36BF83599}"/>
                </a:ext>
              </a:extLst>
            </p:cNvPr>
            <p:cNvSpPr/>
            <p:nvPr/>
          </p:nvSpPr>
          <p:spPr>
            <a:xfrm>
              <a:off x="1201615" y="2935941"/>
              <a:ext cx="1008185" cy="56930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4E6C089B-C113-5CB7-CAF6-D1AC160C2A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E5D4F250-B1F6-B20C-2F25-0CB7421B83A4}"/>
              </a:ext>
            </a:extLst>
          </p:cNvPr>
          <p:cNvSpPr/>
          <p:nvPr/>
        </p:nvSpPr>
        <p:spPr>
          <a:xfrm>
            <a:off x="4550616" y="4480876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D7C7D48-1EC2-ED8D-8653-5356647F4485}"/>
              </a:ext>
            </a:extLst>
          </p:cNvPr>
          <p:cNvCxnSpPr>
            <a:cxnSpLocks/>
            <a:stCxn id="52" idx="3"/>
            <a:endCxn id="54" idx="1"/>
          </p:cNvCxnSpPr>
          <p:nvPr/>
        </p:nvCxnSpPr>
        <p:spPr>
          <a:xfrm flipV="1">
            <a:off x="5770560" y="4421525"/>
            <a:ext cx="689226" cy="3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DC66404C-A31C-F4EC-D255-EFBCD38AF435}"/>
              </a:ext>
            </a:extLst>
          </p:cNvPr>
          <p:cNvSpPr/>
          <p:nvPr/>
        </p:nvSpPr>
        <p:spPr>
          <a:xfrm>
            <a:off x="4724028" y="4677059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58A6BC5-3ACD-F2EB-8D09-872F03D94EFA}"/>
              </a:ext>
            </a:extLst>
          </p:cNvPr>
          <p:cNvSpPr/>
          <p:nvPr/>
        </p:nvSpPr>
        <p:spPr>
          <a:xfrm>
            <a:off x="5021310" y="4739222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pic>
        <p:nvPicPr>
          <p:cNvPr id="51" name="Graphic 50" descr="Chat with solid fill">
            <a:extLst>
              <a:ext uri="{FF2B5EF4-FFF2-40B4-BE49-F238E27FC236}">
                <a16:creationId xmlns:a16="http://schemas.microsoft.com/office/drawing/2014/main" id="{7F62DDF3-C6DC-BE52-57DB-905408635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2371" y="4159922"/>
            <a:ext cx="288000" cy="2880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934197FE-F150-8162-3EA2-CBE41DB0873E}"/>
              </a:ext>
            </a:extLst>
          </p:cNvPr>
          <p:cNvGrpSpPr/>
          <p:nvPr/>
        </p:nvGrpSpPr>
        <p:grpSpPr>
          <a:xfrm>
            <a:off x="10172205" y="4136874"/>
            <a:ext cx="1008185" cy="569302"/>
            <a:chOff x="1219200" y="2955926"/>
            <a:chExt cx="1008185" cy="569302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E90ADB7A-5335-8A68-528A-A616F6C011D1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8" name="Graphic 67" descr="User with solid fill">
              <a:extLst>
                <a:ext uri="{FF2B5EF4-FFF2-40B4-BE49-F238E27FC236}">
                  <a16:creationId xmlns:a16="http://schemas.microsoft.com/office/drawing/2014/main" id="{9AF4CC00-C498-3552-D2DF-39314A8D7E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7B6109C-4C3B-A0B2-9655-F752A89D20E3}"/>
              </a:ext>
            </a:extLst>
          </p:cNvPr>
          <p:cNvGrpSpPr/>
          <p:nvPr/>
        </p:nvGrpSpPr>
        <p:grpSpPr>
          <a:xfrm>
            <a:off x="8474794" y="4140006"/>
            <a:ext cx="1008185" cy="569302"/>
            <a:chOff x="1201615" y="2935941"/>
            <a:chExt cx="1008185" cy="569302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47DB9DD3-D816-C258-60A1-8A58F6C3E92B}"/>
                </a:ext>
              </a:extLst>
            </p:cNvPr>
            <p:cNvSpPr/>
            <p:nvPr/>
          </p:nvSpPr>
          <p:spPr>
            <a:xfrm>
              <a:off x="1201615" y="2935941"/>
              <a:ext cx="1008185" cy="56930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6" name="Graphic 65" descr="User with solid fill">
              <a:extLst>
                <a:ext uri="{FF2B5EF4-FFF2-40B4-BE49-F238E27FC236}">
                  <a16:creationId xmlns:a16="http://schemas.microsoft.com/office/drawing/2014/main" id="{28F0F3F5-77C9-D42B-F9CF-928C9597A6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484A4FDC-9376-EC8D-70ED-417F6B382151}"/>
              </a:ext>
            </a:extLst>
          </p:cNvPr>
          <p:cNvSpPr/>
          <p:nvPr/>
        </p:nvSpPr>
        <p:spPr>
          <a:xfrm>
            <a:off x="8263035" y="4480876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82C3AFD-1FE5-249A-C3AA-02E74D1AF6C7}"/>
              </a:ext>
            </a:extLst>
          </p:cNvPr>
          <p:cNvCxnSpPr>
            <a:cxnSpLocks/>
            <a:stCxn id="65" idx="3"/>
            <a:endCxn id="67" idx="1"/>
          </p:cNvCxnSpPr>
          <p:nvPr/>
        </p:nvCxnSpPr>
        <p:spPr>
          <a:xfrm flipV="1">
            <a:off x="9482979" y="4421525"/>
            <a:ext cx="689226" cy="3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B890EA49-0175-20F5-D818-06D7B4E02303}"/>
              </a:ext>
            </a:extLst>
          </p:cNvPr>
          <p:cNvSpPr/>
          <p:nvPr/>
        </p:nvSpPr>
        <p:spPr>
          <a:xfrm>
            <a:off x="8436447" y="4677059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D5BD3CC-6DD9-C28E-8C86-B614A87E1839}"/>
              </a:ext>
            </a:extLst>
          </p:cNvPr>
          <p:cNvSpPr/>
          <p:nvPr/>
        </p:nvSpPr>
        <p:spPr>
          <a:xfrm>
            <a:off x="8733729" y="4739222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0161FE0-4262-369F-8C1A-DD34A926BFB7}"/>
              </a:ext>
            </a:extLst>
          </p:cNvPr>
          <p:cNvSpPr/>
          <p:nvPr/>
        </p:nvSpPr>
        <p:spPr>
          <a:xfrm>
            <a:off x="9031011" y="4706176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pic>
        <p:nvPicPr>
          <p:cNvPr id="64" name="Graphic 63" descr="Chat with solid fill">
            <a:extLst>
              <a:ext uri="{FF2B5EF4-FFF2-40B4-BE49-F238E27FC236}">
                <a16:creationId xmlns:a16="http://schemas.microsoft.com/office/drawing/2014/main" id="{96B175D8-4817-64C3-C44A-08C5162F10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4790" y="4159922"/>
            <a:ext cx="288000" cy="288000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85F41323-9757-FF06-9C96-816141A289E0}"/>
              </a:ext>
            </a:extLst>
          </p:cNvPr>
          <p:cNvGrpSpPr/>
          <p:nvPr/>
        </p:nvGrpSpPr>
        <p:grpSpPr>
          <a:xfrm>
            <a:off x="6459785" y="3187613"/>
            <a:ext cx="1008185" cy="569302"/>
            <a:chOff x="1219200" y="2955926"/>
            <a:chExt cx="1008185" cy="569302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534C863-3D9D-9A8A-356D-8BB9BD6AC018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rgbClr val="E1D5FF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1" name="Graphic 70" descr="User with solid fill">
              <a:extLst>
                <a:ext uri="{FF2B5EF4-FFF2-40B4-BE49-F238E27FC236}">
                  <a16:creationId xmlns:a16="http://schemas.microsoft.com/office/drawing/2014/main" id="{63AED921-0F57-AA15-4725-4C376C5603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2820F30-FDA4-1D35-08E4-FB0ADB411C81}"/>
              </a:ext>
            </a:extLst>
          </p:cNvPr>
          <p:cNvCxnSpPr>
            <a:cxnSpLocks/>
            <a:stCxn id="70" idx="2"/>
            <a:endCxn id="54" idx="0"/>
          </p:cNvCxnSpPr>
          <p:nvPr/>
        </p:nvCxnSpPr>
        <p:spPr>
          <a:xfrm>
            <a:off x="6963878" y="3756915"/>
            <a:ext cx="1" cy="379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6" name="Graphic 75" descr="Chat with solid fill">
            <a:extLst>
              <a:ext uri="{FF2B5EF4-FFF2-40B4-BE49-F238E27FC236}">
                <a16:creationId xmlns:a16="http://schemas.microsoft.com/office/drawing/2014/main" id="{BD180BBD-57C0-6A9F-2786-8A1858A37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3999" y="3801220"/>
            <a:ext cx="288000" cy="288000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79B956A1-4393-DE59-A1BF-84D2B97FAA71}"/>
              </a:ext>
            </a:extLst>
          </p:cNvPr>
          <p:cNvGrpSpPr/>
          <p:nvPr/>
        </p:nvGrpSpPr>
        <p:grpSpPr>
          <a:xfrm>
            <a:off x="10172205" y="3175418"/>
            <a:ext cx="1008185" cy="569302"/>
            <a:chOff x="1219200" y="2955926"/>
            <a:chExt cx="1008185" cy="569302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55410B0A-A55F-21B8-940C-2BA394893EEB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rgbClr val="E1D5FF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9" name="Graphic 78" descr="Database with solid fill">
              <a:extLst>
                <a:ext uri="{FF2B5EF4-FFF2-40B4-BE49-F238E27FC236}">
                  <a16:creationId xmlns:a16="http://schemas.microsoft.com/office/drawing/2014/main" id="{47C2C9B8-6DEF-6017-7956-942B931CF4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F2EB2B0-2A0D-65CA-3663-3AD4D22010D2}"/>
              </a:ext>
            </a:extLst>
          </p:cNvPr>
          <p:cNvCxnSpPr>
            <a:cxnSpLocks/>
            <a:stCxn id="78" idx="2"/>
            <a:endCxn id="67" idx="0"/>
          </p:cNvCxnSpPr>
          <p:nvPr/>
        </p:nvCxnSpPr>
        <p:spPr>
          <a:xfrm>
            <a:off x="10676298" y="3744720"/>
            <a:ext cx="0" cy="39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1" name="Graphic 80" descr="Open envelope with solid fill">
            <a:extLst>
              <a:ext uri="{FF2B5EF4-FFF2-40B4-BE49-F238E27FC236}">
                <a16:creationId xmlns:a16="http://schemas.microsoft.com/office/drawing/2014/main" id="{D3FA9D9A-2D17-531B-73F6-5C2A3CD578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757591" y="3789025"/>
            <a:ext cx="288000" cy="288000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A6599F59-8AB2-6B66-91C2-9A1E386CC196}"/>
              </a:ext>
            </a:extLst>
          </p:cNvPr>
          <p:cNvSpPr/>
          <p:nvPr/>
        </p:nvSpPr>
        <p:spPr>
          <a:xfrm>
            <a:off x="6549662" y="3673451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316341A-8A2B-3C85-BB15-9553ED52D316}"/>
              </a:ext>
            </a:extLst>
          </p:cNvPr>
          <p:cNvSpPr/>
          <p:nvPr/>
        </p:nvSpPr>
        <p:spPr>
          <a:xfrm>
            <a:off x="10275652" y="3717025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C2A4DB0-2B38-B3D9-7D6C-60513C7D6D38}"/>
              </a:ext>
            </a:extLst>
          </p:cNvPr>
          <p:cNvSpPr/>
          <p:nvPr/>
        </p:nvSpPr>
        <p:spPr>
          <a:xfrm>
            <a:off x="9998795" y="3619135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958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91E9F-8DCE-3E84-1C0E-4AFE3301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0309-D196-D9D9-FE25-D7B48A6B2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From Description to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2A372-D90C-7D9E-9534-E5B77939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071954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Modelling several RE contexts with discrete particles would allow us to abstract certain properties from 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F4A6B-A589-2767-2CE4-F9A4B2B5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DD740-75BE-CC14-9277-A0C747C4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4F6280C-53B8-037C-741F-66A22C2607C2}"/>
              </a:ext>
            </a:extLst>
          </p:cNvPr>
          <p:cNvGrpSpPr/>
          <p:nvPr/>
        </p:nvGrpSpPr>
        <p:grpSpPr>
          <a:xfrm>
            <a:off x="838198" y="3661859"/>
            <a:ext cx="2917355" cy="818348"/>
            <a:chOff x="664045" y="3555535"/>
            <a:chExt cx="2917355" cy="81834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80B8A78-123C-18C9-9044-19B46871A14A}"/>
                </a:ext>
              </a:extLst>
            </p:cNvPr>
            <p:cNvGrpSpPr/>
            <p:nvPr/>
          </p:nvGrpSpPr>
          <p:grpSpPr>
            <a:xfrm>
              <a:off x="2573215" y="3555535"/>
              <a:ext cx="1008185" cy="569302"/>
              <a:chOff x="1219200" y="2955926"/>
              <a:chExt cx="1008185" cy="569302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B88F3F0-0853-5337-A353-F902765D75EA}"/>
                  </a:ext>
                </a:extLst>
              </p:cNvPr>
              <p:cNvSpPr/>
              <p:nvPr/>
            </p:nvSpPr>
            <p:spPr>
              <a:xfrm>
                <a:off x="1219200" y="2955926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33" name="Graphic 32" descr="User with solid fill">
                <a:extLst>
                  <a:ext uri="{FF2B5EF4-FFF2-40B4-BE49-F238E27FC236}">
                    <a16:creationId xmlns:a16="http://schemas.microsoft.com/office/drawing/2014/main" id="{4EF5029E-D6A4-65A0-473A-CA46FC0CE0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98BD1E3-640D-615D-C1F5-BEE995BFAB8C}"/>
                </a:ext>
              </a:extLst>
            </p:cNvPr>
            <p:cNvGrpSpPr/>
            <p:nvPr/>
          </p:nvGrpSpPr>
          <p:grpSpPr>
            <a:xfrm>
              <a:off x="875804" y="3558667"/>
              <a:ext cx="1008185" cy="569302"/>
              <a:chOff x="1201615" y="2935941"/>
              <a:chExt cx="1008185" cy="569302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B206797-48BA-6650-3F01-D8420BA5D597}"/>
                  </a:ext>
                </a:extLst>
              </p:cNvPr>
              <p:cNvSpPr/>
              <p:nvPr/>
            </p:nvSpPr>
            <p:spPr>
              <a:xfrm>
                <a:off x="1201615" y="2935941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31" name="Graphic 30" descr="User with solid fill">
                <a:extLst>
                  <a:ext uri="{FF2B5EF4-FFF2-40B4-BE49-F238E27FC236}">
                    <a16:creationId xmlns:a16="http://schemas.microsoft.com/office/drawing/2014/main" id="{5AA3DC2C-9EBF-4609-5BFC-B948482F1D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26B7631-7BE8-7233-DB3B-55DD16E1516C}"/>
                </a:ext>
              </a:extLst>
            </p:cNvPr>
            <p:cNvSpPr/>
            <p:nvPr/>
          </p:nvSpPr>
          <p:spPr>
            <a:xfrm>
              <a:off x="664045" y="3899537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540F9F0-589F-F7E1-41DE-2F5CC32D5BC5}"/>
                </a:ext>
              </a:extLst>
            </p:cNvPr>
            <p:cNvCxnSpPr>
              <a:cxnSpLocks/>
              <a:stCxn id="30" idx="3"/>
              <a:endCxn id="32" idx="1"/>
            </p:cNvCxnSpPr>
            <p:nvPr/>
          </p:nvCxnSpPr>
          <p:spPr>
            <a:xfrm flipV="1">
              <a:off x="1883989" y="3840186"/>
              <a:ext cx="689226" cy="3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AB4E00F-EA7E-F5DB-0F72-41E476E1B063}"/>
                </a:ext>
              </a:extLst>
            </p:cNvPr>
            <p:cNvSpPr/>
            <p:nvPr/>
          </p:nvSpPr>
          <p:spPr>
            <a:xfrm>
              <a:off x="837457" y="4095720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6CB14DD-D5BA-9B5A-2782-B2606675A95D}"/>
                </a:ext>
              </a:extLst>
            </p:cNvPr>
            <p:cNvSpPr/>
            <p:nvPr/>
          </p:nvSpPr>
          <p:spPr>
            <a:xfrm>
              <a:off x="1134739" y="4157883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79B7258-E917-6E03-D366-F74C7DBC6691}"/>
                </a:ext>
              </a:extLst>
            </p:cNvPr>
            <p:cNvSpPr/>
            <p:nvPr/>
          </p:nvSpPr>
          <p:spPr>
            <a:xfrm>
              <a:off x="1432021" y="4124837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pic>
          <p:nvPicPr>
            <p:cNvPr id="41" name="Graphic 40" descr="Chat with solid fill">
              <a:extLst>
                <a:ext uri="{FF2B5EF4-FFF2-40B4-BE49-F238E27FC236}">
                  <a16:creationId xmlns:a16="http://schemas.microsoft.com/office/drawing/2014/main" id="{79D7E12C-9C43-BADE-5DEE-E6DDD4F177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65800" y="3578583"/>
              <a:ext cx="288000" cy="2880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7299014-DD76-393A-24FB-15B1EC3B3D9A}"/>
              </a:ext>
            </a:extLst>
          </p:cNvPr>
          <p:cNvGrpSpPr/>
          <p:nvPr/>
        </p:nvGrpSpPr>
        <p:grpSpPr>
          <a:xfrm>
            <a:off x="6459786" y="3661859"/>
            <a:ext cx="1008185" cy="569302"/>
            <a:chOff x="1219200" y="2955926"/>
            <a:chExt cx="1008185" cy="569302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B3415681-8156-A3DF-69AD-FD29C86FEF54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87CC4789-2619-2F11-D5A8-2932C6973E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497889-4C6D-8297-342A-3EDF6F6ADF31}"/>
              </a:ext>
            </a:extLst>
          </p:cNvPr>
          <p:cNvGrpSpPr/>
          <p:nvPr/>
        </p:nvGrpSpPr>
        <p:grpSpPr>
          <a:xfrm>
            <a:off x="4762375" y="3664991"/>
            <a:ext cx="1008185" cy="569302"/>
            <a:chOff x="1201615" y="2935941"/>
            <a:chExt cx="1008185" cy="569302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49A887EF-AA19-8642-5B1F-AC14CCD6AE5C}"/>
                </a:ext>
              </a:extLst>
            </p:cNvPr>
            <p:cNvSpPr/>
            <p:nvPr/>
          </p:nvSpPr>
          <p:spPr>
            <a:xfrm>
              <a:off x="1201615" y="2935941"/>
              <a:ext cx="1008185" cy="56930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5E2F5893-C6EB-E3B9-3086-0E093405E8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164E1609-E186-DBFD-76A9-81EF55F7BB4B}"/>
              </a:ext>
            </a:extLst>
          </p:cNvPr>
          <p:cNvSpPr/>
          <p:nvPr/>
        </p:nvSpPr>
        <p:spPr>
          <a:xfrm>
            <a:off x="4550616" y="4005861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9492501-D8D4-859A-C88B-8BCE9ECEE801}"/>
              </a:ext>
            </a:extLst>
          </p:cNvPr>
          <p:cNvCxnSpPr>
            <a:cxnSpLocks/>
            <a:stCxn id="52" idx="3"/>
            <a:endCxn id="54" idx="1"/>
          </p:cNvCxnSpPr>
          <p:nvPr/>
        </p:nvCxnSpPr>
        <p:spPr>
          <a:xfrm flipV="1">
            <a:off x="5770560" y="3946510"/>
            <a:ext cx="689226" cy="3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81843844-761E-9E08-5E75-2D178F79E4D0}"/>
              </a:ext>
            </a:extLst>
          </p:cNvPr>
          <p:cNvSpPr/>
          <p:nvPr/>
        </p:nvSpPr>
        <p:spPr>
          <a:xfrm>
            <a:off x="4724028" y="4202044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76D73A2-4593-F7FF-0654-D9D76AD0A045}"/>
              </a:ext>
            </a:extLst>
          </p:cNvPr>
          <p:cNvSpPr/>
          <p:nvPr/>
        </p:nvSpPr>
        <p:spPr>
          <a:xfrm>
            <a:off x="5021310" y="4264207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pic>
        <p:nvPicPr>
          <p:cNvPr id="51" name="Graphic 50" descr="Chat with solid fill">
            <a:extLst>
              <a:ext uri="{FF2B5EF4-FFF2-40B4-BE49-F238E27FC236}">
                <a16:creationId xmlns:a16="http://schemas.microsoft.com/office/drawing/2014/main" id="{512B3C8E-7752-A214-7CB2-7369CF2871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2371" y="3684907"/>
            <a:ext cx="288000" cy="2880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A44BC0E9-64E1-0B48-7413-37B4E2652C75}"/>
              </a:ext>
            </a:extLst>
          </p:cNvPr>
          <p:cNvGrpSpPr/>
          <p:nvPr/>
        </p:nvGrpSpPr>
        <p:grpSpPr>
          <a:xfrm>
            <a:off x="10172205" y="3661859"/>
            <a:ext cx="1008185" cy="569302"/>
            <a:chOff x="1219200" y="2955926"/>
            <a:chExt cx="1008185" cy="569302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55C05DC1-E2EC-89E7-49EB-C6805319C611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8" name="Graphic 67" descr="User with solid fill">
              <a:extLst>
                <a:ext uri="{FF2B5EF4-FFF2-40B4-BE49-F238E27FC236}">
                  <a16:creationId xmlns:a16="http://schemas.microsoft.com/office/drawing/2014/main" id="{5AAEDD10-8439-4CEA-B4B8-7C6A685A9E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FA8A72-30FC-C84D-16E1-867E20A0FF3D}"/>
              </a:ext>
            </a:extLst>
          </p:cNvPr>
          <p:cNvGrpSpPr/>
          <p:nvPr/>
        </p:nvGrpSpPr>
        <p:grpSpPr>
          <a:xfrm>
            <a:off x="8474794" y="3664991"/>
            <a:ext cx="1008185" cy="569302"/>
            <a:chOff x="1201615" y="2935941"/>
            <a:chExt cx="1008185" cy="569302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C5239EF-E6C0-00E4-692D-03D42ED780FC}"/>
                </a:ext>
              </a:extLst>
            </p:cNvPr>
            <p:cNvSpPr/>
            <p:nvPr/>
          </p:nvSpPr>
          <p:spPr>
            <a:xfrm>
              <a:off x="1201615" y="2935941"/>
              <a:ext cx="1008185" cy="56930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6" name="Graphic 65" descr="User with solid fill">
              <a:extLst>
                <a:ext uri="{FF2B5EF4-FFF2-40B4-BE49-F238E27FC236}">
                  <a16:creationId xmlns:a16="http://schemas.microsoft.com/office/drawing/2014/main" id="{32F0AE1B-4D67-AFC6-D069-63A7D0B53A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A5BBFBF7-EA8D-7459-8013-11BFD39251C2}"/>
              </a:ext>
            </a:extLst>
          </p:cNvPr>
          <p:cNvSpPr/>
          <p:nvPr/>
        </p:nvSpPr>
        <p:spPr>
          <a:xfrm>
            <a:off x="8263035" y="4005861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0447E83-79A0-4B83-6F70-56AED1156836}"/>
              </a:ext>
            </a:extLst>
          </p:cNvPr>
          <p:cNvCxnSpPr>
            <a:cxnSpLocks/>
            <a:stCxn id="65" idx="3"/>
            <a:endCxn id="67" idx="1"/>
          </p:cNvCxnSpPr>
          <p:nvPr/>
        </p:nvCxnSpPr>
        <p:spPr>
          <a:xfrm flipV="1">
            <a:off x="9482979" y="3946510"/>
            <a:ext cx="689226" cy="3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E9A61BF3-CFF9-63B6-C46B-F15918E40DFE}"/>
              </a:ext>
            </a:extLst>
          </p:cNvPr>
          <p:cNvSpPr/>
          <p:nvPr/>
        </p:nvSpPr>
        <p:spPr>
          <a:xfrm>
            <a:off x="8436447" y="4202044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CCA968F-925C-02CE-387A-8AF1C4D93D3B}"/>
              </a:ext>
            </a:extLst>
          </p:cNvPr>
          <p:cNvSpPr/>
          <p:nvPr/>
        </p:nvSpPr>
        <p:spPr>
          <a:xfrm>
            <a:off x="8733729" y="4264207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4328C10-C296-A9B2-3F35-15F51A66F60D}"/>
              </a:ext>
            </a:extLst>
          </p:cNvPr>
          <p:cNvSpPr/>
          <p:nvPr/>
        </p:nvSpPr>
        <p:spPr>
          <a:xfrm>
            <a:off x="9031011" y="4231161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pic>
        <p:nvPicPr>
          <p:cNvPr id="64" name="Graphic 63" descr="Chat with solid fill">
            <a:extLst>
              <a:ext uri="{FF2B5EF4-FFF2-40B4-BE49-F238E27FC236}">
                <a16:creationId xmlns:a16="http://schemas.microsoft.com/office/drawing/2014/main" id="{00816363-B1C7-47FC-3332-E6C8F570D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4790" y="3684907"/>
            <a:ext cx="288000" cy="288000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57B4FE86-5551-969E-0B57-2FFCFE826A47}"/>
              </a:ext>
            </a:extLst>
          </p:cNvPr>
          <p:cNvGrpSpPr/>
          <p:nvPr/>
        </p:nvGrpSpPr>
        <p:grpSpPr>
          <a:xfrm>
            <a:off x="6459785" y="2712598"/>
            <a:ext cx="1008185" cy="569302"/>
            <a:chOff x="1219200" y="2955926"/>
            <a:chExt cx="1008185" cy="569302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4681D75A-0E56-3997-86C9-95059C73EE82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rgbClr val="E1D5FF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1" name="Graphic 70" descr="User with solid fill">
              <a:extLst>
                <a:ext uri="{FF2B5EF4-FFF2-40B4-BE49-F238E27FC236}">
                  <a16:creationId xmlns:a16="http://schemas.microsoft.com/office/drawing/2014/main" id="{D4889EB1-7989-50EF-2C64-0ACEC482CD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0FCB631-C8F5-8A1D-9BE9-0E611DCD134D}"/>
              </a:ext>
            </a:extLst>
          </p:cNvPr>
          <p:cNvCxnSpPr>
            <a:cxnSpLocks/>
            <a:stCxn id="70" idx="2"/>
            <a:endCxn id="54" idx="0"/>
          </p:cNvCxnSpPr>
          <p:nvPr/>
        </p:nvCxnSpPr>
        <p:spPr>
          <a:xfrm>
            <a:off x="6963878" y="3281900"/>
            <a:ext cx="1" cy="379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6" name="Graphic 75" descr="Chat with solid fill">
            <a:extLst>
              <a:ext uri="{FF2B5EF4-FFF2-40B4-BE49-F238E27FC236}">
                <a16:creationId xmlns:a16="http://schemas.microsoft.com/office/drawing/2014/main" id="{78B56484-155F-5AB0-266A-5C8C19667B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3999" y="3326205"/>
            <a:ext cx="288000" cy="288000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9CEA548C-8206-0020-7B21-39EB77834A5F}"/>
              </a:ext>
            </a:extLst>
          </p:cNvPr>
          <p:cNvGrpSpPr/>
          <p:nvPr/>
        </p:nvGrpSpPr>
        <p:grpSpPr>
          <a:xfrm>
            <a:off x="10172205" y="2700403"/>
            <a:ext cx="1008185" cy="569302"/>
            <a:chOff x="1219200" y="2955926"/>
            <a:chExt cx="1008185" cy="569302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F8F2EDE3-AABD-C062-C6CC-708FDB19DAB5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rgbClr val="E1D5FF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9" name="Graphic 78" descr="Database with solid fill">
              <a:extLst>
                <a:ext uri="{FF2B5EF4-FFF2-40B4-BE49-F238E27FC236}">
                  <a16:creationId xmlns:a16="http://schemas.microsoft.com/office/drawing/2014/main" id="{A76E3059-45C4-5BFB-2501-49361F6B43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6DA2C73-47D7-C564-C221-FC3C10A17424}"/>
              </a:ext>
            </a:extLst>
          </p:cNvPr>
          <p:cNvCxnSpPr>
            <a:cxnSpLocks/>
            <a:stCxn id="78" idx="2"/>
            <a:endCxn id="67" idx="0"/>
          </p:cNvCxnSpPr>
          <p:nvPr/>
        </p:nvCxnSpPr>
        <p:spPr>
          <a:xfrm>
            <a:off x="10676298" y="3269705"/>
            <a:ext cx="0" cy="39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1" name="Graphic 80" descr="Open envelope with solid fill">
            <a:extLst>
              <a:ext uri="{FF2B5EF4-FFF2-40B4-BE49-F238E27FC236}">
                <a16:creationId xmlns:a16="http://schemas.microsoft.com/office/drawing/2014/main" id="{09BF3FB0-4140-CEB5-69E2-7FC480D884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757591" y="3314010"/>
            <a:ext cx="288000" cy="288000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DC0C9490-40E7-8468-2218-6BF37A186C21}"/>
              </a:ext>
            </a:extLst>
          </p:cNvPr>
          <p:cNvSpPr/>
          <p:nvPr/>
        </p:nvSpPr>
        <p:spPr>
          <a:xfrm>
            <a:off x="6549662" y="3198436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A003CF0-5B20-47FC-E9E0-9A84C7163972}"/>
              </a:ext>
            </a:extLst>
          </p:cNvPr>
          <p:cNvSpPr/>
          <p:nvPr/>
        </p:nvSpPr>
        <p:spPr>
          <a:xfrm>
            <a:off x="10275652" y="3242010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03E5E40-9223-870D-93D6-A64D282EF836}"/>
              </a:ext>
            </a:extLst>
          </p:cNvPr>
          <p:cNvSpPr/>
          <p:nvPr/>
        </p:nvSpPr>
        <p:spPr>
          <a:xfrm>
            <a:off x="9998795" y="3144120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6A672BD-2F5F-F051-E91E-04AA9D82DA09}"/>
              </a:ext>
            </a:extLst>
          </p:cNvPr>
          <p:cNvSpPr/>
          <p:nvPr/>
        </p:nvSpPr>
        <p:spPr>
          <a:xfrm rot="5400000">
            <a:off x="5886102" y="-603784"/>
            <a:ext cx="337438" cy="1059795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CB5E8B-75A7-E236-8FC9-B8B35779B424}"/>
              </a:ext>
            </a:extLst>
          </p:cNvPr>
          <p:cNvGrpSpPr/>
          <p:nvPr/>
        </p:nvGrpSpPr>
        <p:grpSpPr>
          <a:xfrm>
            <a:off x="4807062" y="5057041"/>
            <a:ext cx="2362200" cy="809626"/>
            <a:chOff x="1219200" y="2955926"/>
            <a:chExt cx="2362200" cy="80962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0DC9D57-9040-8051-E1BD-E9CC80DCCB42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</a:rPr>
                <a:t>Stakeholder</a:t>
              </a:r>
              <a:endParaRPr lang="en-SE" noProof="0" dirty="0">
                <a:solidFill>
                  <a:schemeClr val="bg1"/>
                </a:solidFill>
              </a:endParaRPr>
            </a:p>
            <a:p>
              <a:pPr algn="ctr"/>
              <a:r>
                <a:rPr lang="en-SE" dirty="0">
                  <a:solidFill>
                    <a:schemeClr val="bg1"/>
                  </a:solidFill>
                </a:rPr>
                <a:t>(</a:t>
              </a:r>
              <a:r>
                <a:rPr lang="en-SE" dirty="0" err="1">
                  <a:solidFill>
                    <a:schemeClr val="bg1"/>
                  </a:solidFill>
                </a:rPr>
                <a:t>i</a:t>
              </a:r>
              <a:r>
                <a:rPr lang="en-SE" dirty="0">
                  <a:solidFill>
                    <a:schemeClr val="bg1"/>
                  </a:solidFill>
                </a:rPr>
                <a:t> = 0.8)</a:t>
              </a:r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9" descr="User with solid fill">
              <a:extLst>
                <a:ext uri="{FF2B5EF4-FFF2-40B4-BE49-F238E27FC236}">
                  <a16:creationId xmlns:a16="http://schemas.microsoft.com/office/drawing/2014/main" id="{2AC3041A-7977-C01B-2C96-99943881E5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957015F0-831F-E331-1ADD-0598252A2988}"/>
              </a:ext>
            </a:extLst>
          </p:cNvPr>
          <p:cNvSpPr/>
          <p:nvPr/>
        </p:nvSpPr>
        <p:spPr>
          <a:xfrm>
            <a:off x="7580909" y="4947559"/>
            <a:ext cx="3804140" cy="1011360"/>
          </a:xfrm>
          <a:prstGeom prst="wedgeRectCallout">
            <a:avLst>
              <a:gd name="adj1" fmla="val -59686"/>
              <a:gd name="adj2" fmla="val -4594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On average, the “Stakeholder” contains 80% of the total requirements information</a:t>
            </a:r>
          </a:p>
        </p:txBody>
      </p:sp>
    </p:spTree>
    <p:extLst>
      <p:ext uri="{BB962C8B-B14F-4D97-AF65-F5344CB8AC3E}">
        <p14:creationId xmlns:p14="http://schemas.microsoft.com/office/powerpoint/2010/main" val="3246873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2D44-54E7-3F78-0958-DD8FD879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3D3D-E231-6700-DD67-F22DE2A2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19D51-8E07-E178-6418-5BA11C69E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1360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Alternatively, we can model information as a </a:t>
            </a:r>
            <a:r>
              <a:rPr lang="en-SE" i="1" noProof="0" dirty="0"/>
              <a:t>quantity</a:t>
            </a:r>
            <a:r>
              <a:rPr lang="en-SE" noProof="0" dirty="0"/>
              <a:t>, i.e., the fraction of the total information that a storage possesses.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856A6-E796-3D52-FF21-1FFA71F5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84A70E-52D5-02D4-2C3D-1725187E3C8B}"/>
              </a:ext>
            </a:extLst>
          </p:cNvPr>
          <p:cNvGrpSpPr/>
          <p:nvPr/>
        </p:nvGrpSpPr>
        <p:grpSpPr>
          <a:xfrm>
            <a:off x="1028700" y="3787041"/>
            <a:ext cx="2362200" cy="809626"/>
            <a:chOff x="1219200" y="2955926"/>
            <a:chExt cx="2362200" cy="80962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862A353-B372-EFCD-8759-A1FD3903EE82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</a:rPr>
                <a:t>Stakeholder</a:t>
              </a:r>
              <a:endParaRPr lang="en-SE" noProof="0" dirty="0">
                <a:solidFill>
                  <a:schemeClr val="bg1"/>
                </a:solidFill>
              </a:endParaRPr>
            </a:p>
            <a:p>
              <a:pPr algn="ctr"/>
              <a:r>
                <a:rPr lang="en-SE" dirty="0">
                  <a:solidFill>
                    <a:schemeClr val="bg1"/>
                  </a:solidFill>
                </a:rPr>
                <a:t>(</a:t>
              </a:r>
              <a:r>
                <a:rPr lang="en-SE" dirty="0" err="1">
                  <a:solidFill>
                    <a:schemeClr val="bg1"/>
                  </a:solidFill>
                </a:rPr>
                <a:t>i</a:t>
              </a:r>
              <a:r>
                <a:rPr lang="en-SE" dirty="0">
                  <a:solidFill>
                    <a:schemeClr val="bg1"/>
                  </a:solidFill>
                </a:rPr>
                <a:t> = 0.8)</a:t>
              </a:r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7" descr="User with solid fill">
              <a:extLst>
                <a:ext uri="{FF2B5EF4-FFF2-40B4-BE49-F238E27FC236}">
                  <a16:creationId xmlns:a16="http://schemas.microsoft.com/office/drawing/2014/main" id="{61297C3A-C8FD-2E4F-4B98-A37A4EF6E3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4C2808D3-4D37-683D-7BB8-9BC4E760E80C}"/>
              </a:ext>
            </a:extLst>
          </p:cNvPr>
          <p:cNvSpPr/>
          <p:nvPr/>
        </p:nvSpPr>
        <p:spPr>
          <a:xfrm>
            <a:off x="7051429" y="5041043"/>
            <a:ext cx="3804140" cy="1011360"/>
          </a:xfrm>
          <a:prstGeom prst="wedgeRectCallout">
            <a:avLst>
              <a:gd name="adj1" fmla="val 34024"/>
              <a:gd name="adj2" fmla="val -95143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How much information ends up at the target of the transfer?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DAF0FA-8D26-D95B-DCC8-370BBA64D642}"/>
              </a:ext>
            </a:extLst>
          </p:cNvPr>
          <p:cNvGrpSpPr/>
          <p:nvPr/>
        </p:nvGrpSpPr>
        <p:grpSpPr>
          <a:xfrm>
            <a:off x="8801100" y="3787041"/>
            <a:ext cx="2362200" cy="809626"/>
            <a:chOff x="1219200" y="2955926"/>
            <a:chExt cx="2362200" cy="80962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FFCD94B-282C-73C5-1E80-32E6CB709FE1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</a:p>
            <a:p>
              <a:pPr algn="ctr"/>
              <a:r>
                <a:rPr lang="en-SE" dirty="0">
                  <a:solidFill>
                    <a:sysClr val="windowText" lastClr="000000"/>
                  </a:solidFill>
                </a:rPr>
                <a:t>(</a:t>
              </a:r>
              <a:r>
                <a:rPr lang="en-SE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dirty="0">
                  <a:solidFill>
                    <a:sysClr val="windowText" lastClr="000000"/>
                  </a:solidFill>
                </a:rPr>
                <a:t> = ?)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Graphic 11" descr="User with solid fill">
              <a:extLst>
                <a:ext uri="{FF2B5EF4-FFF2-40B4-BE49-F238E27FC236}">
                  <a16:creationId xmlns:a16="http://schemas.microsoft.com/office/drawing/2014/main" id="{63B2E8D8-D535-2D66-7F9C-DCB209D59E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1ADBBD-7508-B70A-126B-1E054ABAD63C}"/>
              </a:ext>
            </a:extLst>
          </p:cNvPr>
          <p:cNvGrpSpPr/>
          <p:nvPr/>
        </p:nvGrpSpPr>
        <p:grpSpPr>
          <a:xfrm>
            <a:off x="4390292" y="3787042"/>
            <a:ext cx="3411416" cy="809626"/>
            <a:chOff x="4390292" y="3742229"/>
            <a:chExt cx="3411416" cy="809626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FB14252B-8FF9-EC16-F148-52AE69D354F5}"/>
                </a:ext>
              </a:extLst>
            </p:cNvPr>
            <p:cNvSpPr/>
            <p:nvPr/>
          </p:nvSpPr>
          <p:spPr>
            <a:xfrm>
              <a:off x="4390292" y="3742229"/>
              <a:ext cx="3411416" cy="809626"/>
            </a:xfrm>
            <a:prstGeom prst="chevron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I</a:t>
              </a:r>
              <a:r>
                <a:rPr lang="en-SE" dirty="0" err="1">
                  <a:solidFill>
                    <a:schemeClr val="tx1"/>
                  </a:solidFill>
                </a:rPr>
                <a:t>nterviewing</a:t>
              </a:r>
              <a:r>
                <a:rPr lang="en-SE" dirty="0">
                  <a:solidFill>
                    <a:schemeClr val="tx1"/>
                  </a:solidFill>
                </a:rPr>
                <a:t> </a:t>
              </a:r>
            </a:p>
          </p:txBody>
        </p:sp>
        <p:pic>
          <p:nvPicPr>
            <p:cNvPr id="14" name="Graphic 13" descr="Chat with solid fill">
              <a:extLst>
                <a:ext uri="{FF2B5EF4-FFF2-40B4-BE49-F238E27FC236}">
                  <a16:creationId xmlns:a16="http://schemas.microsoft.com/office/drawing/2014/main" id="{3ECD6999-A8EE-29B9-0D01-F461E30605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08685" y="3831854"/>
              <a:ext cx="720000" cy="720000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5334F4-240E-D082-5DC1-AD23F28CF16E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3390900" y="4191854"/>
            <a:ext cx="1404205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493F5E-B979-A832-6397-3E613E6D7DCF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 flipV="1">
            <a:off x="7801708" y="4191854"/>
            <a:ext cx="999392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790F141-69B8-D0B7-6E23-8DF67B48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02242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EF5BE-DE9C-6D3A-E36F-F84493E9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5D2446-465F-86BA-275B-64517FC75A64}"/>
                  </a:ext>
                </a:extLst>
              </p:cNvPr>
              <p:cNvSpPr txBox="1"/>
              <p:nvPr/>
            </p:nvSpPr>
            <p:spPr>
              <a:xfrm>
                <a:off x="2580371" y="3743464"/>
                <a:ext cx="76388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𝑡𝑟𝑎𝑛𝑠𝑓𝑒𝑟</m:t>
                      </m:r>
                      <m:d>
                        <m:dPr>
                          <m:ctrlP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800" noProof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5D2446-465F-86BA-275B-64517FC75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371" y="3743464"/>
                <a:ext cx="763880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B1E0056-F167-54BB-6DE5-8C749C68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3C10-1480-BCE0-37F2-C81E0E416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1360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Information transfers become a function of the input information: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6BB05-639F-92C7-D3FA-E7B734A4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B8A9E5CA-C68C-A0BB-9F88-CDD48999F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B23FD7-E367-71F8-5AB9-CDADB8EFC178}"/>
                  </a:ext>
                </a:extLst>
              </p:cNvPr>
              <p:cNvSpPr txBox="1"/>
              <p:nvPr/>
            </p:nvSpPr>
            <p:spPr>
              <a:xfrm>
                <a:off x="1388386" y="3743464"/>
                <a:ext cx="76388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𝑡𝑟𝑎𝑛𝑠𝑓𝑒𝑟</m:t>
                      </m:r>
                      <m:d>
                        <m:dPr>
                          <m:ctrlP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E" sz="28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SE" sz="2800" b="0" i="1" noProof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8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B23FD7-E367-71F8-5AB9-CDADB8EFC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386" y="3743464"/>
                <a:ext cx="763880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A1122D4C-8F25-7F85-F4CE-8F8851256292}"/>
              </a:ext>
            </a:extLst>
          </p:cNvPr>
          <p:cNvSpPr/>
          <p:nvPr/>
        </p:nvSpPr>
        <p:spPr>
          <a:xfrm>
            <a:off x="838198" y="2466242"/>
            <a:ext cx="3804140" cy="1011360"/>
          </a:xfrm>
          <a:prstGeom prst="wedgeRectCallout">
            <a:avLst>
              <a:gd name="adj1" fmla="val 29654"/>
              <a:gd name="adj2" fmla="val 71593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How much information will be transferred depends on more parameters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85D3FC-C8EE-6636-AD40-CC332AD83800}"/>
              </a:ext>
            </a:extLst>
          </p:cNvPr>
          <p:cNvSpPr txBox="1"/>
          <p:nvPr/>
        </p:nvSpPr>
        <p:spPr>
          <a:xfrm>
            <a:off x="1803211" y="4849852"/>
            <a:ext cx="4429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dirty="0"/>
              <a:t>Skill of the entity performing the transfer</a:t>
            </a:r>
          </a:p>
          <a:p>
            <a:pPr marL="285750" indent="-285750"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dirty="0"/>
              <a:t>Time invested in the transfer</a:t>
            </a:r>
          </a:p>
          <a:p>
            <a:pPr marL="285750" indent="-285750"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dirty="0"/>
              <a:t>...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2BE98D-85D2-3504-740C-62656D649126}"/>
              </a:ext>
            </a:extLst>
          </p:cNvPr>
          <p:cNvSpPr txBox="1"/>
          <p:nvPr/>
        </p:nvSpPr>
        <p:spPr>
          <a:xfrm>
            <a:off x="6399772" y="4849852"/>
            <a:ext cx="4954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en-SE" dirty="0"/>
              <a:t>Complexity of the system under construction</a:t>
            </a:r>
          </a:p>
          <a:p>
            <a:pPr marL="285750" indent="-285750"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en-SE" dirty="0"/>
              <a:t>Confusion of the entity performing the transfer</a:t>
            </a:r>
          </a:p>
          <a:p>
            <a:pPr marL="285750" indent="-285750"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en-SE" dirty="0"/>
              <a:t>...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8C85E65A-0BD9-DAFD-3ADB-F479B7A4FF3A}"/>
              </a:ext>
            </a:extLst>
          </p:cNvPr>
          <p:cNvSpPr/>
          <p:nvPr/>
        </p:nvSpPr>
        <p:spPr>
          <a:xfrm rot="16200000">
            <a:off x="6338039" y="-268145"/>
            <a:ext cx="337438" cy="9407095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85293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0" grpId="0" animBg="1"/>
      <p:bldP spid="15" grpId="0"/>
      <p:bldP spid="17" grpId="0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05FD4-6683-8CA4-A1C0-CFC04A89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EB79-D2AE-D61D-D102-1DAF590E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5F158-70B8-C98A-DCE1-4C4C9D95E1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751321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𝑡𝑟𝑎𝑛𝑠𝑓𝑒𝑟</m:t>
                      </m:r>
                      <m:d>
                        <m:dPr>
                          <m:ctrlPr>
                            <a:rPr lang="en-SE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SE" b="1" i="1" noProof="0" smtClean="0">
                              <a:latin typeface="Cambria Math" panose="02040503050406030204" pitchFamily="18" charset="0"/>
                            </a:rPr>
                            <m:t>𝒕𝒊𝒎𝒆</m:t>
                          </m:r>
                          <m:r>
                            <a:rPr lang="en-SE" b="1" i="1" noProof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E" b="1" i="1" noProof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SE" b="1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𝒄𝒐𝒎𝒑𝒍𝒆𝒙𝒊𝒕𝒚</m:t>
                          </m:r>
                          <m:r>
                            <a:rPr lang="en-SE" b="1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E" b="1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SE" b="1" i="1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SE" b="1" i="1" noProof="0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𝒔𝒌𝒊𝒍𝒍</m:t>
                          </m:r>
                          <m:r>
                            <a:rPr lang="en-SE" b="1" i="1" noProof="0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E" b="1" i="1" noProof="0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5F158-70B8-C98A-DCE1-4C4C9D95E1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751321"/>
              </a:xfrm>
              <a:blipFill>
                <a:blip r:embed="rId3"/>
                <a:stretch>
                  <a:fillRect t="-80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85FA1-E1BC-09AA-59F1-B7F41F10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1E5734E-E599-E064-FC98-19E2A377F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86" y="2711881"/>
            <a:ext cx="6287829" cy="393162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17CD4CA-4E1A-4035-687D-E2DD5491AF85}"/>
              </a:ext>
            </a:extLst>
          </p:cNvPr>
          <p:cNvGrpSpPr/>
          <p:nvPr/>
        </p:nvGrpSpPr>
        <p:grpSpPr>
          <a:xfrm>
            <a:off x="7691632" y="4272881"/>
            <a:ext cx="3411416" cy="809626"/>
            <a:chOff x="4390292" y="3742229"/>
            <a:chExt cx="3411416" cy="809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rrow: Chevron 6">
                  <a:extLst>
                    <a:ext uri="{FF2B5EF4-FFF2-40B4-BE49-F238E27FC236}">
                      <a16:creationId xmlns:a16="http://schemas.microsoft.com/office/drawing/2014/main" id="{EBC8B3AF-AB64-36B1-C622-9AF2BAA52849}"/>
                    </a:ext>
                  </a:extLst>
                </p:cNvPr>
                <p:cNvSpPr/>
                <p:nvPr/>
              </p:nvSpPr>
              <p:spPr>
                <a:xfrm>
                  <a:off x="4390292" y="3742229"/>
                  <a:ext cx="3411416" cy="809626"/>
                </a:xfrm>
                <a:prstGeom prst="chevron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92000" rtlCol="0" anchor="ctr"/>
                <a:lstStyle/>
                <a:p>
                  <a:pPr algn="ctr"/>
                  <a:r>
                    <a:rPr lang="en-SE" dirty="0">
                      <a:solidFill>
                        <a:schemeClr val="tx1"/>
                      </a:solidFill>
                    </a:rPr>
                    <a:t>&lt;Transfer&gt;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S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SE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S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S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S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S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S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S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rrow: Chevron 6">
                  <a:extLst>
                    <a:ext uri="{FF2B5EF4-FFF2-40B4-BE49-F238E27FC236}">
                      <a16:creationId xmlns:a16="http://schemas.microsoft.com/office/drawing/2014/main" id="{EBC8B3AF-AB64-36B1-C622-9AF2BAA528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0292" y="3742229"/>
                  <a:ext cx="3411416" cy="809626"/>
                </a:xfrm>
                <a:prstGeom prst="chevron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Graphic 7" descr="Chat with solid fill">
              <a:extLst>
                <a:ext uri="{FF2B5EF4-FFF2-40B4-BE49-F238E27FC236}">
                  <a16:creationId xmlns:a16="http://schemas.microsoft.com/office/drawing/2014/main" id="{7CC86027-7DB4-D5BB-2930-CDA1DE493C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08685" y="3831854"/>
              <a:ext cx="720000" cy="720000"/>
            </a:xfrm>
            <a:prstGeom prst="rect">
              <a:avLst/>
            </a:prstGeom>
          </p:spPr>
        </p:pic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8B0AEE-0581-3BB8-5FFD-4A078071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29589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BB64-BB77-FDF3-99F0-2BC9BF41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C5F8-D052-D854-00B5-1D831024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42BB7-32A6-E031-D4BA-8DD2260A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957865-2DF4-4C4B-CF04-BB467246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399477-BEDD-1705-C23D-2D51871B193C}"/>
              </a:ext>
            </a:extLst>
          </p:cNvPr>
          <p:cNvGrpSpPr/>
          <p:nvPr/>
        </p:nvGrpSpPr>
        <p:grpSpPr>
          <a:xfrm>
            <a:off x="838198" y="3067016"/>
            <a:ext cx="2083132" cy="809626"/>
            <a:chOff x="4390292" y="3742229"/>
            <a:chExt cx="2083132" cy="809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Arrow: Chevron 5">
                  <a:extLst>
                    <a:ext uri="{FF2B5EF4-FFF2-40B4-BE49-F238E27FC236}">
                      <a16:creationId xmlns:a16="http://schemas.microsoft.com/office/drawing/2014/main" id="{6C14DD1C-C2EF-942A-7D64-FC50182C9931}"/>
                    </a:ext>
                  </a:extLst>
                </p:cNvPr>
                <p:cNvSpPr/>
                <p:nvPr/>
              </p:nvSpPr>
              <p:spPr>
                <a:xfrm>
                  <a:off x="4390292" y="3742229"/>
                  <a:ext cx="2083132" cy="809626"/>
                </a:xfrm>
                <a:prstGeom prst="chevron">
                  <a:avLst>
                    <a:gd name="adj" fmla="val 32399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0" rIns="0" rtlCol="0" anchor="ctr"/>
                <a:lstStyle/>
                <a:p>
                  <a:pPr algn="ctr"/>
                  <a:r>
                    <a:rPr lang="en-SE" sz="1400" dirty="0">
                      <a:solidFill>
                        <a:schemeClr val="tx1"/>
                      </a:solidFill>
                    </a:rPr>
                    <a:t>interviewing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=6,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=5, 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=6, </m:t>
                        </m:r>
                        <m:sSub>
                          <m:sSubPr>
                            <m:ctrlP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=8)</m:t>
                        </m:r>
                      </m:oMath>
                    </m:oMathPara>
                  </a14:m>
                  <a:endParaRPr lang="en-SE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Arrow: Chevron 5">
                  <a:extLst>
                    <a:ext uri="{FF2B5EF4-FFF2-40B4-BE49-F238E27FC236}">
                      <a16:creationId xmlns:a16="http://schemas.microsoft.com/office/drawing/2014/main" id="{6C14DD1C-C2EF-942A-7D64-FC50182C99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0292" y="3742229"/>
                  <a:ext cx="2083132" cy="809626"/>
                </a:xfrm>
                <a:prstGeom prst="chevron">
                  <a:avLst>
                    <a:gd name="adj" fmla="val 32399"/>
                  </a:avLst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Graphic 8" descr="Chat with solid fill">
              <a:extLst>
                <a:ext uri="{FF2B5EF4-FFF2-40B4-BE49-F238E27FC236}">
                  <a16:creationId xmlns:a16="http://schemas.microsoft.com/office/drawing/2014/main" id="{D7AED472-7478-0C73-E705-33E103A62B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0403" y="3967042"/>
              <a:ext cx="360000" cy="360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C475C-A438-9E1A-4F09-9D53CDCA2AA4}"/>
              </a:ext>
            </a:extLst>
          </p:cNvPr>
          <p:cNvGrpSpPr/>
          <p:nvPr/>
        </p:nvGrpSpPr>
        <p:grpSpPr>
          <a:xfrm>
            <a:off x="5009075" y="3067016"/>
            <a:ext cx="2083132" cy="809626"/>
            <a:chOff x="4390292" y="3742229"/>
            <a:chExt cx="2083132" cy="809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Arrow: Chevron 16">
                  <a:extLst>
                    <a:ext uri="{FF2B5EF4-FFF2-40B4-BE49-F238E27FC236}">
                      <a16:creationId xmlns:a16="http://schemas.microsoft.com/office/drawing/2014/main" id="{9DB9A955-78FA-11A7-2761-2C7C384CDF1D}"/>
                    </a:ext>
                  </a:extLst>
                </p:cNvPr>
                <p:cNvSpPr/>
                <p:nvPr/>
              </p:nvSpPr>
              <p:spPr>
                <a:xfrm>
                  <a:off x="4390292" y="3742229"/>
                  <a:ext cx="2083132" cy="809626"/>
                </a:xfrm>
                <a:prstGeom prst="chevron">
                  <a:avLst>
                    <a:gd name="adj" fmla="val 32399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0" rIns="0" rtlCol="0" anchor="ctr"/>
                <a:lstStyle/>
                <a:p>
                  <a:pPr algn="ctr"/>
                  <a:r>
                    <a:rPr lang="en-SE" sz="1400" dirty="0">
                      <a:solidFill>
                        <a:schemeClr val="tx1"/>
                      </a:solidFill>
                    </a:rPr>
                    <a:t>documenting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=4,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=7, 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=3 </m:t>
                        </m:r>
                        <m:sSub>
                          <m:sSubPr>
                            <m:ctrlP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=6)</m:t>
                        </m:r>
                      </m:oMath>
                    </m:oMathPara>
                  </a14:m>
                  <a:endParaRPr lang="en-SE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Arrow: Chevron 16">
                  <a:extLst>
                    <a:ext uri="{FF2B5EF4-FFF2-40B4-BE49-F238E27FC236}">
                      <a16:creationId xmlns:a16="http://schemas.microsoft.com/office/drawing/2014/main" id="{9DB9A955-78FA-11A7-2761-2C7C384CDF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0292" y="3742229"/>
                  <a:ext cx="2083132" cy="809626"/>
                </a:xfrm>
                <a:prstGeom prst="chevron">
                  <a:avLst>
                    <a:gd name="adj" fmla="val 32399"/>
                  </a:avLst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Graphic 17" descr="Pen with solid fill">
              <a:extLst>
                <a:ext uri="{FF2B5EF4-FFF2-40B4-BE49-F238E27FC236}">
                  <a16:creationId xmlns:a16="http://schemas.microsoft.com/office/drawing/2014/main" id="{09E47A57-4F59-AE2A-888E-B15BBE3E31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660403" y="3967042"/>
              <a:ext cx="360000" cy="360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37C898-85C6-A487-5073-7D9B6C73CE1A}"/>
              </a:ext>
            </a:extLst>
          </p:cNvPr>
          <p:cNvGrpSpPr/>
          <p:nvPr/>
        </p:nvGrpSpPr>
        <p:grpSpPr>
          <a:xfrm>
            <a:off x="9179953" y="3067016"/>
            <a:ext cx="2083132" cy="809626"/>
            <a:chOff x="4390292" y="3742229"/>
            <a:chExt cx="2083132" cy="809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Arrow: Chevron 19">
                  <a:extLst>
                    <a:ext uri="{FF2B5EF4-FFF2-40B4-BE49-F238E27FC236}">
                      <a16:creationId xmlns:a16="http://schemas.microsoft.com/office/drawing/2014/main" id="{00A77CB4-4EC9-3266-52D3-77CC24452D46}"/>
                    </a:ext>
                  </a:extLst>
                </p:cNvPr>
                <p:cNvSpPr/>
                <p:nvPr/>
              </p:nvSpPr>
              <p:spPr>
                <a:xfrm>
                  <a:off x="4390292" y="3742229"/>
                  <a:ext cx="2083132" cy="809626"/>
                </a:xfrm>
                <a:prstGeom prst="chevron">
                  <a:avLst>
                    <a:gd name="adj" fmla="val 32399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0" rIns="0" rtlCol="0" anchor="ctr"/>
                <a:lstStyle/>
                <a:p>
                  <a:pPr algn="ctr"/>
                  <a:r>
                    <a:rPr lang="en-SE" sz="1400" dirty="0">
                      <a:solidFill>
                        <a:schemeClr val="tx1"/>
                      </a:solidFill>
                    </a:rPr>
                    <a:t>reading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=2,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=4, 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 </m:t>
                        </m:r>
                        <m:sSub>
                          <m:sSubPr>
                            <m:ctrlP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=3)</m:t>
                        </m:r>
                      </m:oMath>
                    </m:oMathPara>
                  </a14:m>
                  <a:endParaRPr lang="en-SE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Arrow: Chevron 19">
                  <a:extLst>
                    <a:ext uri="{FF2B5EF4-FFF2-40B4-BE49-F238E27FC236}">
                      <a16:creationId xmlns:a16="http://schemas.microsoft.com/office/drawing/2014/main" id="{00A77CB4-4EC9-3266-52D3-77CC24452D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0292" y="3742229"/>
                  <a:ext cx="2083132" cy="809626"/>
                </a:xfrm>
                <a:prstGeom prst="chevron">
                  <a:avLst>
                    <a:gd name="adj" fmla="val 32399"/>
                  </a:avLst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Graphic 20" descr="Open book with solid fill">
              <a:extLst>
                <a:ext uri="{FF2B5EF4-FFF2-40B4-BE49-F238E27FC236}">
                  <a16:creationId xmlns:a16="http://schemas.microsoft.com/office/drawing/2014/main" id="{AF3096EB-9D38-467F-E1E9-81B26366C0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660403" y="3967042"/>
              <a:ext cx="360000" cy="3600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AC60EB-5250-F75A-FA6A-62A88DFA7BB2}"/>
              </a:ext>
            </a:extLst>
          </p:cNvPr>
          <p:cNvGrpSpPr/>
          <p:nvPr/>
        </p:nvGrpSpPr>
        <p:grpSpPr>
          <a:xfrm>
            <a:off x="5054433" y="4244069"/>
            <a:ext cx="2083132" cy="809626"/>
            <a:chOff x="4390292" y="3742229"/>
            <a:chExt cx="2083132" cy="809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Arrow: Chevron 22">
                  <a:extLst>
                    <a:ext uri="{FF2B5EF4-FFF2-40B4-BE49-F238E27FC236}">
                      <a16:creationId xmlns:a16="http://schemas.microsoft.com/office/drawing/2014/main" id="{93E5B7AF-4CE1-56B2-2427-C6A2BF74552E}"/>
                    </a:ext>
                  </a:extLst>
                </p:cNvPr>
                <p:cNvSpPr/>
                <p:nvPr/>
              </p:nvSpPr>
              <p:spPr>
                <a:xfrm>
                  <a:off x="4390292" y="3742229"/>
                  <a:ext cx="2083132" cy="809626"/>
                </a:xfrm>
                <a:prstGeom prst="chevron">
                  <a:avLst>
                    <a:gd name="adj" fmla="val 32399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0" rIns="0" rtlCol="0" anchor="ctr"/>
                <a:lstStyle/>
                <a:p>
                  <a:pPr algn="ctr"/>
                  <a:r>
                    <a:rPr lang="en-SE" sz="1200" dirty="0">
                      <a:solidFill>
                        <a:schemeClr val="tx1"/>
                      </a:solidFill>
                    </a:rPr>
                    <a:t>communicating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=12/5,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=3,  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=6 </m:t>
                        </m:r>
                        <m:sSub>
                          <m:sSubPr>
                            <m:ctrlP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S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=8)</m:t>
                        </m:r>
                      </m:oMath>
                    </m:oMathPara>
                  </a14:m>
                  <a:endParaRPr lang="en-SE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Arrow: Chevron 22">
                  <a:extLst>
                    <a:ext uri="{FF2B5EF4-FFF2-40B4-BE49-F238E27FC236}">
                      <a16:creationId xmlns:a16="http://schemas.microsoft.com/office/drawing/2014/main" id="{93E5B7AF-4CE1-56B2-2427-C6A2BF7455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0292" y="3742229"/>
                  <a:ext cx="2083132" cy="809626"/>
                </a:xfrm>
                <a:prstGeom prst="chevron">
                  <a:avLst>
                    <a:gd name="adj" fmla="val 32399"/>
                  </a:avLst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" name="Graphic 23" descr="Open book with solid fill">
              <a:extLst>
                <a:ext uri="{FF2B5EF4-FFF2-40B4-BE49-F238E27FC236}">
                  <a16:creationId xmlns:a16="http://schemas.microsoft.com/office/drawing/2014/main" id="{A1456B16-27FB-F9E9-DAB4-FF688A17C4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660403" y="3967042"/>
              <a:ext cx="360000" cy="360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BB1551-1C22-0756-6C18-7DCF4CA206A2}"/>
              </a:ext>
            </a:extLst>
          </p:cNvPr>
          <p:cNvGrpSpPr/>
          <p:nvPr/>
        </p:nvGrpSpPr>
        <p:grpSpPr>
          <a:xfrm>
            <a:off x="974640" y="4244069"/>
            <a:ext cx="1547937" cy="809626"/>
            <a:chOff x="1082181" y="2955925"/>
            <a:chExt cx="1617128" cy="809626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0AF99CD-9A5C-CA42-2C2A-396FBBC4E68D}"/>
                </a:ext>
              </a:extLst>
            </p:cNvPr>
            <p:cNvSpPr/>
            <p:nvPr/>
          </p:nvSpPr>
          <p:spPr>
            <a:xfrm>
              <a:off x="1082181" y="2955925"/>
              <a:ext cx="1617128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r>
                <a:rPr lang="en-SE" sz="1200" noProof="0" dirty="0">
                  <a:solidFill>
                    <a:sysClr val="windowText" lastClr="000000"/>
                  </a:solidFill>
                </a:rPr>
                <a:t>Customer</a:t>
              </a:r>
            </a:p>
            <a:p>
              <a:pPr algn="ctr"/>
              <a:r>
                <a:rPr lang="en-SE" sz="1200" dirty="0">
                  <a:solidFill>
                    <a:sysClr val="windowText" lastClr="000000"/>
                  </a:solidFill>
                </a:rPr>
                <a:t>(</a:t>
              </a:r>
              <a:r>
                <a:rPr lang="en-SE" sz="1200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sz="1200" dirty="0">
                  <a:solidFill>
                    <a:sysClr val="windowText" lastClr="000000"/>
                  </a:solidFill>
                </a:rPr>
                <a:t> = 0.8)</a:t>
              </a:r>
              <a:endParaRPr lang="en-US" sz="1200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CCA10F8D-1FC9-C680-20FD-418CC88A92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34386" y="3172692"/>
              <a:ext cx="376092" cy="376091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9158A7-C5E8-74EA-8FC2-EBFF42A90D57}"/>
              </a:ext>
            </a:extLst>
          </p:cNvPr>
          <p:cNvGrpSpPr/>
          <p:nvPr/>
        </p:nvGrpSpPr>
        <p:grpSpPr>
          <a:xfrm>
            <a:off x="3191234" y="3067016"/>
            <a:ext cx="1547937" cy="809626"/>
            <a:chOff x="1219200" y="2955926"/>
            <a:chExt cx="1617128" cy="809626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FFCE681-5D43-5879-2121-3BD815A5A572}"/>
                </a:ext>
              </a:extLst>
            </p:cNvPr>
            <p:cNvSpPr/>
            <p:nvPr/>
          </p:nvSpPr>
          <p:spPr>
            <a:xfrm>
              <a:off x="1219200" y="2955926"/>
              <a:ext cx="1617128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r>
                <a:rPr lang="en-SE" sz="1200" noProof="0" dirty="0">
                  <a:solidFill>
                    <a:sysClr val="windowText" lastClr="000000"/>
                  </a:solidFill>
                </a:rPr>
                <a:t>Requirements Engineer</a:t>
              </a:r>
            </a:p>
            <a:p>
              <a:pPr algn="ctr"/>
              <a:r>
                <a:rPr lang="en-SE" sz="1200" dirty="0">
                  <a:solidFill>
                    <a:sysClr val="windowText" lastClr="000000"/>
                  </a:solidFill>
                </a:rPr>
                <a:t>(</a:t>
              </a:r>
              <a:r>
                <a:rPr lang="en-SE" sz="1200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sz="1200" dirty="0">
                  <a:solidFill>
                    <a:sysClr val="windowText" lastClr="000000"/>
                  </a:solidFill>
                </a:rPr>
                <a:t> = 0.74)</a:t>
              </a:r>
              <a:endParaRPr lang="en-US" sz="1200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0" name="Graphic 29" descr="User with solid fill">
              <a:extLst>
                <a:ext uri="{FF2B5EF4-FFF2-40B4-BE49-F238E27FC236}">
                  <a16:creationId xmlns:a16="http://schemas.microsoft.com/office/drawing/2014/main" id="{88A2FA05-1FB6-3A26-EB58-DABDF2D292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71405" y="3172693"/>
              <a:ext cx="376092" cy="376091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7BB4A72-C5FC-F9E8-003A-B1D130302306}"/>
              </a:ext>
            </a:extLst>
          </p:cNvPr>
          <p:cNvGrpSpPr/>
          <p:nvPr/>
        </p:nvGrpSpPr>
        <p:grpSpPr>
          <a:xfrm>
            <a:off x="7362111" y="3067016"/>
            <a:ext cx="1547937" cy="809626"/>
            <a:chOff x="1219200" y="2955926"/>
            <a:chExt cx="1617128" cy="80962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50D7D19-FA7F-DC4E-3B76-0DC04EE9E6EE}"/>
                </a:ext>
              </a:extLst>
            </p:cNvPr>
            <p:cNvSpPr/>
            <p:nvPr/>
          </p:nvSpPr>
          <p:spPr>
            <a:xfrm>
              <a:off x="1219200" y="2955926"/>
              <a:ext cx="1617128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r>
                <a:rPr lang="en-SE" sz="1200" noProof="0" dirty="0">
                  <a:solidFill>
                    <a:sysClr val="windowText" lastClr="000000"/>
                  </a:solidFill>
                </a:rPr>
                <a:t>Requirements Specification</a:t>
              </a:r>
            </a:p>
            <a:p>
              <a:pPr algn="ctr"/>
              <a:r>
                <a:rPr lang="en-SE" sz="1200" dirty="0">
                  <a:solidFill>
                    <a:sysClr val="windowText" lastClr="000000"/>
                  </a:solidFill>
                </a:rPr>
                <a:t>(</a:t>
              </a:r>
              <a:r>
                <a:rPr lang="en-SE" sz="1200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sz="1200" dirty="0">
                  <a:solidFill>
                    <a:sysClr val="windowText" lastClr="000000"/>
                  </a:solidFill>
                </a:rPr>
                <a:t> = 0.59)</a:t>
              </a:r>
              <a:endParaRPr lang="en-US" sz="1200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3" name="Graphic 32" descr="Database with solid fill">
              <a:extLst>
                <a:ext uri="{FF2B5EF4-FFF2-40B4-BE49-F238E27FC236}">
                  <a16:creationId xmlns:a16="http://schemas.microsoft.com/office/drawing/2014/main" id="{77FC2F8D-54BD-6E38-BD0B-D407469F3E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271405" y="3180738"/>
              <a:ext cx="376092" cy="3600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000751-CB2C-4C07-9DD1-FBDF3F16B632}"/>
              </a:ext>
            </a:extLst>
          </p:cNvPr>
          <p:cNvGrpSpPr/>
          <p:nvPr/>
        </p:nvGrpSpPr>
        <p:grpSpPr>
          <a:xfrm>
            <a:off x="9320524" y="4244069"/>
            <a:ext cx="1547937" cy="809626"/>
            <a:chOff x="1219200" y="2955926"/>
            <a:chExt cx="1617128" cy="80962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4C81B88-A9E5-2F16-1D3A-EECF3016103F}"/>
                </a:ext>
              </a:extLst>
            </p:cNvPr>
            <p:cNvSpPr/>
            <p:nvPr/>
          </p:nvSpPr>
          <p:spPr>
            <a:xfrm>
              <a:off x="1219200" y="2955926"/>
              <a:ext cx="1617128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r>
                <a:rPr lang="en-SE" sz="1200" noProof="0" dirty="0">
                  <a:solidFill>
                    <a:sysClr val="windowText" lastClr="000000"/>
                  </a:solidFill>
                </a:rPr>
                <a:t>Developer</a:t>
              </a:r>
            </a:p>
            <a:p>
              <a:pPr algn="ctr"/>
              <a:r>
                <a:rPr lang="en-SE" sz="1200" dirty="0">
                  <a:solidFill>
                    <a:sysClr val="windowText" lastClr="000000"/>
                  </a:solidFill>
                </a:rPr>
                <a:t>(</a:t>
              </a:r>
              <a:r>
                <a:rPr lang="en-SE" sz="1200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sz="1200" dirty="0">
                  <a:solidFill>
                    <a:sysClr val="windowText" lastClr="000000"/>
                  </a:solidFill>
                </a:rPr>
                <a:t> =</a:t>
              </a:r>
              <a:r>
                <a:rPr lang="en-SE" sz="1200" dirty="0">
                  <a:solidFill>
                    <a:srgbClr val="56ABC3"/>
                  </a:solidFill>
                </a:rPr>
                <a:t>0.24</a:t>
              </a:r>
              <a:r>
                <a:rPr lang="en-SE" sz="1200" dirty="0">
                  <a:solidFill>
                    <a:sysClr val="windowText" lastClr="000000"/>
                  </a:solidFill>
                </a:rPr>
                <a:t>/</a:t>
              </a:r>
              <a:r>
                <a:rPr lang="en-SE" sz="1200" dirty="0">
                  <a:solidFill>
                    <a:srgbClr val="CD0741"/>
                  </a:solidFill>
                </a:rPr>
                <a:t>0.61</a:t>
              </a:r>
              <a:r>
                <a:rPr lang="en-SE" sz="1200" dirty="0">
                  <a:solidFill>
                    <a:sysClr val="windowText" lastClr="000000"/>
                  </a:solidFill>
                </a:rPr>
                <a:t>)</a:t>
              </a:r>
              <a:endParaRPr lang="en-US" sz="1200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6" name="Graphic 35" descr="Database with solid fill">
              <a:extLst>
                <a:ext uri="{FF2B5EF4-FFF2-40B4-BE49-F238E27FC236}">
                  <a16:creationId xmlns:a16="http://schemas.microsoft.com/office/drawing/2014/main" id="{F63B368F-C0CD-43D2-180F-E5C2AA6BC5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271405" y="3180738"/>
              <a:ext cx="376092" cy="360000"/>
            </a:xfrm>
            <a:prstGeom prst="rect">
              <a:avLst/>
            </a:prstGeom>
          </p:spPr>
        </p:pic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437EDAF-FDDB-8D2F-F91A-926EF5567703}"/>
              </a:ext>
            </a:extLst>
          </p:cNvPr>
          <p:cNvCxnSpPr>
            <a:stCxn id="26" idx="0"/>
            <a:endCxn id="6" idx="2"/>
          </p:cNvCxnSpPr>
          <p:nvPr/>
        </p:nvCxnSpPr>
        <p:spPr>
          <a:xfrm flipV="1">
            <a:off x="1748609" y="3876642"/>
            <a:ext cx="0" cy="367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08C14E2-D689-24EF-74E5-B63A514E7CC1}"/>
              </a:ext>
            </a:extLst>
          </p:cNvPr>
          <p:cNvCxnSpPr>
            <a:cxnSpLocks/>
            <a:stCxn id="6" idx="3"/>
            <a:endCxn id="29" idx="1"/>
          </p:cNvCxnSpPr>
          <p:nvPr/>
        </p:nvCxnSpPr>
        <p:spPr>
          <a:xfrm>
            <a:off x="2921330" y="3471829"/>
            <a:ext cx="269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5BF7CE9-6850-A891-8E88-D2AF1B093BD1}"/>
              </a:ext>
            </a:extLst>
          </p:cNvPr>
          <p:cNvCxnSpPr>
            <a:cxnSpLocks/>
            <a:stCxn id="29" idx="3"/>
            <a:endCxn id="17" idx="1"/>
          </p:cNvCxnSpPr>
          <p:nvPr/>
        </p:nvCxnSpPr>
        <p:spPr>
          <a:xfrm>
            <a:off x="4739171" y="3471829"/>
            <a:ext cx="5322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734EA0-4168-CF3F-5093-65454D7900B2}"/>
              </a:ext>
            </a:extLst>
          </p:cNvPr>
          <p:cNvCxnSpPr>
            <a:cxnSpLocks/>
            <a:stCxn id="17" idx="3"/>
            <a:endCxn id="32" idx="1"/>
          </p:cNvCxnSpPr>
          <p:nvPr/>
        </p:nvCxnSpPr>
        <p:spPr>
          <a:xfrm>
            <a:off x="7092207" y="3471829"/>
            <a:ext cx="269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5D06334-ED1E-5DE8-F019-7C6C5AF7A509}"/>
              </a:ext>
            </a:extLst>
          </p:cNvPr>
          <p:cNvCxnSpPr>
            <a:cxnSpLocks/>
            <a:stCxn id="32" idx="3"/>
            <a:endCxn id="20" idx="1"/>
          </p:cNvCxnSpPr>
          <p:nvPr/>
        </p:nvCxnSpPr>
        <p:spPr>
          <a:xfrm>
            <a:off x="8910048" y="3471829"/>
            <a:ext cx="5322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056FF0E-E865-7EBC-2B2B-43EBD0EA3BD6}"/>
              </a:ext>
            </a:extLst>
          </p:cNvPr>
          <p:cNvCxnSpPr>
            <a:cxnSpLocks/>
            <a:stCxn id="26" idx="3"/>
            <a:endCxn id="23" idx="1"/>
          </p:cNvCxnSpPr>
          <p:nvPr/>
        </p:nvCxnSpPr>
        <p:spPr>
          <a:xfrm>
            <a:off x="2522577" y="4648882"/>
            <a:ext cx="27941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AE10413-42FB-D24B-8220-3B2DDF26566B}"/>
              </a:ext>
            </a:extLst>
          </p:cNvPr>
          <p:cNvCxnSpPr>
            <a:cxnSpLocks/>
            <a:stCxn id="23" idx="3"/>
            <a:endCxn id="35" idx="1"/>
          </p:cNvCxnSpPr>
          <p:nvPr/>
        </p:nvCxnSpPr>
        <p:spPr>
          <a:xfrm>
            <a:off x="7137565" y="4648882"/>
            <a:ext cx="21829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24A0864-7016-6853-03A8-519C5D653E66}"/>
              </a:ext>
            </a:extLst>
          </p:cNvPr>
          <p:cNvCxnSpPr>
            <a:cxnSpLocks/>
            <a:stCxn id="20" idx="2"/>
            <a:endCxn id="35" idx="0"/>
          </p:cNvCxnSpPr>
          <p:nvPr/>
        </p:nvCxnSpPr>
        <p:spPr>
          <a:xfrm>
            <a:off x="10090364" y="3876642"/>
            <a:ext cx="4129" cy="367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40FF8D92-0A33-C820-FF2B-116CB4D8771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901" r="77427" b="76063"/>
          <a:stretch>
            <a:fillRect/>
          </a:stretch>
        </p:blipFill>
        <p:spPr>
          <a:xfrm>
            <a:off x="615325" y="1665188"/>
            <a:ext cx="2266565" cy="125917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299CAE0-25CC-03C7-77D3-F3F164E481F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9934" t="1024" r="39573" b="76063"/>
          <a:stretch>
            <a:fillRect/>
          </a:stretch>
        </p:blipFill>
        <p:spPr>
          <a:xfrm>
            <a:off x="4739171" y="1704890"/>
            <a:ext cx="2246959" cy="120527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AD81815-BBE7-2075-CBA9-E3379DD1A77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8541" b="75682"/>
          <a:stretch>
            <a:fillRect/>
          </a:stretch>
        </p:blipFill>
        <p:spPr>
          <a:xfrm>
            <a:off x="9000972" y="1645117"/>
            <a:ext cx="2352828" cy="1279246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5FBF6AB6-D6A4-B837-51BC-78CF380DB16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415" t="68250" r="79425" b="12488"/>
          <a:stretch>
            <a:fillRect/>
          </a:stretch>
        </p:blipFill>
        <p:spPr>
          <a:xfrm>
            <a:off x="613858" y="5186695"/>
            <a:ext cx="2100649" cy="1013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3B41F1-50A0-A15C-C137-FB2C17F550C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0087" t="68881" r="27066" b="-123"/>
          <a:stretch>
            <a:fillRect/>
          </a:stretch>
        </p:blipFill>
        <p:spPr>
          <a:xfrm>
            <a:off x="4170557" y="5085704"/>
            <a:ext cx="3601525" cy="164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49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EFBC5-E9C3-1719-7D3F-7162593E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6750-5510-79F1-51DF-A9C68847A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60FB8-91C0-9E21-C95B-FD3D3F8E9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E73FCC-DD65-3F5D-A7F7-1C719D2F5BD6}"/>
              </a:ext>
            </a:extLst>
          </p:cNvPr>
          <p:cNvGrpSpPr/>
          <p:nvPr/>
        </p:nvGrpSpPr>
        <p:grpSpPr>
          <a:xfrm>
            <a:off x="1928446" y="1855656"/>
            <a:ext cx="2705596" cy="929704"/>
            <a:chOff x="2209800" y="1986659"/>
            <a:chExt cx="2705596" cy="9297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8367A0-701A-D059-1990-6665E8E3DE65}"/>
                </a:ext>
              </a:extLst>
            </p:cNvPr>
            <p:cNvGrpSpPr/>
            <p:nvPr/>
          </p:nvGrpSpPr>
          <p:grpSpPr>
            <a:xfrm>
              <a:off x="3907211" y="1986659"/>
              <a:ext cx="1008185" cy="569302"/>
              <a:chOff x="1219200" y="2955926"/>
              <a:chExt cx="1008185" cy="56930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6EC20E0A-21E6-82EA-BE5C-AE921E2189AC}"/>
                  </a:ext>
                </a:extLst>
              </p:cNvPr>
              <p:cNvSpPr/>
              <p:nvPr/>
            </p:nvSpPr>
            <p:spPr>
              <a:xfrm>
                <a:off x="1219200" y="2955926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8" name="Graphic 7" descr="Database with solid fill">
                <a:extLst>
                  <a:ext uri="{FF2B5EF4-FFF2-40B4-BE49-F238E27FC236}">
                    <a16:creationId xmlns:a16="http://schemas.microsoft.com/office/drawing/2014/main" id="{90650410-E8E8-7D18-EB42-E53974BF3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752C648-C181-876E-509D-675E902729DD}"/>
                </a:ext>
              </a:extLst>
            </p:cNvPr>
            <p:cNvGrpSpPr/>
            <p:nvPr/>
          </p:nvGrpSpPr>
          <p:grpSpPr>
            <a:xfrm>
              <a:off x="2209800" y="1989791"/>
              <a:ext cx="1008185" cy="569302"/>
              <a:chOff x="1201615" y="2935941"/>
              <a:chExt cx="1008185" cy="569302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BBC37A5-3B20-58F2-66F9-36AE6892C256}"/>
                  </a:ext>
                </a:extLst>
              </p:cNvPr>
              <p:cNvSpPr/>
              <p:nvPr/>
            </p:nvSpPr>
            <p:spPr>
              <a:xfrm>
                <a:off x="1201615" y="2935941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1" name="Graphic 10" descr="User with solid fill">
                <a:extLst>
                  <a:ext uri="{FF2B5EF4-FFF2-40B4-BE49-F238E27FC236}">
                    <a16:creationId xmlns:a16="http://schemas.microsoft.com/office/drawing/2014/main" id="{3A18326E-1A2E-BFCA-040F-7F004100E3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0F987C9-705E-AD27-75F1-F62D371649B7}"/>
                </a:ext>
              </a:extLst>
            </p:cNvPr>
            <p:cNvSpPr/>
            <p:nvPr/>
          </p:nvSpPr>
          <p:spPr>
            <a:xfrm>
              <a:off x="2576735" y="2483343"/>
              <a:ext cx="746850" cy="43302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818610E-D616-5402-1005-A7E604B15927}"/>
                </a:ext>
              </a:extLst>
            </p:cNvPr>
            <p:cNvCxnSpPr>
              <a:cxnSpLocks/>
              <a:stCxn id="10" idx="3"/>
              <a:endCxn id="7" idx="1"/>
            </p:cNvCxnSpPr>
            <p:nvPr/>
          </p:nvCxnSpPr>
          <p:spPr>
            <a:xfrm flipV="1">
              <a:off x="3217985" y="2271310"/>
              <a:ext cx="689226" cy="3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A429DBD-0781-0EA8-4DB5-CB66C33FF39E}"/>
              </a:ext>
            </a:extLst>
          </p:cNvPr>
          <p:cNvSpPr txBox="1"/>
          <p:nvPr/>
        </p:nvSpPr>
        <p:spPr>
          <a:xfrm>
            <a:off x="1487613" y="2819326"/>
            <a:ext cx="3587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000" b="1" dirty="0"/>
              <a:t>Information as discrete, concrete particles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E004E62-1482-121D-D259-126E7FB5E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2181"/>
            <a:ext cx="4835769" cy="2664169"/>
          </a:xfrm>
        </p:spPr>
        <p:txBody>
          <a:bodyPr>
            <a:normAutofit/>
          </a:bodyPr>
          <a:lstStyle/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High granularity and specificity</a:t>
            </a:r>
          </a:p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Directly empirically grounded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en-SE" sz="2000" dirty="0"/>
              <a:t>Only retrospective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de-DE" sz="2000" dirty="0"/>
              <a:t>L</a:t>
            </a:r>
            <a:r>
              <a:rPr lang="en-SE" sz="2000" dirty="0"/>
              <a:t>ow generalizability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Useful for retrospective analyses (e.g., identifying bottlenecks)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Models requirements semantically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91E7F-48F6-9608-F0DD-D6E849E36045}"/>
              </a:ext>
            </a:extLst>
          </p:cNvPr>
          <p:cNvSpPr txBox="1">
            <a:spLocks/>
          </p:cNvSpPr>
          <p:nvPr/>
        </p:nvSpPr>
        <p:spPr>
          <a:xfrm>
            <a:off x="6192715" y="3692181"/>
            <a:ext cx="4835769" cy="2664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Generalizable and transferrable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en-SE" sz="2000" dirty="0"/>
              <a:t>Requires extensive empirical evidence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de-DE" sz="2000" dirty="0"/>
              <a:t>I</a:t>
            </a:r>
            <a:r>
              <a:rPr lang="en-SE" sz="2000" dirty="0" err="1"/>
              <a:t>mplies</a:t>
            </a:r>
            <a:r>
              <a:rPr lang="en-SE" sz="2000" dirty="0"/>
              <a:t> several mathematical assumptions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Useful for identifying optimal flows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Prospective analyses (e.g., simulation of change)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ABECC30-2848-75CF-5296-8822426164A9}"/>
              </a:ext>
            </a:extLst>
          </p:cNvPr>
          <p:cNvGrpSpPr/>
          <p:nvPr/>
        </p:nvGrpSpPr>
        <p:grpSpPr>
          <a:xfrm>
            <a:off x="6096000" y="1321939"/>
            <a:ext cx="4596106" cy="1106129"/>
            <a:chOff x="6096000" y="1321939"/>
            <a:chExt cx="4596106" cy="110612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AB258C2-8A38-FCA1-B2C4-00498DF2CC2B}"/>
                </a:ext>
              </a:extLst>
            </p:cNvPr>
            <p:cNvGrpSpPr/>
            <p:nvPr/>
          </p:nvGrpSpPr>
          <p:grpSpPr>
            <a:xfrm>
              <a:off x="6096000" y="1852546"/>
              <a:ext cx="4596106" cy="575522"/>
              <a:chOff x="6458755" y="1923184"/>
              <a:chExt cx="4596106" cy="57552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5EF1034-7884-9865-C190-718863509A10}"/>
                  </a:ext>
                </a:extLst>
              </p:cNvPr>
              <p:cNvGrpSpPr/>
              <p:nvPr/>
            </p:nvGrpSpPr>
            <p:grpSpPr>
              <a:xfrm>
                <a:off x="6458755" y="1929404"/>
                <a:ext cx="1008186" cy="569302"/>
                <a:chOff x="5390584" y="1033893"/>
                <a:chExt cx="1008186" cy="569302"/>
              </a:xfrm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87B17712-A19C-1346-3883-21404186FE7B}"/>
                    </a:ext>
                  </a:extLst>
                </p:cNvPr>
                <p:cNvSpPr/>
                <p:nvPr/>
              </p:nvSpPr>
              <p:spPr>
                <a:xfrm>
                  <a:off x="5390584" y="1033893"/>
                  <a:ext cx="1008186" cy="569302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92000" rtlCol="0" anchor="ctr"/>
                <a:lstStyle/>
                <a:p>
                  <a:pPr algn="ctr"/>
                  <a:endParaRPr lang="en-US" noProof="0" dirty="0">
                    <a:solidFill>
                      <a:sysClr val="windowText" lastClr="000000"/>
                    </a:solidFill>
                  </a:endParaRPr>
                </a:p>
              </p:txBody>
            </p:sp>
            <p:pic>
              <p:nvPicPr>
                <p:cNvPr id="28" name="Graphic 27" descr="User with solid fill">
                  <a:extLst>
                    <a:ext uri="{FF2B5EF4-FFF2-40B4-BE49-F238E27FC236}">
                      <a16:creationId xmlns:a16="http://schemas.microsoft.com/office/drawing/2014/main" id="{40528E7F-F544-3097-FB6A-42245A3A21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13261" y="1207892"/>
                  <a:ext cx="216000" cy="216000"/>
                </a:xfrm>
                <a:prstGeom prst="rect">
                  <a:avLst/>
                </a:prstGeom>
              </p:spPr>
            </p:pic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3B54BF3-FB05-7D3D-D90B-D0F9833F52C4}"/>
                  </a:ext>
                </a:extLst>
              </p:cNvPr>
              <p:cNvGrpSpPr/>
              <p:nvPr/>
            </p:nvGrpSpPr>
            <p:grpSpPr>
              <a:xfrm>
                <a:off x="10046676" y="1923184"/>
                <a:ext cx="1008185" cy="566170"/>
                <a:chOff x="1219200" y="2918089"/>
                <a:chExt cx="1008185" cy="566170"/>
              </a:xfrm>
            </p:grpSpPr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2BC081CD-3D9B-6401-86D7-A9FF2CFA09AA}"/>
                    </a:ext>
                  </a:extLst>
                </p:cNvPr>
                <p:cNvSpPr/>
                <p:nvPr/>
              </p:nvSpPr>
              <p:spPr>
                <a:xfrm>
                  <a:off x="1219200" y="2918089"/>
                  <a:ext cx="1008185" cy="566170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92000" rtlCol="0" anchor="ctr"/>
                <a:lstStyle/>
                <a:p>
                  <a:pPr algn="ctr"/>
                  <a:endParaRPr lang="en-US" noProof="0" dirty="0">
                    <a:solidFill>
                      <a:sysClr val="windowText" lastClr="000000"/>
                    </a:solidFill>
                  </a:endParaRPr>
                </a:p>
              </p:txBody>
            </p:sp>
            <p:pic>
              <p:nvPicPr>
                <p:cNvPr id="31" name="Graphic 30" descr="User with solid fill">
                  <a:extLst>
                    <a:ext uri="{FF2B5EF4-FFF2-40B4-BE49-F238E27FC236}">
                      <a16:creationId xmlns:a16="http://schemas.microsoft.com/office/drawing/2014/main" id="{A2C12205-3333-38C6-2B09-E5486FE3BD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8883" y="3092908"/>
                  <a:ext cx="216000" cy="216000"/>
                </a:xfrm>
                <a:prstGeom prst="rect">
                  <a:avLst/>
                </a:prstGeom>
              </p:spPr>
            </p:pic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66977241-3F88-EE12-AC72-A1BDA12934D3}"/>
                  </a:ext>
                </a:extLst>
              </p:cNvPr>
              <p:cNvGrpSpPr/>
              <p:nvPr/>
            </p:nvGrpSpPr>
            <p:grpSpPr>
              <a:xfrm>
                <a:off x="7907362" y="1926752"/>
                <a:ext cx="1793631" cy="569302"/>
                <a:chOff x="4390292" y="3742229"/>
                <a:chExt cx="1793631" cy="569302"/>
              </a:xfrm>
            </p:grpSpPr>
            <p:sp>
              <p:nvSpPr>
                <p:cNvPr id="33" name="Arrow: Chevron 32">
                  <a:extLst>
                    <a:ext uri="{FF2B5EF4-FFF2-40B4-BE49-F238E27FC236}">
                      <a16:creationId xmlns:a16="http://schemas.microsoft.com/office/drawing/2014/main" id="{76B0AEC3-0F8C-4D6D-52CE-BE5A6AB07C4A}"/>
                    </a:ext>
                  </a:extLst>
                </p:cNvPr>
                <p:cNvSpPr/>
                <p:nvPr/>
              </p:nvSpPr>
              <p:spPr>
                <a:xfrm>
                  <a:off x="4390292" y="3742229"/>
                  <a:ext cx="1793631" cy="569302"/>
                </a:xfrm>
                <a:prstGeom prst="chevron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92000" rtlCol="0" anchor="ctr"/>
                <a:lstStyle/>
                <a:p>
                  <a:pPr algn="ctr"/>
                  <a:endParaRPr lang="en-SE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34" name="Graphic 33" descr="Chat with solid fill">
                  <a:extLst>
                    <a:ext uri="{FF2B5EF4-FFF2-40B4-BE49-F238E27FC236}">
                      <a16:creationId xmlns:a16="http://schemas.microsoft.com/office/drawing/2014/main" id="{61CD5654-81C7-FB29-2CE1-E81FBF1A67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5975" y="3913480"/>
                  <a:ext cx="215999" cy="216000"/>
                </a:xfrm>
                <a:prstGeom prst="rect">
                  <a:avLst/>
                </a:prstGeom>
              </p:spPr>
            </p:pic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8C4F21A-93DC-2919-51FD-127CF61CCC2C}"/>
                  </a:ext>
                </a:extLst>
              </p:cNvPr>
              <p:cNvCxnSpPr>
                <a:cxnSpLocks/>
                <a:stCxn id="27" idx="3"/>
                <a:endCxn id="33" idx="1"/>
              </p:cNvCxnSpPr>
              <p:nvPr/>
            </p:nvCxnSpPr>
            <p:spPr>
              <a:xfrm flipV="1">
                <a:off x="7466941" y="2211403"/>
                <a:ext cx="725072" cy="265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EEDC831-7E51-F16E-8288-90B30C6794B7}"/>
                  </a:ext>
                </a:extLst>
              </p:cNvPr>
              <p:cNvCxnSpPr>
                <a:cxnSpLocks/>
                <a:stCxn id="33" idx="3"/>
                <a:endCxn id="30" idx="1"/>
              </p:cNvCxnSpPr>
              <p:nvPr/>
            </p:nvCxnSpPr>
            <p:spPr>
              <a:xfrm flipV="1">
                <a:off x="9700993" y="2206269"/>
                <a:ext cx="345683" cy="513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48" name="Graphic 47" descr="Hockey Stick Curve Graph with solid fill">
              <a:extLst>
                <a:ext uri="{FF2B5EF4-FFF2-40B4-BE49-F238E27FC236}">
                  <a16:creationId xmlns:a16="http://schemas.microsoft.com/office/drawing/2014/main" id="{7EE6D430-5133-880D-400A-8B98EAAAA8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06289" y="1321939"/>
              <a:ext cx="540000" cy="540000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C3CE8B2-A92B-E6E9-543A-4095984B83EF}"/>
              </a:ext>
            </a:extLst>
          </p:cNvPr>
          <p:cNvSpPr txBox="1"/>
          <p:nvPr/>
        </p:nvSpPr>
        <p:spPr>
          <a:xfrm>
            <a:off x="6582658" y="2710067"/>
            <a:ext cx="3587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000" b="1" dirty="0"/>
              <a:t>Information as continuous distributions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D4CC970F-EA7E-C382-71BE-CBCBE691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70481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FCFCBAF-0BE6-16C8-A21B-743C42F8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noProof="0" dirty="0"/>
              <a:t>Conclusion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BDC6F0-AFE2-CED1-9E3D-47B829E04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9D7B-A5CB-DFD8-EE33-59DA5F31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A7C974-C331-3957-95AE-5F3018311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07454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A1292-7F16-D87E-BCCA-79F5F664B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733B-067E-9278-6A6A-AEF37626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From Description to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ED7F3-B322-8DD4-7BE1-66CA97B9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071954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Modelling several RE contexts with discrete particles would allow us to abstract certain properties from 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2C0EF-A455-457D-EF13-EDE16B2B6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2026-08-19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F216-1368-C340-2598-BCED979EA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05B13A0-48E5-2592-5162-D8D559260114}"/>
              </a:ext>
            </a:extLst>
          </p:cNvPr>
          <p:cNvGrpSpPr/>
          <p:nvPr/>
        </p:nvGrpSpPr>
        <p:grpSpPr>
          <a:xfrm>
            <a:off x="838198" y="3661859"/>
            <a:ext cx="2917355" cy="818348"/>
            <a:chOff x="664045" y="3555535"/>
            <a:chExt cx="2917355" cy="81834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B433E2E-9A7A-0115-E39F-A7B0EEA91EC1}"/>
                </a:ext>
              </a:extLst>
            </p:cNvPr>
            <p:cNvGrpSpPr/>
            <p:nvPr/>
          </p:nvGrpSpPr>
          <p:grpSpPr>
            <a:xfrm>
              <a:off x="2573215" y="3555535"/>
              <a:ext cx="1008185" cy="569302"/>
              <a:chOff x="1219200" y="2955926"/>
              <a:chExt cx="1008185" cy="569302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F0811C11-1C4B-2655-DC20-4A0741DB6C6C}"/>
                  </a:ext>
                </a:extLst>
              </p:cNvPr>
              <p:cNvSpPr/>
              <p:nvPr/>
            </p:nvSpPr>
            <p:spPr>
              <a:xfrm>
                <a:off x="1219200" y="2955926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33" name="Graphic 32" descr="User with solid fill">
                <a:extLst>
                  <a:ext uri="{FF2B5EF4-FFF2-40B4-BE49-F238E27FC236}">
                    <a16:creationId xmlns:a16="http://schemas.microsoft.com/office/drawing/2014/main" id="{CE03703D-2C8F-EA1F-0385-AAB3026B50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5B3FD37-67E1-070C-B6B8-83B06048DA3A}"/>
                </a:ext>
              </a:extLst>
            </p:cNvPr>
            <p:cNvGrpSpPr/>
            <p:nvPr/>
          </p:nvGrpSpPr>
          <p:grpSpPr>
            <a:xfrm>
              <a:off x="875804" y="3558667"/>
              <a:ext cx="1008185" cy="569302"/>
              <a:chOff x="1201615" y="2935941"/>
              <a:chExt cx="1008185" cy="569302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E5B81CD0-3EA4-10AB-91C6-8FB87B074790}"/>
                  </a:ext>
                </a:extLst>
              </p:cNvPr>
              <p:cNvSpPr/>
              <p:nvPr/>
            </p:nvSpPr>
            <p:spPr>
              <a:xfrm>
                <a:off x="1201615" y="2935941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31" name="Graphic 30" descr="User with solid fill">
                <a:extLst>
                  <a:ext uri="{FF2B5EF4-FFF2-40B4-BE49-F238E27FC236}">
                    <a16:creationId xmlns:a16="http://schemas.microsoft.com/office/drawing/2014/main" id="{F582C808-0F4C-3D49-BFEA-3B7F467C13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7F4A09B-A785-2BA0-EE63-78D57AF7DA7F}"/>
                </a:ext>
              </a:extLst>
            </p:cNvPr>
            <p:cNvSpPr/>
            <p:nvPr/>
          </p:nvSpPr>
          <p:spPr>
            <a:xfrm>
              <a:off x="664045" y="3899537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0AA059C-85E4-F337-E311-B591EEC0695A}"/>
                </a:ext>
              </a:extLst>
            </p:cNvPr>
            <p:cNvCxnSpPr>
              <a:cxnSpLocks/>
              <a:stCxn id="30" idx="3"/>
              <a:endCxn id="32" idx="1"/>
            </p:cNvCxnSpPr>
            <p:nvPr/>
          </p:nvCxnSpPr>
          <p:spPr>
            <a:xfrm flipV="1">
              <a:off x="1883989" y="3840186"/>
              <a:ext cx="689226" cy="3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F323FFC-1CA5-23F4-7F58-0522177765EB}"/>
                </a:ext>
              </a:extLst>
            </p:cNvPr>
            <p:cNvSpPr/>
            <p:nvPr/>
          </p:nvSpPr>
          <p:spPr>
            <a:xfrm>
              <a:off x="837457" y="4095720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747741C-8CED-E053-ABAF-7690D5C6D8B3}"/>
                </a:ext>
              </a:extLst>
            </p:cNvPr>
            <p:cNvSpPr/>
            <p:nvPr/>
          </p:nvSpPr>
          <p:spPr>
            <a:xfrm>
              <a:off x="1134739" y="4157883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34013E4-A37F-850D-709A-36B701F0F8F8}"/>
                </a:ext>
              </a:extLst>
            </p:cNvPr>
            <p:cNvSpPr/>
            <p:nvPr/>
          </p:nvSpPr>
          <p:spPr>
            <a:xfrm>
              <a:off x="1432021" y="4124837"/>
              <a:ext cx="360000" cy="216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pic>
          <p:nvPicPr>
            <p:cNvPr id="41" name="Graphic 40" descr="Chat with solid fill">
              <a:extLst>
                <a:ext uri="{FF2B5EF4-FFF2-40B4-BE49-F238E27FC236}">
                  <a16:creationId xmlns:a16="http://schemas.microsoft.com/office/drawing/2014/main" id="{0C467995-F347-45B4-19FA-8EBBDC6DC4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65800" y="3578583"/>
              <a:ext cx="288000" cy="2880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3A9CE75-709D-3F6E-B209-6C0DA3ECAC29}"/>
              </a:ext>
            </a:extLst>
          </p:cNvPr>
          <p:cNvGrpSpPr/>
          <p:nvPr/>
        </p:nvGrpSpPr>
        <p:grpSpPr>
          <a:xfrm>
            <a:off x="6459786" y="3661859"/>
            <a:ext cx="1008185" cy="569302"/>
            <a:chOff x="1219200" y="2955926"/>
            <a:chExt cx="1008185" cy="569302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9C88BB8A-51A9-576A-EE71-BA9977DB3948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EF40D3DE-B957-EE60-81D7-F910F32950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8C8BFB-C392-3A84-DD07-C0737136945E}"/>
              </a:ext>
            </a:extLst>
          </p:cNvPr>
          <p:cNvGrpSpPr/>
          <p:nvPr/>
        </p:nvGrpSpPr>
        <p:grpSpPr>
          <a:xfrm>
            <a:off x="4762375" y="3664991"/>
            <a:ext cx="1008185" cy="569302"/>
            <a:chOff x="1201615" y="2935941"/>
            <a:chExt cx="1008185" cy="569302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E22A0CAF-CBEF-FCAC-D0DA-6D2353CEA98A}"/>
                </a:ext>
              </a:extLst>
            </p:cNvPr>
            <p:cNvSpPr/>
            <p:nvPr/>
          </p:nvSpPr>
          <p:spPr>
            <a:xfrm>
              <a:off x="1201615" y="2935941"/>
              <a:ext cx="1008185" cy="56930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FEDFD2F5-AF01-F2A2-A21A-61BA87DE6F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A2001548-37E2-082B-82E3-1CA27D7F1677}"/>
              </a:ext>
            </a:extLst>
          </p:cNvPr>
          <p:cNvSpPr/>
          <p:nvPr/>
        </p:nvSpPr>
        <p:spPr>
          <a:xfrm>
            <a:off x="4550616" y="4005861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C74FAD8-4224-03F1-98BC-905B7637850D}"/>
              </a:ext>
            </a:extLst>
          </p:cNvPr>
          <p:cNvCxnSpPr>
            <a:cxnSpLocks/>
            <a:stCxn id="52" idx="3"/>
            <a:endCxn id="54" idx="1"/>
          </p:cNvCxnSpPr>
          <p:nvPr/>
        </p:nvCxnSpPr>
        <p:spPr>
          <a:xfrm flipV="1">
            <a:off x="5770560" y="3946510"/>
            <a:ext cx="689226" cy="3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6781E19-DD34-D4A7-9F48-BEDA8519B9A9}"/>
              </a:ext>
            </a:extLst>
          </p:cNvPr>
          <p:cNvSpPr/>
          <p:nvPr/>
        </p:nvSpPr>
        <p:spPr>
          <a:xfrm>
            <a:off x="4724028" y="4202044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F39BB82-6057-299A-82D3-E312B6FDC799}"/>
              </a:ext>
            </a:extLst>
          </p:cNvPr>
          <p:cNvSpPr/>
          <p:nvPr/>
        </p:nvSpPr>
        <p:spPr>
          <a:xfrm>
            <a:off x="5021310" y="4264207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pic>
        <p:nvPicPr>
          <p:cNvPr id="51" name="Graphic 50" descr="Chat with solid fill">
            <a:extLst>
              <a:ext uri="{FF2B5EF4-FFF2-40B4-BE49-F238E27FC236}">
                <a16:creationId xmlns:a16="http://schemas.microsoft.com/office/drawing/2014/main" id="{86E06E05-9BC5-62E0-D3DC-D09F7FC777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2371" y="3684907"/>
            <a:ext cx="288000" cy="2880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CB9A3785-E541-023A-CBFC-6DDD083582C3}"/>
              </a:ext>
            </a:extLst>
          </p:cNvPr>
          <p:cNvGrpSpPr/>
          <p:nvPr/>
        </p:nvGrpSpPr>
        <p:grpSpPr>
          <a:xfrm>
            <a:off x="10172205" y="3661859"/>
            <a:ext cx="1008185" cy="569302"/>
            <a:chOff x="1219200" y="2955926"/>
            <a:chExt cx="1008185" cy="569302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F3765011-B822-C2AC-84EC-454868C34819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8" name="Graphic 67" descr="User with solid fill">
              <a:extLst>
                <a:ext uri="{FF2B5EF4-FFF2-40B4-BE49-F238E27FC236}">
                  <a16:creationId xmlns:a16="http://schemas.microsoft.com/office/drawing/2014/main" id="{F734BB24-BC75-F607-7CDD-30A999D95B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E2BF400-C114-B42D-2E2C-EEE7C67C557D}"/>
              </a:ext>
            </a:extLst>
          </p:cNvPr>
          <p:cNvGrpSpPr/>
          <p:nvPr/>
        </p:nvGrpSpPr>
        <p:grpSpPr>
          <a:xfrm>
            <a:off x="8474794" y="3664991"/>
            <a:ext cx="1008185" cy="569302"/>
            <a:chOff x="1201615" y="2935941"/>
            <a:chExt cx="1008185" cy="569302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2C21910B-BA04-965D-ACA1-FD8BA16831FB}"/>
                </a:ext>
              </a:extLst>
            </p:cNvPr>
            <p:cNvSpPr/>
            <p:nvPr/>
          </p:nvSpPr>
          <p:spPr>
            <a:xfrm>
              <a:off x="1201615" y="2935941"/>
              <a:ext cx="1008185" cy="56930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6" name="Graphic 65" descr="User with solid fill">
              <a:extLst>
                <a:ext uri="{FF2B5EF4-FFF2-40B4-BE49-F238E27FC236}">
                  <a16:creationId xmlns:a16="http://schemas.microsoft.com/office/drawing/2014/main" id="{886F37A0-449C-BFB3-02B4-34096B1CAA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03441E2E-2A3A-A85E-A4D5-04D620F7D107}"/>
              </a:ext>
            </a:extLst>
          </p:cNvPr>
          <p:cNvSpPr/>
          <p:nvPr/>
        </p:nvSpPr>
        <p:spPr>
          <a:xfrm>
            <a:off x="8263035" y="4005861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CD1AEC1-C4CA-5200-5759-AD62D5A4D01E}"/>
              </a:ext>
            </a:extLst>
          </p:cNvPr>
          <p:cNvCxnSpPr>
            <a:cxnSpLocks/>
            <a:stCxn id="65" idx="3"/>
            <a:endCxn id="67" idx="1"/>
          </p:cNvCxnSpPr>
          <p:nvPr/>
        </p:nvCxnSpPr>
        <p:spPr>
          <a:xfrm flipV="1">
            <a:off x="9482979" y="3946510"/>
            <a:ext cx="689226" cy="3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4A0CEC2-A008-0FF1-A8E4-BDCECF5DB46E}"/>
              </a:ext>
            </a:extLst>
          </p:cNvPr>
          <p:cNvSpPr/>
          <p:nvPr/>
        </p:nvSpPr>
        <p:spPr>
          <a:xfrm>
            <a:off x="8436447" y="4202044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056C78B-6D61-60FB-572F-7A724665F054}"/>
              </a:ext>
            </a:extLst>
          </p:cNvPr>
          <p:cNvSpPr/>
          <p:nvPr/>
        </p:nvSpPr>
        <p:spPr>
          <a:xfrm>
            <a:off x="8733729" y="4264207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5E0E4DF-CB8A-A780-4071-DC3C6031732F}"/>
              </a:ext>
            </a:extLst>
          </p:cNvPr>
          <p:cNvSpPr/>
          <p:nvPr/>
        </p:nvSpPr>
        <p:spPr>
          <a:xfrm>
            <a:off x="9031011" y="4231161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pic>
        <p:nvPicPr>
          <p:cNvPr id="64" name="Graphic 63" descr="Chat with solid fill">
            <a:extLst>
              <a:ext uri="{FF2B5EF4-FFF2-40B4-BE49-F238E27FC236}">
                <a16:creationId xmlns:a16="http://schemas.microsoft.com/office/drawing/2014/main" id="{9B30BD82-27B2-01A8-FBD4-C70B4E3611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4790" y="3684907"/>
            <a:ext cx="288000" cy="288000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D1B1F3F2-C28A-BAE5-80F7-1D41171C01A2}"/>
              </a:ext>
            </a:extLst>
          </p:cNvPr>
          <p:cNvGrpSpPr/>
          <p:nvPr/>
        </p:nvGrpSpPr>
        <p:grpSpPr>
          <a:xfrm>
            <a:off x="6459785" y="2712598"/>
            <a:ext cx="1008185" cy="569302"/>
            <a:chOff x="1219200" y="2955926"/>
            <a:chExt cx="1008185" cy="569302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31E66F4-51F2-6881-3DE2-1ABE4AD0D0AC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rgbClr val="E1D5FF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1" name="Graphic 70" descr="User with solid fill">
              <a:extLst>
                <a:ext uri="{FF2B5EF4-FFF2-40B4-BE49-F238E27FC236}">
                  <a16:creationId xmlns:a16="http://schemas.microsoft.com/office/drawing/2014/main" id="{D09FAE52-591C-42AF-96C4-8D6BC92EE5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53163F5-8B8F-8051-4311-AEC73327AF1A}"/>
              </a:ext>
            </a:extLst>
          </p:cNvPr>
          <p:cNvCxnSpPr>
            <a:cxnSpLocks/>
            <a:stCxn id="70" idx="2"/>
            <a:endCxn id="54" idx="0"/>
          </p:cNvCxnSpPr>
          <p:nvPr/>
        </p:nvCxnSpPr>
        <p:spPr>
          <a:xfrm>
            <a:off x="6963878" y="3281900"/>
            <a:ext cx="1" cy="379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6" name="Graphic 75" descr="Chat with solid fill">
            <a:extLst>
              <a:ext uri="{FF2B5EF4-FFF2-40B4-BE49-F238E27FC236}">
                <a16:creationId xmlns:a16="http://schemas.microsoft.com/office/drawing/2014/main" id="{59BDBAB0-741E-509C-B833-8EBA02950C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3999" y="3326205"/>
            <a:ext cx="288000" cy="288000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0923D500-DE3F-3D05-54F0-8E97B438A900}"/>
              </a:ext>
            </a:extLst>
          </p:cNvPr>
          <p:cNvGrpSpPr/>
          <p:nvPr/>
        </p:nvGrpSpPr>
        <p:grpSpPr>
          <a:xfrm>
            <a:off x="10172205" y="2700403"/>
            <a:ext cx="1008185" cy="569302"/>
            <a:chOff x="1219200" y="2955926"/>
            <a:chExt cx="1008185" cy="569302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829B83F-9A93-5F9F-8EE1-7B362AD6B1E0}"/>
                </a:ext>
              </a:extLst>
            </p:cNvPr>
            <p:cNvSpPr/>
            <p:nvPr/>
          </p:nvSpPr>
          <p:spPr>
            <a:xfrm>
              <a:off x="1219200" y="2955926"/>
              <a:ext cx="1008185" cy="569302"/>
            </a:xfrm>
            <a:prstGeom prst="roundRect">
              <a:avLst/>
            </a:prstGeom>
            <a:solidFill>
              <a:srgbClr val="E1D5FF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9" name="Graphic 78" descr="Database with solid fill">
              <a:extLst>
                <a:ext uri="{FF2B5EF4-FFF2-40B4-BE49-F238E27FC236}">
                  <a16:creationId xmlns:a16="http://schemas.microsoft.com/office/drawing/2014/main" id="{CAB06D84-473D-7B86-9C88-A3E963B6B8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52550" y="3122974"/>
              <a:ext cx="216000" cy="216000"/>
            </a:xfrm>
            <a:prstGeom prst="rect">
              <a:avLst/>
            </a:prstGeom>
          </p:spPr>
        </p:pic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B7BF076-16B4-A7A3-E3CA-7F4F30B1953D}"/>
              </a:ext>
            </a:extLst>
          </p:cNvPr>
          <p:cNvCxnSpPr>
            <a:cxnSpLocks/>
            <a:stCxn id="78" idx="2"/>
            <a:endCxn id="67" idx="0"/>
          </p:cNvCxnSpPr>
          <p:nvPr/>
        </p:nvCxnSpPr>
        <p:spPr>
          <a:xfrm>
            <a:off x="10676298" y="3269705"/>
            <a:ext cx="0" cy="39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1" name="Graphic 80" descr="Open envelope with solid fill">
            <a:extLst>
              <a:ext uri="{FF2B5EF4-FFF2-40B4-BE49-F238E27FC236}">
                <a16:creationId xmlns:a16="http://schemas.microsoft.com/office/drawing/2014/main" id="{76E75D39-D282-B6A4-4DD4-CA2DD454B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757591" y="3314010"/>
            <a:ext cx="288000" cy="288000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E91969E-EF2B-773C-8ECE-D650E47B0DA8}"/>
              </a:ext>
            </a:extLst>
          </p:cNvPr>
          <p:cNvSpPr/>
          <p:nvPr/>
        </p:nvSpPr>
        <p:spPr>
          <a:xfrm>
            <a:off x="6549662" y="3198436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9293906-2BFD-99C5-C105-686CF8DEFEA2}"/>
              </a:ext>
            </a:extLst>
          </p:cNvPr>
          <p:cNvSpPr/>
          <p:nvPr/>
        </p:nvSpPr>
        <p:spPr>
          <a:xfrm>
            <a:off x="10275652" y="3242010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95262E7-5E50-C6CE-EED2-B3A3F4BFE300}"/>
              </a:ext>
            </a:extLst>
          </p:cNvPr>
          <p:cNvSpPr/>
          <p:nvPr/>
        </p:nvSpPr>
        <p:spPr>
          <a:xfrm>
            <a:off x="9998795" y="3144120"/>
            <a:ext cx="360000" cy="216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07D6C7E5-5B8B-DAC7-FAB5-5033F7959FAF}"/>
              </a:ext>
            </a:extLst>
          </p:cNvPr>
          <p:cNvSpPr/>
          <p:nvPr/>
        </p:nvSpPr>
        <p:spPr>
          <a:xfrm rot="5400000">
            <a:off x="5886102" y="-603784"/>
            <a:ext cx="337438" cy="1059795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392A59-0844-DAB3-153B-3BA9AD6DB358}"/>
              </a:ext>
            </a:extLst>
          </p:cNvPr>
          <p:cNvGrpSpPr/>
          <p:nvPr/>
        </p:nvGrpSpPr>
        <p:grpSpPr>
          <a:xfrm>
            <a:off x="1712180" y="5033775"/>
            <a:ext cx="2362200" cy="809626"/>
            <a:chOff x="1219200" y="2955926"/>
            <a:chExt cx="2362200" cy="80962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DAF35FC-85FA-A19F-1ECC-65DAE0B9366F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  <a:endParaRPr lang="en-SE" noProof="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SE" dirty="0">
                  <a:solidFill>
                    <a:sysClr val="windowText" lastClr="000000"/>
                  </a:solidFill>
                </a:rPr>
                <a:t>(</a:t>
              </a:r>
              <a:r>
                <a:rPr lang="en-SE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dirty="0">
                  <a:solidFill>
                    <a:sysClr val="windowText" lastClr="000000"/>
                  </a:solidFill>
                </a:rPr>
                <a:t> = 0.8)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Graphic 13" descr="User with solid fill">
              <a:extLst>
                <a:ext uri="{FF2B5EF4-FFF2-40B4-BE49-F238E27FC236}">
                  <a16:creationId xmlns:a16="http://schemas.microsoft.com/office/drawing/2014/main" id="{A96B1867-00E0-9E48-C2A2-C391127984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1AC3338-87AF-2D45-5C8E-782926872584}"/>
              </a:ext>
            </a:extLst>
          </p:cNvPr>
          <p:cNvGrpSpPr/>
          <p:nvPr/>
        </p:nvGrpSpPr>
        <p:grpSpPr>
          <a:xfrm>
            <a:off x="8164014" y="5033775"/>
            <a:ext cx="2362200" cy="809626"/>
            <a:chOff x="1219200" y="2955926"/>
            <a:chExt cx="2362200" cy="80962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6433CFE-9D93-4112-15BE-9040EC352B6D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</a:p>
            <a:p>
              <a:pPr algn="ctr"/>
              <a:r>
                <a:rPr lang="en-SE" dirty="0">
                  <a:solidFill>
                    <a:sysClr val="windowText" lastClr="000000"/>
                  </a:solidFill>
                </a:rPr>
                <a:t>(</a:t>
              </a:r>
              <a:r>
                <a:rPr lang="en-SE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dirty="0">
                  <a:solidFill>
                    <a:sysClr val="windowText" lastClr="000000"/>
                  </a:solidFill>
                </a:rPr>
                <a:t> = 0.6)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5C4ADE1C-BF9E-04CC-668D-E238A10453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C740EE5-62BD-0E33-C7E0-BE1E92536C4A}"/>
              </a:ext>
            </a:extLst>
          </p:cNvPr>
          <p:cNvGrpSpPr/>
          <p:nvPr/>
        </p:nvGrpSpPr>
        <p:grpSpPr>
          <a:xfrm>
            <a:off x="4413489" y="5033776"/>
            <a:ext cx="3411416" cy="809626"/>
            <a:chOff x="4390292" y="3742229"/>
            <a:chExt cx="3411416" cy="809626"/>
          </a:xfrm>
        </p:grpSpPr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39209059-52EF-C522-74BE-DA034AB8CF6B}"/>
                </a:ext>
              </a:extLst>
            </p:cNvPr>
            <p:cNvSpPr/>
            <p:nvPr/>
          </p:nvSpPr>
          <p:spPr>
            <a:xfrm>
              <a:off x="4390292" y="3742229"/>
              <a:ext cx="3411416" cy="809626"/>
            </a:xfrm>
            <a:prstGeom prst="chevron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i</a:t>
              </a:r>
              <a:r>
                <a:rPr lang="en-SE" dirty="0" err="1">
                  <a:solidFill>
                    <a:schemeClr val="tx1"/>
                  </a:solidFill>
                </a:rPr>
                <a:t>nterviewing</a:t>
              </a:r>
              <a:endParaRPr lang="en-SE" dirty="0">
                <a:solidFill>
                  <a:schemeClr val="tx1"/>
                </a:solidFill>
              </a:endParaRPr>
            </a:p>
          </p:txBody>
        </p:sp>
        <p:pic>
          <p:nvPicPr>
            <p:cNvPr id="20" name="Graphic 19" descr="Chat with solid fill">
              <a:extLst>
                <a:ext uri="{FF2B5EF4-FFF2-40B4-BE49-F238E27FC236}">
                  <a16:creationId xmlns:a16="http://schemas.microsoft.com/office/drawing/2014/main" id="{3B6E9AD9-C4CB-350D-A822-7A9A58876A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08685" y="3831854"/>
              <a:ext cx="720000" cy="720000"/>
            </a:xfrm>
            <a:prstGeom prst="rect">
              <a:avLst/>
            </a:prstGeom>
          </p:spPr>
        </p:pic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E1BAF4-0217-5318-D6A6-779914D9FB6C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4074380" y="5438588"/>
            <a:ext cx="743922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CD503D-A937-7E5C-86BE-C6B9ECE5BB88}"/>
              </a:ext>
            </a:extLst>
          </p:cNvPr>
          <p:cNvCxnSpPr>
            <a:cxnSpLocks/>
            <a:stCxn id="19" idx="3"/>
            <a:endCxn id="16" idx="1"/>
          </p:cNvCxnSpPr>
          <p:nvPr/>
        </p:nvCxnSpPr>
        <p:spPr>
          <a:xfrm flipV="1">
            <a:off x="7824905" y="5438588"/>
            <a:ext cx="33910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628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A9EF-5C8B-AD01-5C30-93777B2F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F8C0A-60F4-3981-2D23-D80570D4B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noProof="0" dirty="0"/>
              <a:t>Considering requirements engineering as information flow has the potential to resolve anomalies observed in requirements quality, but the current formalizations are just scaffolding. </a:t>
            </a:r>
          </a:p>
          <a:p>
            <a:pPr marL="0" indent="0">
              <a:buNone/>
            </a:pPr>
            <a:r>
              <a:rPr lang="en-SE" noProof="0" dirty="0"/>
              <a:t>It remains to be solved how to model</a:t>
            </a:r>
          </a:p>
          <a:p>
            <a:r>
              <a:rPr lang="en-SE" noProof="0" dirty="0"/>
              <a:t>information merging,</a:t>
            </a:r>
          </a:p>
          <a:p>
            <a:r>
              <a:rPr lang="en-SE" dirty="0"/>
              <a:t>iterations and change over time,</a:t>
            </a:r>
          </a:p>
          <a:p>
            <a:r>
              <a:rPr lang="en-SE" noProof="0" dirty="0"/>
              <a:t>decay and retention of information, </a:t>
            </a:r>
          </a:p>
          <a:p>
            <a:r>
              <a:rPr lang="en-SE" dirty="0"/>
              <a:t>...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F3602-D9A4-DE03-B2E5-4CB11B3F6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2026-08-19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2FA05-F53B-EE6A-B532-58C1CD27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34943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2E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28ABB83-2805-A558-4F99-157A12F04ED1}"/>
              </a:ext>
            </a:extLst>
          </p:cNvPr>
          <p:cNvSpPr txBox="1"/>
          <p:nvPr/>
        </p:nvSpPr>
        <p:spPr>
          <a:xfrm>
            <a:off x="566058" y="318339"/>
            <a:ext cx="96240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noProof="0" dirty="0">
                <a:solidFill>
                  <a:schemeClr val="bg1"/>
                </a:solidFill>
              </a:rPr>
              <a:t>Requirements are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E28BE-35F5-7AEC-C4EB-D8AB066F246D}"/>
              </a:ext>
            </a:extLst>
          </p:cNvPr>
          <p:cNvSpPr txBox="1"/>
          <p:nvPr/>
        </p:nvSpPr>
        <p:spPr>
          <a:xfrm>
            <a:off x="584941" y="1269218"/>
            <a:ext cx="81333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chemeClr val="bg1"/>
                </a:solidFill>
              </a:rPr>
              <a:t>and the purpose of RE is to </a:t>
            </a:r>
            <a:r>
              <a:rPr lang="en-US" sz="2800" i="1" noProof="0" dirty="0">
                <a:solidFill>
                  <a:schemeClr val="bg1"/>
                </a:solidFill>
              </a:rPr>
              <a:t>transfer</a:t>
            </a:r>
            <a:r>
              <a:rPr lang="en-US" sz="2800" noProof="0" dirty="0">
                <a:solidFill>
                  <a:schemeClr val="bg1"/>
                </a:solidFill>
              </a:rPr>
              <a:t> that information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2E441-4D04-C9A3-0E5C-56657289C63D}"/>
              </a:ext>
            </a:extLst>
          </p:cNvPr>
          <p:cNvSpPr txBox="1"/>
          <p:nvPr/>
        </p:nvSpPr>
        <p:spPr>
          <a:xfrm>
            <a:off x="943533" y="1893162"/>
            <a:ext cx="3476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noProof="0" dirty="0">
                <a:solidFill>
                  <a:schemeClr val="bg1"/>
                </a:solidFill>
              </a:rPr>
              <a:t>from its </a:t>
            </a:r>
            <a:r>
              <a:rPr lang="en-US" sz="3600" b="1" noProof="0" dirty="0">
                <a:solidFill>
                  <a:schemeClr val="bg1"/>
                </a:solidFill>
              </a:rPr>
              <a:t>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8A251D-6E91-CF13-9331-92A6397E7FFB}"/>
              </a:ext>
            </a:extLst>
          </p:cNvPr>
          <p:cNvSpPr txBox="1"/>
          <p:nvPr/>
        </p:nvSpPr>
        <p:spPr>
          <a:xfrm>
            <a:off x="7868916" y="1891735"/>
            <a:ext cx="326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solidFill>
                  <a:schemeClr val="bg1"/>
                </a:solidFill>
              </a:rPr>
              <a:t>to its </a:t>
            </a:r>
            <a:r>
              <a:rPr lang="en-US" sz="3600" b="1" noProof="0" dirty="0">
                <a:solidFill>
                  <a:schemeClr val="bg1"/>
                </a:solidFill>
              </a:rPr>
              <a:t>targets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CFB89C-3652-5FC9-B68C-C138785FF819}"/>
              </a:ext>
            </a:extLst>
          </p:cNvPr>
          <p:cNvSpPr txBox="1"/>
          <p:nvPr/>
        </p:nvSpPr>
        <p:spPr>
          <a:xfrm>
            <a:off x="566058" y="5192278"/>
            <a:ext cx="11045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noProof="0" dirty="0">
                <a:solidFill>
                  <a:schemeClr val="bg1"/>
                </a:solidFill>
              </a:rPr>
              <a:t>Requirements Engineering Quality = effectiveness and efficiency of the information flow.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5E89A-825A-1289-B20E-61F6ACE4D31A}"/>
              </a:ext>
            </a:extLst>
          </p:cNvPr>
          <p:cNvSpPr txBox="1"/>
          <p:nvPr/>
        </p:nvSpPr>
        <p:spPr>
          <a:xfrm>
            <a:off x="566058" y="4795297"/>
            <a:ext cx="1322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As such,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E280A5-3E4C-C7E3-D468-4AE54AA09CB5}"/>
              </a:ext>
            </a:extLst>
          </p:cNvPr>
          <p:cNvGrpSpPr/>
          <p:nvPr/>
        </p:nvGrpSpPr>
        <p:grpSpPr>
          <a:xfrm>
            <a:off x="1846893" y="2664579"/>
            <a:ext cx="2140075" cy="648000"/>
            <a:chOff x="1846893" y="2737149"/>
            <a:chExt cx="2140075" cy="648000"/>
          </a:xfrm>
        </p:grpSpPr>
        <p:pic>
          <p:nvPicPr>
            <p:cNvPr id="25" name="Graphic 24" descr="User with solid fill">
              <a:extLst>
                <a:ext uri="{FF2B5EF4-FFF2-40B4-BE49-F238E27FC236}">
                  <a16:creationId xmlns:a16="http://schemas.microsoft.com/office/drawing/2014/main" id="{734A133E-080F-3140-7810-0CC1AC14A2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38968" y="2737149"/>
              <a:ext cx="648000" cy="648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9B80F72-5D40-7F04-41A1-390238DE9FC1}"/>
                </a:ext>
              </a:extLst>
            </p:cNvPr>
            <p:cNvSpPr txBox="1"/>
            <p:nvPr/>
          </p:nvSpPr>
          <p:spPr>
            <a:xfrm>
              <a:off x="1846893" y="2876483"/>
              <a:ext cx="1492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chemeClr val="bg1"/>
                  </a:solidFill>
                </a:rPr>
                <a:t>Stakeholders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B5FFFA-0FB2-18F2-A6AB-B2A4332794BF}"/>
              </a:ext>
            </a:extLst>
          </p:cNvPr>
          <p:cNvGrpSpPr/>
          <p:nvPr/>
        </p:nvGrpSpPr>
        <p:grpSpPr>
          <a:xfrm>
            <a:off x="1582077" y="3289893"/>
            <a:ext cx="2404891" cy="648000"/>
            <a:chOff x="1582077" y="3440000"/>
            <a:chExt cx="2404891" cy="648000"/>
          </a:xfrm>
        </p:grpSpPr>
        <p:pic>
          <p:nvPicPr>
            <p:cNvPr id="21" name="Graphic 20" descr="Dinosaur Head Skeleton with solid fill">
              <a:extLst>
                <a:ext uri="{FF2B5EF4-FFF2-40B4-BE49-F238E27FC236}">
                  <a16:creationId xmlns:a16="http://schemas.microsoft.com/office/drawing/2014/main" id="{D0CCC5FD-0A3F-5632-0ADB-B140105824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38968" y="3440000"/>
              <a:ext cx="648000" cy="6480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EBB029-05DA-D8DA-5578-7DBED9917908}"/>
                </a:ext>
              </a:extLst>
            </p:cNvPr>
            <p:cNvSpPr txBox="1"/>
            <p:nvPr/>
          </p:nvSpPr>
          <p:spPr>
            <a:xfrm>
              <a:off x="1582077" y="3579334"/>
              <a:ext cx="17568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chemeClr val="bg1"/>
                  </a:solidFill>
                </a:rPr>
                <a:t>Legacy systems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7E06E0-CFB1-B377-B20A-0E1264BB125B}"/>
              </a:ext>
            </a:extLst>
          </p:cNvPr>
          <p:cNvGrpSpPr/>
          <p:nvPr/>
        </p:nvGrpSpPr>
        <p:grpSpPr>
          <a:xfrm>
            <a:off x="1149844" y="3908984"/>
            <a:ext cx="2837124" cy="648000"/>
            <a:chOff x="1149844" y="4136628"/>
            <a:chExt cx="2837124" cy="648000"/>
          </a:xfrm>
        </p:grpSpPr>
        <p:pic>
          <p:nvPicPr>
            <p:cNvPr id="23" name="Graphic 22" descr="Detective male with solid fill">
              <a:extLst>
                <a:ext uri="{FF2B5EF4-FFF2-40B4-BE49-F238E27FC236}">
                  <a16:creationId xmlns:a16="http://schemas.microsoft.com/office/drawing/2014/main" id="{613C49B8-9C4E-1E23-BBE1-255639D0F3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38968" y="4136628"/>
              <a:ext cx="648000" cy="6480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C77A605-A14E-6314-7A80-7E9FD4C777CD}"/>
                </a:ext>
              </a:extLst>
            </p:cNvPr>
            <p:cNvSpPr txBox="1"/>
            <p:nvPr/>
          </p:nvSpPr>
          <p:spPr>
            <a:xfrm>
              <a:off x="1149844" y="4276797"/>
              <a:ext cx="2189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chemeClr val="bg1"/>
                  </a:solidFill>
                </a:rPr>
                <a:t>Competitor analysis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B1D116-707B-971F-97FF-A15618205472}"/>
              </a:ext>
            </a:extLst>
          </p:cNvPr>
          <p:cNvGrpSpPr/>
          <p:nvPr/>
        </p:nvGrpSpPr>
        <p:grpSpPr>
          <a:xfrm>
            <a:off x="8142873" y="2664579"/>
            <a:ext cx="1557540" cy="648000"/>
            <a:chOff x="8143277" y="2737149"/>
            <a:chExt cx="1557540" cy="648000"/>
          </a:xfrm>
        </p:grpSpPr>
        <p:pic>
          <p:nvPicPr>
            <p:cNvPr id="19" name="Graphic 18" descr="Blueprint with solid fill">
              <a:extLst>
                <a:ext uri="{FF2B5EF4-FFF2-40B4-BE49-F238E27FC236}">
                  <a16:creationId xmlns:a16="http://schemas.microsoft.com/office/drawing/2014/main" id="{7B27FEF6-848D-E8F9-9CFC-719460FD54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43277" y="2737149"/>
              <a:ext cx="648000" cy="6480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E1B94B-4694-B79D-53FA-C500841B2945}"/>
                </a:ext>
              </a:extLst>
            </p:cNvPr>
            <p:cNvSpPr txBox="1"/>
            <p:nvPr/>
          </p:nvSpPr>
          <p:spPr>
            <a:xfrm>
              <a:off x="8830066" y="2876483"/>
              <a:ext cx="870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bg1"/>
                  </a:solidFill>
                </a:rPr>
                <a:t>Design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6B5A625-1F96-D16F-7E04-4A5DB01D1052}"/>
              </a:ext>
            </a:extLst>
          </p:cNvPr>
          <p:cNvGrpSpPr/>
          <p:nvPr/>
        </p:nvGrpSpPr>
        <p:grpSpPr>
          <a:xfrm>
            <a:off x="8142873" y="3289893"/>
            <a:ext cx="2463897" cy="648000"/>
            <a:chOff x="8142873" y="3440000"/>
            <a:chExt cx="2463897" cy="648000"/>
          </a:xfrm>
        </p:grpSpPr>
        <p:pic>
          <p:nvPicPr>
            <p:cNvPr id="17" name="Graphic 16" descr="Web design with solid fill">
              <a:extLst>
                <a:ext uri="{FF2B5EF4-FFF2-40B4-BE49-F238E27FC236}">
                  <a16:creationId xmlns:a16="http://schemas.microsoft.com/office/drawing/2014/main" id="{03AA1E4A-E479-5D0B-5FE8-CF5EF219CD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42873" y="3440000"/>
              <a:ext cx="648000" cy="6480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2EB376-91B3-40C5-C963-3530C7ADFECD}"/>
                </a:ext>
              </a:extLst>
            </p:cNvPr>
            <p:cNvSpPr txBox="1"/>
            <p:nvPr/>
          </p:nvSpPr>
          <p:spPr>
            <a:xfrm>
              <a:off x="8830065" y="3579334"/>
              <a:ext cx="1776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bg1"/>
                  </a:solidFill>
                </a:rPr>
                <a:t>Implementation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9F7891-A702-49F5-C647-859D00E82E54}"/>
              </a:ext>
            </a:extLst>
          </p:cNvPr>
          <p:cNvGrpSpPr/>
          <p:nvPr/>
        </p:nvGrpSpPr>
        <p:grpSpPr>
          <a:xfrm>
            <a:off x="8142873" y="3915207"/>
            <a:ext cx="1565381" cy="648000"/>
            <a:chOff x="8142873" y="4142851"/>
            <a:chExt cx="1565381" cy="648000"/>
          </a:xfrm>
        </p:grpSpPr>
        <p:pic>
          <p:nvPicPr>
            <p:cNvPr id="15" name="Graphic 14" descr="Clipboard Mixed with solid fill">
              <a:extLst>
                <a:ext uri="{FF2B5EF4-FFF2-40B4-BE49-F238E27FC236}">
                  <a16:creationId xmlns:a16="http://schemas.microsoft.com/office/drawing/2014/main" id="{0AE7BCAF-C442-23F5-E079-F8567EC52A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42873" y="4142851"/>
              <a:ext cx="648000" cy="6480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682EAF9-5490-6997-7140-113BF0FA3532}"/>
                </a:ext>
              </a:extLst>
            </p:cNvPr>
            <p:cNvSpPr txBox="1"/>
            <p:nvPr/>
          </p:nvSpPr>
          <p:spPr>
            <a:xfrm>
              <a:off x="8830065" y="4276797"/>
              <a:ext cx="8781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bg1"/>
                  </a:solidFill>
                </a:rPr>
                <a:t>Testing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A2FAA2-A88A-ED34-6C70-8EB1B8EA0793}"/>
              </a:ext>
            </a:extLst>
          </p:cNvPr>
          <p:cNvGrpSpPr/>
          <p:nvPr/>
        </p:nvGrpSpPr>
        <p:grpSpPr>
          <a:xfrm>
            <a:off x="3986968" y="2695496"/>
            <a:ext cx="4155905" cy="1748972"/>
            <a:chOff x="3986968" y="2695496"/>
            <a:chExt cx="4155905" cy="174897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8A612A7-70DF-00F2-E1F3-2D75EE9162BA}"/>
                </a:ext>
              </a:extLst>
            </p:cNvPr>
            <p:cNvSpPr/>
            <p:nvPr/>
          </p:nvSpPr>
          <p:spPr>
            <a:xfrm>
              <a:off x="4420319" y="2695496"/>
              <a:ext cx="3336842" cy="1748972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noProof="0" dirty="0"/>
                <a:t>Requirements Engineering</a:t>
              </a:r>
            </a:p>
          </p:txBody>
        </p:sp>
        <p:pic>
          <p:nvPicPr>
            <p:cNvPr id="40" name="Graphic 39" descr="Recycle with solid fill">
              <a:extLst>
                <a:ext uri="{FF2B5EF4-FFF2-40B4-BE49-F238E27FC236}">
                  <a16:creationId xmlns:a16="http://schemas.microsoft.com/office/drawing/2014/main" id="{5A7A142B-8997-BE39-17C2-F26F90AFB6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45300" y="3073893"/>
              <a:ext cx="432000" cy="432000"/>
            </a:xfrm>
            <a:prstGeom prst="rect">
              <a:avLst/>
            </a:prstGeom>
          </p:spPr>
        </p:pic>
        <p:pic>
          <p:nvPicPr>
            <p:cNvPr id="42" name="Graphic 41" descr="Filter with solid fill">
              <a:extLst>
                <a:ext uri="{FF2B5EF4-FFF2-40B4-BE49-F238E27FC236}">
                  <a16:creationId xmlns:a16="http://schemas.microsoft.com/office/drawing/2014/main" id="{BCAEF0FD-1EBD-F6CA-B662-D361BFBB99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7493" y="3388910"/>
              <a:ext cx="432000" cy="432000"/>
            </a:xfrm>
            <a:prstGeom prst="rect">
              <a:avLst/>
            </a:prstGeom>
          </p:spPr>
        </p:pic>
        <p:pic>
          <p:nvPicPr>
            <p:cNvPr id="44" name="Graphic 43" descr="Priorities with solid fill">
              <a:extLst>
                <a:ext uri="{FF2B5EF4-FFF2-40B4-BE49-F238E27FC236}">
                  <a16:creationId xmlns:a16="http://schemas.microsoft.com/office/drawing/2014/main" id="{1C68AC50-70A4-2B93-CC69-C94F9D05FB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99159" y="3961211"/>
              <a:ext cx="432000" cy="432000"/>
            </a:xfrm>
            <a:prstGeom prst="rect">
              <a:avLst/>
            </a:prstGeom>
          </p:spPr>
        </p:pic>
        <p:pic>
          <p:nvPicPr>
            <p:cNvPr id="46" name="Graphic 45" descr="Contract with solid fill">
              <a:extLst>
                <a:ext uri="{FF2B5EF4-FFF2-40B4-BE49-F238E27FC236}">
                  <a16:creationId xmlns:a16="http://schemas.microsoft.com/office/drawing/2014/main" id="{843DDE66-8CC0-FCF9-B02C-3A1338F559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629522" y="3961211"/>
              <a:ext cx="432000" cy="432000"/>
            </a:xfrm>
            <a:prstGeom prst="rect">
              <a:avLst/>
            </a:prstGeom>
          </p:spPr>
        </p:pic>
        <p:pic>
          <p:nvPicPr>
            <p:cNvPr id="48" name="Graphic 47" descr="Document with solid fill">
              <a:extLst>
                <a:ext uri="{FF2B5EF4-FFF2-40B4-BE49-F238E27FC236}">
                  <a16:creationId xmlns:a16="http://schemas.microsoft.com/office/drawing/2014/main" id="{1D5B573E-FB15-74F5-075A-7B17B0CB1C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62959" y="3388910"/>
              <a:ext cx="432000" cy="432000"/>
            </a:xfrm>
            <a:prstGeom prst="rect">
              <a:avLst/>
            </a:prstGeom>
          </p:spPr>
        </p:pic>
        <p:pic>
          <p:nvPicPr>
            <p:cNvPr id="50" name="Graphic 49" descr="Database with solid fill">
              <a:extLst>
                <a:ext uri="{FF2B5EF4-FFF2-40B4-BE49-F238E27FC236}">
                  <a16:creationId xmlns:a16="http://schemas.microsoft.com/office/drawing/2014/main" id="{8BF32422-D08F-3651-96DF-74F8312F33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581593" y="3394630"/>
              <a:ext cx="432000" cy="432000"/>
            </a:xfrm>
            <a:prstGeom prst="rect">
              <a:avLst/>
            </a:prstGeom>
          </p:spPr>
        </p:pic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B911A164-DE30-E189-C361-2CC433FB0DAC}"/>
                </a:ext>
              </a:extLst>
            </p:cNvPr>
            <p:cNvCxnSpPr>
              <a:cxnSpLocks/>
              <a:stCxn id="25" idx="3"/>
              <a:endCxn id="50" idx="1"/>
            </p:cNvCxnSpPr>
            <p:nvPr/>
          </p:nvCxnSpPr>
          <p:spPr>
            <a:xfrm>
              <a:off x="3986968" y="2988579"/>
              <a:ext cx="594625" cy="622051"/>
            </a:xfrm>
            <a:prstGeom prst="bent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0DD533A1-2571-7C69-B028-604DA33E439A}"/>
                </a:ext>
              </a:extLst>
            </p:cNvPr>
            <p:cNvCxnSpPr>
              <a:cxnSpLocks/>
              <a:stCxn id="23" idx="3"/>
              <a:endCxn id="50" idx="1"/>
            </p:cNvCxnSpPr>
            <p:nvPr/>
          </p:nvCxnSpPr>
          <p:spPr>
            <a:xfrm flipV="1">
              <a:off x="3986968" y="3610630"/>
              <a:ext cx="594625" cy="622354"/>
            </a:xfrm>
            <a:prstGeom prst="bent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B4BAEC8B-577E-2BD4-70ED-830CE269B2ED}"/>
                </a:ext>
              </a:extLst>
            </p:cNvPr>
            <p:cNvCxnSpPr>
              <a:cxnSpLocks/>
              <a:stCxn id="21" idx="3"/>
              <a:endCxn id="50" idx="1"/>
            </p:cNvCxnSpPr>
            <p:nvPr/>
          </p:nvCxnSpPr>
          <p:spPr>
            <a:xfrm flipV="1">
              <a:off x="3986968" y="3610630"/>
              <a:ext cx="594625" cy="3263"/>
            </a:xfrm>
            <a:prstGeom prst="bent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231EE8A7-8C63-8353-8A53-333ECD6D1A66}"/>
                </a:ext>
              </a:extLst>
            </p:cNvPr>
            <p:cNvCxnSpPr>
              <a:cxnSpLocks/>
              <a:stCxn id="44" idx="1"/>
              <a:endCxn id="50" idx="2"/>
            </p:cNvCxnSpPr>
            <p:nvPr/>
          </p:nvCxnSpPr>
          <p:spPr>
            <a:xfrm rot="10800000">
              <a:off x="4797593" y="3826631"/>
              <a:ext cx="501566" cy="350581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92A42999-5479-A2B7-DD9F-9E260D282D03}"/>
                </a:ext>
              </a:extLst>
            </p:cNvPr>
            <p:cNvCxnSpPr>
              <a:cxnSpLocks/>
              <a:stCxn id="50" idx="0"/>
              <a:endCxn id="40" idx="1"/>
            </p:cNvCxnSpPr>
            <p:nvPr/>
          </p:nvCxnSpPr>
          <p:spPr>
            <a:xfrm rot="5400000" flipH="1" flipV="1">
              <a:off x="5369078" y="2718409"/>
              <a:ext cx="104737" cy="1247707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F77202B8-2E57-20F8-F188-8BE520C14C72}"/>
                </a:ext>
              </a:extLst>
            </p:cNvPr>
            <p:cNvCxnSpPr>
              <a:cxnSpLocks/>
              <a:stCxn id="50" idx="3"/>
              <a:endCxn id="42" idx="1"/>
            </p:cNvCxnSpPr>
            <p:nvPr/>
          </p:nvCxnSpPr>
          <p:spPr>
            <a:xfrm flipV="1">
              <a:off x="5013593" y="3604910"/>
              <a:ext cx="283900" cy="572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: Elbow 69">
              <a:extLst>
                <a:ext uri="{FF2B5EF4-FFF2-40B4-BE49-F238E27FC236}">
                  <a16:creationId xmlns:a16="http://schemas.microsoft.com/office/drawing/2014/main" id="{D97E9735-29D4-7414-5E43-2919AEB36DC1}"/>
                </a:ext>
              </a:extLst>
            </p:cNvPr>
            <p:cNvCxnSpPr>
              <a:cxnSpLocks/>
              <a:stCxn id="42" idx="2"/>
              <a:endCxn id="44" idx="0"/>
            </p:cNvCxnSpPr>
            <p:nvPr/>
          </p:nvCxnSpPr>
          <p:spPr>
            <a:xfrm>
              <a:off x="5513493" y="3820910"/>
              <a:ext cx="1666" cy="14030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04A5274E-A3A7-E7AE-E8FB-5D93BC2E92F0}"/>
                </a:ext>
              </a:extLst>
            </p:cNvPr>
            <p:cNvCxnSpPr>
              <a:cxnSpLocks/>
              <a:stCxn id="40" idx="2"/>
              <a:endCxn id="46" idx="1"/>
            </p:cNvCxnSpPr>
            <p:nvPr/>
          </p:nvCxnSpPr>
          <p:spPr>
            <a:xfrm rot="16200000" flipH="1">
              <a:off x="6109752" y="3657441"/>
              <a:ext cx="671318" cy="368222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C409D72E-414E-9F67-9547-CA460C2D2D8D}"/>
                </a:ext>
              </a:extLst>
            </p:cNvPr>
            <p:cNvCxnSpPr>
              <a:cxnSpLocks/>
              <a:stCxn id="44" idx="3"/>
              <a:endCxn id="46" idx="1"/>
            </p:cNvCxnSpPr>
            <p:nvPr/>
          </p:nvCxnSpPr>
          <p:spPr>
            <a:xfrm>
              <a:off x="5731159" y="4177211"/>
              <a:ext cx="898363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C0D78D5B-8FB9-E74F-D9C6-E9FAB317A38D}"/>
                </a:ext>
              </a:extLst>
            </p:cNvPr>
            <p:cNvCxnSpPr>
              <a:cxnSpLocks/>
              <a:stCxn id="40" idx="3"/>
              <a:endCxn id="48" idx="0"/>
            </p:cNvCxnSpPr>
            <p:nvPr/>
          </p:nvCxnSpPr>
          <p:spPr>
            <a:xfrm>
              <a:off x="6477300" y="3289893"/>
              <a:ext cx="901659" cy="99017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17DC249B-E171-E63D-C124-303FC3B3E83F}"/>
                </a:ext>
              </a:extLst>
            </p:cNvPr>
            <p:cNvCxnSpPr>
              <a:cxnSpLocks/>
              <a:stCxn id="46" idx="3"/>
              <a:endCxn id="48" idx="2"/>
            </p:cNvCxnSpPr>
            <p:nvPr/>
          </p:nvCxnSpPr>
          <p:spPr>
            <a:xfrm flipV="1">
              <a:off x="7061522" y="3820910"/>
              <a:ext cx="317437" cy="356301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: Elbow 69">
              <a:extLst>
                <a:ext uri="{FF2B5EF4-FFF2-40B4-BE49-F238E27FC236}">
                  <a16:creationId xmlns:a16="http://schemas.microsoft.com/office/drawing/2014/main" id="{B04BCE2A-5229-E504-B1B8-680A0D33B730}"/>
                </a:ext>
              </a:extLst>
            </p:cNvPr>
            <p:cNvCxnSpPr>
              <a:cxnSpLocks/>
              <a:stCxn id="42" idx="3"/>
              <a:endCxn id="48" idx="1"/>
            </p:cNvCxnSpPr>
            <p:nvPr/>
          </p:nvCxnSpPr>
          <p:spPr>
            <a:xfrm>
              <a:off x="5729493" y="3604910"/>
              <a:ext cx="1433466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25D4AB44-19C8-AC98-3684-BC53B3DA2815}"/>
                </a:ext>
              </a:extLst>
            </p:cNvPr>
            <p:cNvCxnSpPr>
              <a:cxnSpLocks/>
              <a:stCxn id="48" idx="3"/>
              <a:endCxn id="19" idx="1"/>
            </p:cNvCxnSpPr>
            <p:nvPr/>
          </p:nvCxnSpPr>
          <p:spPr>
            <a:xfrm flipV="1">
              <a:off x="7594959" y="2988579"/>
              <a:ext cx="547914" cy="61633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AFFC6B7F-12EF-DAB6-1DFA-E607EE104958}"/>
                </a:ext>
              </a:extLst>
            </p:cNvPr>
            <p:cNvCxnSpPr>
              <a:cxnSpLocks/>
              <a:stCxn id="48" idx="3"/>
              <a:endCxn id="15" idx="1"/>
            </p:cNvCxnSpPr>
            <p:nvPr/>
          </p:nvCxnSpPr>
          <p:spPr>
            <a:xfrm>
              <a:off x="7594959" y="3604910"/>
              <a:ext cx="547914" cy="63429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or: Elbow 69">
              <a:extLst>
                <a:ext uri="{FF2B5EF4-FFF2-40B4-BE49-F238E27FC236}">
                  <a16:creationId xmlns:a16="http://schemas.microsoft.com/office/drawing/2014/main" id="{9A85C2B0-C40B-FF72-BC59-9A45086F21B9}"/>
                </a:ext>
              </a:extLst>
            </p:cNvPr>
            <p:cNvCxnSpPr>
              <a:cxnSpLocks/>
              <a:stCxn id="48" idx="3"/>
              <a:endCxn id="17" idx="1"/>
            </p:cNvCxnSpPr>
            <p:nvPr/>
          </p:nvCxnSpPr>
          <p:spPr>
            <a:xfrm>
              <a:off x="7594959" y="3604910"/>
              <a:ext cx="547914" cy="8983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0155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Chalmers">
      <a:dk1>
        <a:sysClr val="windowText" lastClr="000000"/>
      </a:dk1>
      <a:lt1>
        <a:srgbClr val="FFFFFF"/>
      </a:lt1>
      <a:dk2>
        <a:srgbClr val="003050"/>
      </a:dk2>
      <a:lt2>
        <a:srgbClr val="FFCB05"/>
      </a:lt2>
      <a:accent1>
        <a:srgbClr val="F15A22"/>
      </a:accent1>
      <a:accent2>
        <a:srgbClr val="7FB539"/>
      </a:accent2>
      <a:accent3>
        <a:srgbClr val="006C5C"/>
      </a:accent3>
      <a:accent4>
        <a:srgbClr val="5D6F7A"/>
      </a:accent4>
      <a:accent5>
        <a:srgbClr val="58B0E3"/>
      </a:accent5>
      <a:accent6>
        <a:srgbClr val="270089"/>
      </a:accent6>
      <a:hlink>
        <a:srgbClr val="00A99D"/>
      </a:hlink>
      <a:folHlink>
        <a:srgbClr val="48372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1724</Words>
  <Application>Microsoft Office PowerPoint</Application>
  <PresentationFormat>Widescreen</PresentationFormat>
  <Paragraphs>345</Paragraphs>
  <Slides>28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Information is all you need:</vt:lpstr>
      <vt:lpstr>Requirements Quality Research</vt:lpstr>
      <vt:lpstr>Observed Inconsistencies</vt:lpstr>
      <vt:lpstr>Research Philosophy: Kuhn’s Paradigms</vt:lpstr>
      <vt:lpstr>Information-centric RE</vt:lpstr>
      <vt:lpstr>Information-Centric Requirements Engineering</vt:lpstr>
      <vt:lpstr>Information-Centric Requirements Engineering</vt:lpstr>
      <vt:lpstr>Information-Centric Requirements Engineering</vt:lpstr>
      <vt:lpstr>Information-Centric Requirements Engineering</vt:lpstr>
      <vt:lpstr>Resolving the Anomaly</vt:lpstr>
      <vt:lpstr>Resolving the Anomaly</vt:lpstr>
      <vt:lpstr>Application</vt:lpstr>
      <vt:lpstr>Modelling RE as Information Flow</vt:lpstr>
      <vt:lpstr>Use Case: Modelling Information Merge</vt:lpstr>
      <vt:lpstr>Use Case: Modelling Information Merge</vt:lpstr>
      <vt:lpstr>Use Case: Modelling Information Merge</vt:lpstr>
      <vt:lpstr>Modelling RE as Information Flow</vt:lpstr>
      <vt:lpstr>From Description to Inference</vt:lpstr>
      <vt:lpstr>From Description to Inference</vt:lpstr>
      <vt:lpstr>Modelling RE as Information Flow</vt:lpstr>
      <vt:lpstr>Modelling RE as Information Flow</vt:lpstr>
      <vt:lpstr>Modelling RE as Information Flow</vt:lpstr>
      <vt:lpstr>Modelling RE as Information Flow</vt:lpstr>
      <vt:lpstr>Modelling RE as Information Flow</vt:lpstr>
      <vt:lpstr>Conclusion</vt:lpstr>
      <vt:lpstr>From Description to Inference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Frattini</dc:creator>
  <cp:lastModifiedBy>Julian Frattini</cp:lastModifiedBy>
  <cp:revision>45</cp:revision>
  <dcterms:created xsi:type="dcterms:W3CDTF">2025-05-23T14:20:09Z</dcterms:created>
  <dcterms:modified xsi:type="dcterms:W3CDTF">2026-07-23T13:20:25Z</dcterms:modified>
</cp:coreProperties>
</file>