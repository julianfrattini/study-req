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59" r:id="rId4"/>
    <p:sldId id="279" r:id="rId5"/>
    <p:sldId id="260" r:id="rId6"/>
    <p:sldId id="269" r:id="rId7"/>
    <p:sldId id="261" r:id="rId8"/>
    <p:sldId id="271" r:id="rId9"/>
    <p:sldId id="272" r:id="rId10"/>
    <p:sldId id="273" r:id="rId11"/>
    <p:sldId id="262" r:id="rId12"/>
    <p:sldId id="280" r:id="rId13"/>
    <p:sldId id="274" r:id="rId14"/>
    <p:sldId id="265" r:id="rId15"/>
    <p:sldId id="275" r:id="rId16"/>
    <p:sldId id="276" r:id="rId17"/>
    <p:sldId id="277" r:id="rId18"/>
    <p:sldId id="278" r:id="rId19"/>
    <p:sldId id="270" r:id="rId20"/>
    <p:sldId id="267" r:id="rId21"/>
    <p:sldId id="268" r:id="rId22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CC29449-0C4D-440C-A898-37D5FC755553}">
          <p14:sldIdLst>
            <p14:sldId id="256"/>
            <p14:sldId id="258"/>
            <p14:sldId id="259"/>
            <p14:sldId id="279"/>
            <p14:sldId id="260"/>
          </p14:sldIdLst>
        </p14:section>
        <p14:section name="Information-centric RE" id="{ECD3AEAA-E0B0-4A55-A38A-A7BB2E04A859}">
          <p14:sldIdLst>
            <p14:sldId id="269"/>
            <p14:sldId id="261"/>
            <p14:sldId id="271"/>
            <p14:sldId id="272"/>
            <p14:sldId id="273"/>
            <p14:sldId id="262"/>
            <p14:sldId id="280"/>
            <p14:sldId id="274"/>
            <p14:sldId id="265"/>
            <p14:sldId id="275"/>
            <p14:sldId id="276"/>
            <p14:sldId id="277"/>
            <p14:sldId id="278"/>
          </p14:sldIdLst>
        </p14:section>
        <p14:section name="Conclusion" id="{1C5421DB-76E3-472E-A40F-F42F457B8670}">
          <p14:sldIdLst>
            <p14:sldId id="270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F12"/>
    <a:srgbClr val="ED7122"/>
    <a:srgbClr val="6B56D6"/>
    <a:srgbClr val="472E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3" autoAdjust="0"/>
    <p:restoredTop sz="78935" autoAdjust="0"/>
  </p:normalViewPr>
  <p:slideViewPr>
    <p:cSldViewPr snapToGrid="0">
      <p:cViewPr varScale="1">
        <p:scale>
          <a:sx n="65" d="100"/>
          <a:sy n="65" d="100"/>
        </p:scale>
        <p:origin x="79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028809-A3C0-435B-AC12-B9138744A337}" type="datetimeFigureOut">
              <a:rPr lang="en-SE" smtClean="0"/>
              <a:t>2026-05-28</a:t>
            </a:fld>
            <a:endParaRPr lang="en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EE9047-6757-432F-B3C4-B9B79F30218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165615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Status quo in requirements quality research: artifact-centric</a:t>
            </a:r>
          </a:p>
          <a:p>
            <a:r>
              <a:rPr lang="en-SE" dirty="0"/>
              <a:t>Looks good and sounds plausible, but there are still issues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2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021096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dirty="0"/>
              <a:t>Sometimes we observe that the model/theory does not hold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dirty="0"/>
              <a:t>Despite a “perfect” requirements specification (and a formal process), requirements artifacts are sometimes circumvented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SE" dirty="0"/>
              <a:t>Observed anomaly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3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35050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A8D4B-4B10-EBAE-2A38-714FD23C1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DADE75-AC3A-23C6-B09B-3D2B4D696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B1FA3B-19DC-81FF-FAD5-54672DABBB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dirty="0"/>
              <a:t>Sometimes we observe that the model/theory does not hold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dirty="0"/>
              <a:t>Despite a “perfect” requirements specification (and a formal process), requirements artifacts are sometimes circumvented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SE" dirty="0"/>
              <a:t>Observed anomaly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47767-7FBB-2C23-7719-1BA9AA54D9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4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213492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SE" dirty="0"/>
              <a:t>Paradigm: defines what counts as legitimate questions and valid answers (e.g., Newtonian mechanics)</a:t>
            </a:r>
          </a:p>
          <a:p>
            <a:pPr marL="228600" indent="-228600">
              <a:buFont typeface="+mj-lt"/>
              <a:buAutoNum type="arabicPeriod"/>
            </a:pPr>
            <a:r>
              <a:rPr lang="en-SE" dirty="0"/>
              <a:t>Normal science: productive scientific work within the framework defined by the paradigm</a:t>
            </a:r>
          </a:p>
          <a:p>
            <a:pPr marL="228600" indent="-228600">
              <a:buFont typeface="+mj-lt"/>
              <a:buAutoNum type="arabicPeriod"/>
            </a:pPr>
            <a:r>
              <a:rPr lang="en-SE" dirty="0"/>
              <a:t>Anomalies: results that do not fit the paradigm</a:t>
            </a:r>
          </a:p>
          <a:p>
            <a:pPr marL="228600" indent="-228600">
              <a:buFont typeface="+mj-lt"/>
              <a:buAutoNum type="arabicPeriod"/>
            </a:pPr>
            <a:r>
              <a:rPr lang="en-SE" dirty="0"/>
              <a:t>Crisis: anomalies that resist resolution</a:t>
            </a:r>
          </a:p>
          <a:p>
            <a:pPr marL="228600" indent="-228600">
              <a:buFont typeface="+mj-lt"/>
              <a:buAutoNum type="arabicPeriod"/>
            </a:pPr>
            <a:r>
              <a:rPr lang="en-SE" dirty="0"/>
              <a:t>Revolution: replacing an existing paradigm with a new one</a:t>
            </a:r>
          </a:p>
          <a:p>
            <a:pPr marL="0" indent="0">
              <a:buFont typeface="+mj-lt"/>
              <a:buNone/>
            </a:pPr>
            <a:endParaRPr lang="en-SE" dirty="0"/>
          </a:p>
          <a:p>
            <a:pPr marL="0" indent="0">
              <a:buFont typeface="+mj-lt"/>
              <a:buNone/>
            </a:pPr>
            <a:r>
              <a:rPr lang="en-SE" dirty="0"/>
              <a:t>New paradigm is </a:t>
            </a:r>
            <a:r>
              <a:rPr lang="en-SE" b="1" dirty="0"/>
              <a:t>incommensurable</a:t>
            </a:r>
            <a:r>
              <a:rPr lang="en-SE" b="0" dirty="0"/>
              <a:t> with the old one</a:t>
            </a:r>
            <a:endParaRPr lang="en-S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5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4942306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Principle: </a:t>
            </a:r>
            <a:r>
              <a:rPr lang="en-SE" dirty="0" err="1"/>
              <a:t>requireme</a:t>
            </a:r>
            <a:r>
              <a:rPr lang="de-DE" dirty="0" err="1"/>
              <a:t>nt</a:t>
            </a:r>
            <a:r>
              <a:rPr lang="en-SE" dirty="0"/>
              <a:t>s are information</a:t>
            </a:r>
          </a:p>
          <a:p>
            <a:r>
              <a:rPr lang="en-SE" dirty="0"/>
              <a:t>Information particle</a:t>
            </a:r>
          </a:p>
          <a:p>
            <a:r>
              <a:rPr lang="de-DE" dirty="0"/>
              <a:t>I</a:t>
            </a:r>
            <a:r>
              <a:rPr lang="en-SE" dirty="0" err="1"/>
              <a:t>nformation</a:t>
            </a:r>
            <a:r>
              <a:rPr lang="en-SE" dirty="0"/>
              <a:t> storage</a:t>
            </a:r>
          </a:p>
          <a:p>
            <a:r>
              <a:rPr lang="de-DE" dirty="0"/>
              <a:t>I</a:t>
            </a:r>
            <a:r>
              <a:rPr lang="en-SE" dirty="0" err="1"/>
              <a:t>nformation</a:t>
            </a:r>
            <a:r>
              <a:rPr lang="en-SE" dirty="0"/>
              <a:t> transfer</a:t>
            </a:r>
          </a:p>
          <a:p>
            <a:r>
              <a:rPr lang="en-SE" dirty="0"/>
              <a:t>Information flow</a:t>
            </a:r>
          </a:p>
          <a:p>
            <a:pPr marL="0" indent="0">
              <a:buNone/>
            </a:pPr>
            <a:r>
              <a:rPr lang="en-SE" dirty="0"/>
              <a:t>-&gt; The quality of requirements engineering = effectiveness and efficiency of the information flow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7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0930226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68AA9-A2A6-2624-AA67-0F5BDA3DB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5592C1-C4F1-F92B-C378-C17E63E1E9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50C9C4-0F8D-424B-1B42-761DA7AD7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Principle: </a:t>
            </a:r>
            <a:r>
              <a:rPr lang="en-SE" dirty="0" err="1"/>
              <a:t>requireme</a:t>
            </a:r>
            <a:r>
              <a:rPr lang="de-DE" dirty="0" err="1"/>
              <a:t>nt</a:t>
            </a:r>
            <a:r>
              <a:rPr lang="en-SE" dirty="0"/>
              <a:t>s are information</a:t>
            </a:r>
          </a:p>
          <a:p>
            <a:r>
              <a:rPr lang="en-SE" dirty="0"/>
              <a:t>Information particle</a:t>
            </a:r>
          </a:p>
          <a:p>
            <a:r>
              <a:rPr lang="de-DE" dirty="0"/>
              <a:t>I</a:t>
            </a:r>
            <a:r>
              <a:rPr lang="en-SE" dirty="0" err="1"/>
              <a:t>nformation</a:t>
            </a:r>
            <a:r>
              <a:rPr lang="en-SE" dirty="0"/>
              <a:t> storage</a:t>
            </a:r>
          </a:p>
          <a:p>
            <a:r>
              <a:rPr lang="de-DE" dirty="0"/>
              <a:t>I</a:t>
            </a:r>
            <a:r>
              <a:rPr lang="en-SE" dirty="0" err="1"/>
              <a:t>nformation</a:t>
            </a:r>
            <a:r>
              <a:rPr lang="en-SE" dirty="0"/>
              <a:t> transfer</a:t>
            </a:r>
          </a:p>
          <a:p>
            <a:r>
              <a:rPr lang="en-SE" dirty="0"/>
              <a:t>Information flow</a:t>
            </a:r>
          </a:p>
          <a:p>
            <a:pPr marL="0" indent="0">
              <a:buNone/>
            </a:pPr>
            <a:r>
              <a:rPr lang="en-SE" dirty="0"/>
              <a:t>-&gt; The quality of requirements engineering = effectiveness and efficiency of the information flow</a:t>
            </a:r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BE481-8CA0-276F-BA07-72BCE019B6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8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3826251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5BB1E-82BE-2BB9-6C03-F2FB6F70B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E58577-76AF-133C-1910-66AA6354B1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07AE9E-DA8B-BC50-685D-076D87F9E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Principle: </a:t>
            </a:r>
            <a:r>
              <a:rPr lang="en-SE" dirty="0" err="1"/>
              <a:t>requireme</a:t>
            </a:r>
            <a:r>
              <a:rPr lang="de-DE" dirty="0" err="1"/>
              <a:t>nt</a:t>
            </a:r>
            <a:r>
              <a:rPr lang="en-SE" dirty="0"/>
              <a:t>s are information</a:t>
            </a:r>
          </a:p>
          <a:p>
            <a:r>
              <a:rPr lang="en-SE" dirty="0"/>
              <a:t>Information particle</a:t>
            </a:r>
          </a:p>
          <a:p>
            <a:r>
              <a:rPr lang="de-DE" dirty="0"/>
              <a:t>I</a:t>
            </a:r>
            <a:r>
              <a:rPr lang="en-SE" dirty="0" err="1"/>
              <a:t>nformation</a:t>
            </a:r>
            <a:r>
              <a:rPr lang="en-SE" dirty="0"/>
              <a:t> storage</a:t>
            </a:r>
          </a:p>
          <a:p>
            <a:r>
              <a:rPr lang="de-DE" dirty="0"/>
              <a:t>I</a:t>
            </a:r>
            <a:r>
              <a:rPr lang="en-SE" dirty="0" err="1"/>
              <a:t>nformation</a:t>
            </a:r>
            <a:r>
              <a:rPr lang="en-SE" dirty="0"/>
              <a:t> transfer</a:t>
            </a:r>
          </a:p>
          <a:p>
            <a:r>
              <a:rPr lang="en-SE" dirty="0"/>
              <a:t>Information flow</a:t>
            </a:r>
          </a:p>
          <a:p>
            <a:pPr marL="0" indent="0">
              <a:buNone/>
            </a:pPr>
            <a:r>
              <a:rPr lang="en-SE" dirty="0"/>
              <a:t>-&gt; The quality of requirements engineering = effectiveness and efficiency of the information flow</a:t>
            </a:r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9F19F-3276-4415-54B0-EADC5E3419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9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1156932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2AC52-0D44-AA4E-5E63-46EA4A442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060722-539D-1316-DE91-00860E4E8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FF3A67-CEC6-3E27-CF74-4EB149686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Principle: </a:t>
            </a:r>
            <a:r>
              <a:rPr lang="en-SE" dirty="0" err="1"/>
              <a:t>requireme</a:t>
            </a:r>
            <a:r>
              <a:rPr lang="de-DE" dirty="0" err="1"/>
              <a:t>nt</a:t>
            </a:r>
            <a:r>
              <a:rPr lang="en-SE" dirty="0"/>
              <a:t>s are information</a:t>
            </a:r>
          </a:p>
          <a:p>
            <a:r>
              <a:rPr lang="en-SE" dirty="0"/>
              <a:t>Information particle</a:t>
            </a:r>
          </a:p>
          <a:p>
            <a:r>
              <a:rPr lang="de-DE" dirty="0"/>
              <a:t>I</a:t>
            </a:r>
            <a:r>
              <a:rPr lang="en-SE" dirty="0" err="1"/>
              <a:t>nformation</a:t>
            </a:r>
            <a:r>
              <a:rPr lang="en-SE" dirty="0"/>
              <a:t> storage</a:t>
            </a:r>
          </a:p>
          <a:p>
            <a:r>
              <a:rPr lang="de-DE" dirty="0"/>
              <a:t>I</a:t>
            </a:r>
            <a:r>
              <a:rPr lang="en-SE" dirty="0" err="1"/>
              <a:t>nformation</a:t>
            </a:r>
            <a:r>
              <a:rPr lang="en-SE" dirty="0"/>
              <a:t> transfer</a:t>
            </a:r>
          </a:p>
          <a:p>
            <a:r>
              <a:rPr lang="en-SE" dirty="0"/>
              <a:t>Information flow</a:t>
            </a:r>
          </a:p>
          <a:p>
            <a:pPr marL="0" indent="0">
              <a:buNone/>
            </a:pPr>
            <a:r>
              <a:rPr lang="en-SE" dirty="0"/>
              <a:t>-&gt; The quality of requirements engineering = effectiveness and efficiency of the information flow</a:t>
            </a:r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BE4C2-3492-0BEA-0992-779E8F6DD6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10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8984342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11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6343414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6AFAC-BBB1-6646-0E2D-FECDADF9D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FA840B-49EE-84FB-92C8-561EFD8F9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5D5903-2DE5-394B-C9F1-148E209EC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626BF-AC86-EB6B-E82E-A90BBCE5B4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12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4848982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How can this be used prospectively?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13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4891908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For example: cumulative Beta-distribution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16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730841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CD3E4-4EA5-B8B4-39A0-94A5346C0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FE0E9D-286D-CC51-4A62-4480E04B57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51F547-0EE7-D19D-D8B8-BD430DAE6E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How can this be used prospectively?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09D5C-1017-4452-437A-A5C63B5171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18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969430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7ECFB-CC92-FB7D-062B-5F840C7CD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199"/>
            <a:ext cx="9144000" cy="19097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7DB82B-6165-1C54-C51D-F5D58F23CB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955BD-5E43-FC47-D766-386274FE3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2026-05-28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345E8-8305-94BE-CD1F-E34E30216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Signal'26: Information-centric RE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FBD3E-ECCB-B12E-8504-AE90BAE0F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‹#›</a:t>
            </a:fld>
            <a:endParaRPr lang="en-SE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6BA91CF-13DA-2A0F-EA36-67531A1083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902" y="0"/>
            <a:ext cx="7600298" cy="190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244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F46C5-11CD-4C87-4B7F-F0A00841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365125"/>
            <a:ext cx="938097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67B5C-1FB8-DA82-8443-4DACD45F0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B50CE-E3D9-6C15-6C1B-8A30001A3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2026-05-28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106B3-8DD0-55B3-08A0-DD0591C98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Signal'26: Information-centric RE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494B0-86B7-2B02-AF74-37DFCA78F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‹#›</a:t>
            </a:fld>
            <a:endParaRPr lang="en-S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60DCA4-DA14-3BC0-98BC-FCE479BF44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840" y="365125"/>
            <a:ext cx="1152135" cy="128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871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A3C64-99A3-C45B-FC04-CD6D7DF0E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CEB3B-F9F7-57EA-A865-FA89E9BE9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EA0C2-17AA-E8FA-AF35-325A5B6C1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2026-05-28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95503-4D40-A4E1-4A17-B8F476149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Signal'26: Information-centric RE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C0937-6335-D00A-B738-E03007DFA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‹#›</a:t>
            </a:fld>
            <a:endParaRPr lang="en-S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A396C0-5271-1D3B-5DE7-8082FB398E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7313" y="-91082"/>
            <a:ext cx="5224673" cy="131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676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472E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79F13EB-D1B4-1E48-DDC2-70804C0848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840" y="365125"/>
            <a:ext cx="1152135" cy="128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33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B84F10-67C5-38A9-9573-9D83950EE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813B2-F0B2-78B0-2431-5AE1C5DC3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A28DA-366D-4CD9-E1EB-113EAA959D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2026-05-28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E68D1-9044-00B4-ABE4-8F49530ABD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Signal'26: Information-centric RE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36186-4B45-9116-C243-AC06504DF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1ECC92-9CDE-4EB3-B1C5-F46B9E1FA3C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271141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julianfrattini.github.io/" TargetMode="External"/><Relationship Id="rId7" Type="http://schemas.openxmlformats.org/officeDocument/2006/relationships/image" Target="../media/image6.png"/><Relationship Id="rId2" Type="http://schemas.openxmlformats.org/officeDocument/2006/relationships/hyperlink" Target="https://github.com/JulianFrattini/bda4sci/blob/main/LICENSE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julianFrattini/study-req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16.svg"/><Relationship Id="rId4" Type="http://schemas.openxmlformats.org/officeDocument/2006/relationships/image" Target="../media/image2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16.svg"/><Relationship Id="rId4" Type="http://schemas.openxmlformats.org/officeDocument/2006/relationships/image" Target="../media/image2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svg"/><Relationship Id="rId5" Type="http://schemas.openxmlformats.org/officeDocument/2006/relationships/image" Target="../media/image16.svg"/><Relationship Id="rId4" Type="http://schemas.openxmlformats.org/officeDocument/2006/relationships/image" Target="../media/image13.sv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13" Type="http://schemas.openxmlformats.org/officeDocument/2006/relationships/image" Target="../media/image40.svg"/><Relationship Id="rId3" Type="http://schemas.openxmlformats.org/officeDocument/2006/relationships/image" Target="../media/image31.svg"/><Relationship Id="rId7" Type="http://schemas.openxmlformats.org/officeDocument/2006/relationships/image" Target="../media/image35.svg"/><Relationship Id="rId12" Type="http://schemas.openxmlformats.org/officeDocument/2006/relationships/image" Target="../media/image7.svg"/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svg"/><Relationship Id="rId11" Type="http://schemas.openxmlformats.org/officeDocument/2006/relationships/image" Target="../media/image39.svg"/><Relationship Id="rId5" Type="http://schemas.openxmlformats.org/officeDocument/2006/relationships/image" Target="../media/image33.sv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E8D0B-776C-E8F7-4D2E-37BA60724F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Information is all you need: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ECA751-926C-8553-9E48-80B7DF1A93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noProof="0" dirty="0"/>
              <a:t>Requirements Engineering Quality Reframed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75591A-FA02-7123-DF74-EDB9D33C0122}"/>
              </a:ext>
            </a:extLst>
          </p:cNvPr>
          <p:cNvSpPr txBox="1"/>
          <p:nvPr/>
        </p:nvSpPr>
        <p:spPr>
          <a:xfrm>
            <a:off x="7326064" y="5859885"/>
            <a:ext cx="41753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noProof="0" dirty="0"/>
              <a:t>Copyright © 2026 Julian Frattini. </a:t>
            </a:r>
          </a:p>
          <a:p>
            <a:pPr algn="r"/>
            <a:r>
              <a:rPr lang="en-US" sz="1400" noProof="0" dirty="0"/>
              <a:t>This work is licensed under the </a:t>
            </a:r>
            <a:r>
              <a:rPr lang="en-US" sz="1400" noProof="0" dirty="0">
                <a:hlinkClick r:id="rId2"/>
              </a:rPr>
              <a:t>Apache-2.0</a:t>
            </a:r>
            <a:r>
              <a:rPr lang="en-US" sz="1400" noProof="0" dirty="0"/>
              <a:t> License.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4FEC08-B055-2789-C209-ABB868E097B3}"/>
              </a:ext>
            </a:extLst>
          </p:cNvPr>
          <p:cNvSpPr txBox="1"/>
          <p:nvPr/>
        </p:nvSpPr>
        <p:spPr>
          <a:xfrm>
            <a:off x="1507676" y="5617773"/>
            <a:ext cx="354443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/>
              <a:t>Julian </a:t>
            </a:r>
            <a:r>
              <a:rPr lang="en-US" sz="1400" b="1" noProof="0" dirty="0"/>
              <a:t>Frattini</a:t>
            </a:r>
            <a:r>
              <a:rPr lang="en-US" sz="1400" noProof="0" dirty="0"/>
              <a:t>, Ph.D.</a:t>
            </a:r>
          </a:p>
          <a:p>
            <a:r>
              <a:rPr lang="en-US" sz="14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Chalmers University of Technology, Sweden</a:t>
            </a:r>
          </a:p>
          <a:p>
            <a:r>
              <a:rPr lang="en-US" sz="1400" noProof="0" dirty="0">
                <a:hlinkClick r:id="rId3"/>
              </a:rPr>
              <a:t>https://julianfrattini.github.io/</a:t>
            </a:r>
            <a:r>
              <a:rPr lang="en-US" sz="1400" noProof="0" dirty="0"/>
              <a:t> 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92E9483-BEDA-C731-B7BE-ABF0A5518387}"/>
              </a:ext>
            </a:extLst>
          </p:cNvPr>
          <p:cNvSpPr/>
          <p:nvPr/>
        </p:nvSpPr>
        <p:spPr>
          <a:xfrm>
            <a:off x="715676" y="5591105"/>
            <a:ext cx="792000" cy="792000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A798A69-EB09-98BB-3545-08FB2D638C62}"/>
              </a:ext>
            </a:extLst>
          </p:cNvPr>
          <p:cNvGrpSpPr/>
          <p:nvPr/>
        </p:nvGrpSpPr>
        <p:grpSpPr>
          <a:xfrm>
            <a:off x="7629832" y="5317289"/>
            <a:ext cx="3982066" cy="444265"/>
            <a:chOff x="7629832" y="5317289"/>
            <a:chExt cx="3982066" cy="44426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CCE08EC-E9A8-C79D-4C75-8B6A9708A3FB}"/>
                </a:ext>
              </a:extLst>
            </p:cNvPr>
            <p:cNvGrpSpPr/>
            <p:nvPr/>
          </p:nvGrpSpPr>
          <p:grpSpPr>
            <a:xfrm>
              <a:off x="7830019" y="5370114"/>
              <a:ext cx="3646305" cy="369332"/>
              <a:chOff x="7758582" y="5406529"/>
              <a:chExt cx="3646305" cy="369332"/>
            </a:xfrm>
          </p:grpSpPr>
          <p:pic>
            <p:nvPicPr>
              <p:cNvPr id="8" name="Picture 7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865BDC89-0957-2AB2-5308-DA5566DFCF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58582" y="5422888"/>
                <a:ext cx="344101" cy="344101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45BE95E-49F9-842E-7B93-BDF91E09C7D3}"/>
                  </a:ext>
                </a:extLst>
              </p:cNvPr>
              <p:cNvSpPr txBox="1"/>
              <p:nvPr/>
            </p:nvSpPr>
            <p:spPr>
              <a:xfrm>
                <a:off x="8102683" y="5406529"/>
                <a:ext cx="25352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noProof="0" dirty="0" err="1"/>
                  <a:t>JulianFrattini</a:t>
                </a:r>
                <a:r>
                  <a:rPr lang="en-US" noProof="0" dirty="0"/>
                  <a:t>/</a:t>
                </a:r>
                <a:r>
                  <a:rPr lang="en-US" b="1" noProof="0" dirty="0"/>
                  <a:t>study-req</a:t>
                </a:r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1E137170-F20B-D8DB-3856-32092459914B}"/>
                  </a:ext>
                </a:extLst>
              </p:cNvPr>
              <p:cNvSpPr/>
              <p:nvPr/>
            </p:nvSpPr>
            <p:spPr>
              <a:xfrm>
                <a:off x="10668000" y="5456392"/>
                <a:ext cx="736887" cy="279245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noProof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Public</a:t>
                </a:r>
              </a:p>
            </p:txBody>
          </p:sp>
        </p:grpSp>
        <p:sp>
          <p:nvSpPr>
            <p:cNvPr id="7" name="Rectangle 6">
              <a:hlinkClick r:id="rId6"/>
              <a:extLst>
                <a:ext uri="{FF2B5EF4-FFF2-40B4-BE49-F238E27FC236}">
                  <a16:creationId xmlns:a16="http://schemas.microsoft.com/office/drawing/2014/main" id="{1523D628-A64F-768E-A385-ECA75D071607}"/>
                </a:ext>
              </a:extLst>
            </p:cNvPr>
            <p:cNvSpPr/>
            <p:nvPr/>
          </p:nvSpPr>
          <p:spPr>
            <a:xfrm>
              <a:off x="7629832" y="5317289"/>
              <a:ext cx="3982066" cy="4442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76DCAF7-486B-9E3B-F125-7256ED77B400}"/>
              </a:ext>
            </a:extLst>
          </p:cNvPr>
          <p:cNvSpPr txBox="1"/>
          <p:nvPr/>
        </p:nvSpPr>
        <p:spPr>
          <a:xfrm>
            <a:off x="1507676" y="4778973"/>
            <a:ext cx="2576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/>
              <a:t>Henning </a:t>
            </a:r>
            <a:r>
              <a:rPr lang="en-US" sz="1400" b="1" noProof="0" dirty="0"/>
              <a:t>Femmer</a:t>
            </a:r>
            <a:r>
              <a:rPr lang="en-US" sz="1400" noProof="0" dirty="0"/>
              <a:t>, Ph.D.</a:t>
            </a:r>
          </a:p>
          <a:p>
            <a:r>
              <a:rPr lang="en-US" sz="1400" noProof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Fachhochschule</a:t>
            </a:r>
            <a:r>
              <a:rPr lang="en-US" sz="14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00" noProof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Südwestfalen</a:t>
            </a:r>
            <a:endParaRPr lang="en-US" sz="1400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6965A4A-C3ED-4E27-AC9E-1689DA87CF4D}"/>
              </a:ext>
            </a:extLst>
          </p:cNvPr>
          <p:cNvSpPr/>
          <p:nvPr/>
        </p:nvSpPr>
        <p:spPr>
          <a:xfrm>
            <a:off x="715676" y="4645787"/>
            <a:ext cx="792000" cy="792000"/>
          </a:xfrm>
          <a:prstGeom prst="ellipse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2000" sy="12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42198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F1CF7-E576-1D0A-C956-9026EC995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Requirements Quality Research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73235-886E-907B-A927-28B4A67CF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2026-05-28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9DF0D-618F-7903-558E-F28952CB8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US" noProof="0" smtClean="0"/>
              <a:t>2</a:t>
            </a:fld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07F1D12-623C-C735-08E7-809E93D6D85B}"/>
              </a:ext>
            </a:extLst>
          </p:cNvPr>
          <p:cNvGrpSpPr/>
          <p:nvPr/>
        </p:nvGrpSpPr>
        <p:grpSpPr>
          <a:xfrm>
            <a:off x="1498092" y="2466992"/>
            <a:ext cx="2883408" cy="1109808"/>
            <a:chOff x="1827276" y="2270980"/>
            <a:chExt cx="2883408" cy="110980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Octagon 6">
              <a:extLst>
                <a:ext uri="{FF2B5EF4-FFF2-40B4-BE49-F238E27FC236}">
                  <a16:creationId xmlns:a16="http://schemas.microsoft.com/office/drawing/2014/main" id="{65A32A84-D194-1A53-A74F-DF4C0553455C}"/>
                </a:ext>
              </a:extLst>
            </p:cNvPr>
            <p:cNvSpPr/>
            <p:nvPr/>
          </p:nvSpPr>
          <p:spPr>
            <a:xfrm>
              <a:off x="1827276" y="2770184"/>
              <a:ext cx="2883408" cy="610604"/>
            </a:xfrm>
            <a:prstGeom prst="octagon">
              <a:avLst>
                <a:gd name="adj" fmla="val 9522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noProof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Requirements Specification</a:t>
              </a:r>
              <a:br>
                <a:rPr lang="en-US" b="1" noProof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1100" noProof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e.g., SRS, user story, …</a:t>
              </a:r>
              <a:endParaRPr lang="en-US" b="1" noProof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4A5D64F-EBFB-D054-B4A6-BD3F29FDF8F0}"/>
                </a:ext>
              </a:extLst>
            </p:cNvPr>
            <p:cNvGrpSpPr/>
            <p:nvPr/>
          </p:nvGrpSpPr>
          <p:grpSpPr>
            <a:xfrm>
              <a:off x="2980980" y="2270980"/>
              <a:ext cx="576000" cy="576000"/>
              <a:chOff x="2908980" y="2096798"/>
              <a:chExt cx="576000" cy="576000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8B04F6B-8565-5155-1EEF-E10884FC81C3}"/>
                  </a:ext>
                </a:extLst>
              </p:cNvPr>
              <p:cNvSpPr/>
              <p:nvPr/>
            </p:nvSpPr>
            <p:spPr>
              <a:xfrm>
                <a:off x="2908980" y="2096798"/>
                <a:ext cx="576000" cy="576000"/>
              </a:xfrm>
              <a:prstGeom prst="ellipse">
                <a:avLst/>
              </a:prstGeom>
              <a:solidFill>
                <a:srgbClr val="472EB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10" name="Graphic 9" descr="Document with solid fill">
                <a:extLst>
                  <a:ext uri="{FF2B5EF4-FFF2-40B4-BE49-F238E27FC236}">
                    <a16:creationId xmlns:a16="http://schemas.microsoft.com/office/drawing/2014/main" id="{90D0DE5E-57D2-A0D2-FE70-71138B1E6A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980980" y="2168798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29C280-4D87-8F92-D34C-1FDCA160CBD1}"/>
              </a:ext>
            </a:extLst>
          </p:cNvPr>
          <p:cNvGrpSpPr/>
          <p:nvPr/>
        </p:nvGrpSpPr>
        <p:grpSpPr>
          <a:xfrm>
            <a:off x="1498092" y="4097339"/>
            <a:ext cx="2883408" cy="1109808"/>
            <a:chOff x="1827276" y="2270980"/>
            <a:chExt cx="2883408" cy="110980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Octagon 11">
              <a:extLst>
                <a:ext uri="{FF2B5EF4-FFF2-40B4-BE49-F238E27FC236}">
                  <a16:creationId xmlns:a16="http://schemas.microsoft.com/office/drawing/2014/main" id="{26347BC2-BFE6-3799-29B6-D312096601E4}"/>
                </a:ext>
              </a:extLst>
            </p:cNvPr>
            <p:cNvSpPr/>
            <p:nvPr/>
          </p:nvSpPr>
          <p:spPr>
            <a:xfrm>
              <a:off x="1827276" y="2770184"/>
              <a:ext cx="2883408" cy="610604"/>
            </a:xfrm>
            <a:prstGeom prst="octagon">
              <a:avLst>
                <a:gd name="adj" fmla="val 9522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noProof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Quality Factor</a:t>
              </a:r>
              <a:br>
                <a:rPr lang="en-US" b="1" noProof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1100" noProof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e.g., ambiguous pronoun, passive voice, …</a:t>
              </a:r>
              <a:endParaRPr lang="en-US" b="1" noProof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B90B095-A3BC-7623-1C76-33A2623B0692}"/>
                </a:ext>
              </a:extLst>
            </p:cNvPr>
            <p:cNvGrpSpPr/>
            <p:nvPr/>
          </p:nvGrpSpPr>
          <p:grpSpPr>
            <a:xfrm>
              <a:off x="2980980" y="2270980"/>
              <a:ext cx="576000" cy="576000"/>
              <a:chOff x="2908980" y="2096798"/>
              <a:chExt cx="576000" cy="576000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BA2B968-CB8B-E1FB-274C-5BE710D180DC}"/>
                  </a:ext>
                </a:extLst>
              </p:cNvPr>
              <p:cNvSpPr/>
              <p:nvPr/>
            </p:nvSpPr>
            <p:spPr>
              <a:xfrm>
                <a:off x="2908980" y="2096798"/>
                <a:ext cx="576000" cy="576000"/>
              </a:xfrm>
              <a:prstGeom prst="ellipse">
                <a:avLst/>
              </a:prstGeom>
              <a:solidFill>
                <a:srgbClr val="6B56D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15" name="Graphic 14" descr="Triangle Ruler with solid fill">
                <a:extLst>
                  <a:ext uri="{FF2B5EF4-FFF2-40B4-BE49-F238E27FC236}">
                    <a16:creationId xmlns:a16="http://schemas.microsoft.com/office/drawing/2014/main" id="{72B4A77B-86C6-F16A-C5D0-D00B0DD989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2980980" y="2168798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9375CDD-2C4B-4C1A-3CC9-EDA99D4D28E1}"/>
              </a:ext>
            </a:extLst>
          </p:cNvPr>
          <p:cNvGrpSpPr/>
          <p:nvPr/>
        </p:nvGrpSpPr>
        <p:grpSpPr>
          <a:xfrm>
            <a:off x="7810500" y="4097339"/>
            <a:ext cx="2883408" cy="1109808"/>
            <a:chOff x="1827276" y="2270980"/>
            <a:chExt cx="2883408" cy="110980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" name="Octagon 16">
              <a:extLst>
                <a:ext uri="{FF2B5EF4-FFF2-40B4-BE49-F238E27FC236}">
                  <a16:creationId xmlns:a16="http://schemas.microsoft.com/office/drawing/2014/main" id="{2A9CCC76-DB22-6DA3-BD12-2CC0C4566304}"/>
                </a:ext>
              </a:extLst>
            </p:cNvPr>
            <p:cNvSpPr/>
            <p:nvPr/>
          </p:nvSpPr>
          <p:spPr>
            <a:xfrm>
              <a:off x="1827276" y="2770184"/>
              <a:ext cx="2883408" cy="610604"/>
            </a:xfrm>
            <a:prstGeom prst="octagon">
              <a:avLst>
                <a:gd name="adj" fmla="val 9522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noProof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Attribute</a:t>
              </a:r>
              <a:br>
                <a:rPr lang="en-US" b="1" noProof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1100" noProof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e.g., duration, correctness, …</a:t>
              </a:r>
              <a:endParaRPr lang="en-US" b="1" noProof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D482843-34EE-E09B-4A83-2A9384AA4C59}"/>
                </a:ext>
              </a:extLst>
            </p:cNvPr>
            <p:cNvGrpSpPr/>
            <p:nvPr/>
          </p:nvGrpSpPr>
          <p:grpSpPr>
            <a:xfrm>
              <a:off x="2980980" y="2270980"/>
              <a:ext cx="576000" cy="576000"/>
              <a:chOff x="2908980" y="2096798"/>
              <a:chExt cx="576000" cy="5760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CED1B64-A353-57B2-4C14-98647E840803}"/>
                  </a:ext>
                </a:extLst>
              </p:cNvPr>
              <p:cNvSpPr/>
              <p:nvPr/>
            </p:nvSpPr>
            <p:spPr>
              <a:xfrm>
                <a:off x="2908980" y="2096798"/>
                <a:ext cx="576000" cy="576000"/>
              </a:xfrm>
              <a:prstGeom prst="ellipse">
                <a:avLst/>
              </a:prstGeom>
              <a:solidFill>
                <a:srgbClr val="ED712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20" name="Graphic 19" descr="Stopwatch 66% with solid fill">
                <a:extLst>
                  <a:ext uri="{FF2B5EF4-FFF2-40B4-BE49-F238E27FC236}">
                    <a16:creationId xmlns:a16="http://schemas.microsoft.com/office/drawing/2014/main" id="{5DBFA205-E112-1DDE-5717-E1BD76D33A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2980980" y="2168798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160BD02-81A2-F19C-0118-18C6F50AEB53}"/>
              </a:ext>
            </a:extLst>
          </p:cNvPr>
          <p:cNvGrpSpPr/>
          <p:nvPr/>
        </p:nvGrpSpPr>
        <p:grpSpPr>
          <a:xfrm>
            <a:off x="7810500" y="2464467"/>
            <a:ext cx="2883408" cy="1109808"/>
            <a:chOff x="1827276" y="2270980"/>
            <a:chExt cx="2883408" cy="110980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2" name="Octagon 21">
              <a:extLst>
                <a:ext uri="{FF2B5EF4-FFF2-40B4-BE49-F238E27FC236}">
                  <a16:creationId xmlns:a16="http://schemas.microsoft.com/office/drawing/2014/main" id="{9B36739C-A9F0-8A7E-190D-AE83B5CBCC09}"/>
                </a:ext>
              </a:extLst>
            </p:cNvPr>
            <p:cNvSpPr/>
            <p:nvPr/>
          </p:nvSpPr>
          <p:spPr>
            <a:xfrm>
              <a:off x="1827276" y="2770184"/>
              <a:ext cx="2883408" cy="610604"/>
            </a:xfrm>
            <a:prstGeom prst="octagon">
              <a:avLst>
                <a:gd name="adj" fmla="val 9522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noProof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Activity</a:t>
              </a:r>
              <a:br>
                <a:rPr lang="en-US" b="1" noProof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1100" noProof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e.g., implementation, testing, …</a:t>
              </a:r>
              <a:endParaRPr lang="en-US" b="1" noProof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2554771-2142-A8B2-3E1F-770D026D15D1}"/>
                </a:ext>
              </a:extLst>
            </p:cNvPr>
            <p:cNvGrpSpPr/>
            <p:nvPr/>
          </p:nvGrpSpPr>
          <p:grpSpPr>
            <a:xfrm>
              <a:off x="2980980" y="2270980"/>
              <a:ext cx="576000" cy="576000"/>
              <a:chOff x="2908980" y="2096798"/>
              <a:chExt cx="576000" cy="576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1531DF0-B136-98AF-BF6F-5A5E040DB449}"/>
                  </a:ext>
                </a:extLst>
              </p:cNvPr>
              <p:cNvSpPr/>
              <p:nvPr/>
            </p:nvSpPr>
            <p:spPr>
              <a:xfrm>
                <a:off x="2908980" y="2096798"/>
                <a:ext cx="576000" cy="576000"/>
              </a:xfrm>
              <a:prstGeom prst="ellipse">
                <a:avLst/>
              </a:prstGeom>
              <a:solidFill>
                <a:srgbClr val="DC5F1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25" name="Graphic 24" descr="Continuous Improvement with solid fill">
                <a:extLst>
                  <a:ext uri="{FF2B5EF4-FFF2-40B4-BE49-F238E27FC236}">
                    <a16:creationId xmlns:a16="http://schemas.microsoft.com/office/drawing/2014/main" id="{903D004F-AC45-8D8A-D536-68527465BC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2980980" y="2168798"/>
                <a:ext cx="432000" cy="432000"/>
              </a:xfrm>
              <a:prstGeom prst="rect">
                <a:avLst/>
              </a:prstGeom>
            </p:spPr>
          </p:pic>
        </p:grp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66DB528-DF28-CF59-A124-4A63545E1581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2939796" y="3576800"/>
            <a:ext cx="0" cy="5205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36ABDDD-D56A-F1B3-FCB4-D72A636365BF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9252204" y="3576800"/>
            <a:ext cx="0" cy="5205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9401E1A-B897-D9FC-2135-E7F6B86C70B4}"/>
              </a:ext>
            </a:extLst>
          </p:cNvPr>
          <p:cNvCxnSpPr>
            <a:cxnSpLocks/>
          </p:cNvCxnSpPr>
          <p:nvPr/>
        </p:nvCxnSpPr>
        <p:spPr>
          <a:xfrm>
            <a:off x="4381500" y="4900582"/>
            <a:ext cx="3429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F3D592F-5A95-7341-71CF-6BCEC5B5F97B}"/>
              </a:ext>
            </a:extLst>
          </p:cNvPr>
          <p:cNvCxnSpPr>
            <a:cxnSpLocks/>
          </p:cNvCxnSpPr>
          <p:nvPr/>
        </p:nvCxnSpPr>
        <p:spPr>
          <a:xfrm>
            <a:off x="4381501" y="3279046"/>
            <a:ext cx="3429000" cy="0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2B74183-AADC-3419-DCF2-2892E5F1B2EC}"/>
              </a:ext>
            </a:extLst>
          </p:cNvPr>
          <p:cNvSpPr txBox="1"/>
          <p:nvPr/>
        </p:nvSpPr>
        <p:spPr>
          <a:xfrm>
            <a:off x="5367138" y="2973486"/>
            <a:ext cx="1444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>
                <a:latin typeface="Calibri" panose="020F0502020204030204" pitchFamily="34" charset="0"/>
                <a:cs typeface="Calibri" panose="020F0502020204030204" pitchFamily="34" charset="0"/>
              </a:rPr>
              <a:t>affects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D6E5A4-9B27-F135-F590-10E98217C1C3}"/>
              </a:ext>
            </a:extLst>
          </p:cNvPr>
          <p:cNvSpPr txBox="1"/>
          <p:nvPr/>
        </p:nvSpPr>
        <p:spPr>
          <a:xfrm>
            <a:off x="5373642" y="4570522"/>
            <a:ext cx="1444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>
                <a:latin typeface="Calibri" panose="020F0502020204030204" pitchFamily="34" charset="0"/>
                <a:cs typeface="Calibri" panose="020F0502020204030204" pitchFamily="34" charset="0"/>
              </a:rPr>
              <a:t>impacts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805557A-BDAE-3C73-0C58-52D3D2D08010}"/>
              </a:ext>
            </a:extLst>
          </p:cNvPr>
          <p:cNvSpPr txBox="1"/>
          <p:nvPr/>
        </p:nvSpPr>
        <p:spPr>
          <a:xfrm>
            <a:off x="2955481" y="3707906"/>
            <a:ext cx="1444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>
                <a:latin typeface="Calibri" panose="020F0502020204030204" pitchFamily="34" charset="0"/>
                <a:cs typeface="Calibri" panose="020F0502020204030204" pitchFamily="34" charset="0"/>
              </a:rPr>
              <a:t>characterize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5FBF17-6514-61DB-FB70-2CA460BA0040}"/>
              </a:ext>
            </a:extLst>
          </p:cNvPr>
          <p:cNvSpPr txBox="1"/>
          <p:nvPr/>
        </p:nvSpPr>
        <p:spPr>
          <a:xfrm>
            <a:off x="9249192" y="3706417"/>
            <a:ext cx="1444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>
                <a:latin typeface="Calibri" panose="020F0502020204030204" pitchFamily="34" charset="0"/>
                <a:cs typeface="Calibri" panose="020F0502020204030204" pitchFamily="34" charset="0"/>
              </a:rPr>
              <a:t>characterize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A80C84-E77F-7D80-BE24-2895BD2F5479}"/>
              </a:ext>
            </a:extLst>
          </p:cNvPr>
          <p:cNvSpPr txBox="1"/>
          <p:nvPr/>
        </p:nvSpPr>
        <p:spPr>
          <a:xfrm>
            <a:off x="2723796" y="3594846"/>
            <a:ext cx="2003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noProof="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BF3DDBD-5F40-69CC-E6F4-2F7ED4DA877D}"/>
              </a:ext>
            </a:extLst>
          </p:cNvPr>
          <p:cNvSpPr txBox="1"/>
          <p:nvPr/>
        </p:nvSpPr>
        <p:spPr>
          <a:xfrm>
            <a:off x="2723796" y="3861749"/>
            <a:ext cx="2003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noProof="0" dirty="0"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EBB880-1632-9755-1AA6-ED9D68FC30F8}"/>
              </a:ext>
            </a:extLst>
          </p:cNvPr>
          <p:cNvSpPr txBox="1"/>
          <p:nvPr/>
        </p:nvSpPr>
        <p:spPr>
          <a:xfrm>
            <a:off x="9033191" y="3600721"/>
            <a:ext cx="2003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noProof="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CC13E36-E6E2-C32C-7A03-5585E639E2CE}"/>
              </a:ext>
            </a:extLst>
          </p:cNvPr>
          <p:cNvSpPr txBox="1"/>
          <p:nvPr/>
        </p:nvSpPr>
        <p:spPr>
          <a:xfrm>
            <a:off x="9033191" y="3867624"/>
            <a:ext cx="2003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noProof="0" dirty="0"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9EA4AC-8C63-06C2-0A47-C11DC1953CC7}"/>
              </a:ext>
            </a:extLst>
          </p:cNvPr>
          <p:cNvSpPr txBox="1"/>
          <p:nvPr/>
        </p:nvSpPr>
        <p:spPr>
          <a:xfrm>
            <a:off x="7594524" y="4624176"/>
            <a:ext cx="2003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noProof="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4E7D09C-1715-C5AD-1D81-D0EFBE16E0E2}"/>
              </a:ext>
            </a:extLst>
          </p:cNvPr>
          <p:cNvSpPr txBox="1"/>
          <p:nvPr/>
        </p:nvSpPr>
        <p:spPr>
          <a:xfrm>
            <a:off x="4398752" y="4624175"/>
            <a:ext cx="2003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noProof="0" dirty="0"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0FC21BF-8A71-2E85-A286-78330EBF6C19}"/>
              </a:ext>
            </a:extLst>
          </p:cNvPr>
          <p:cNvSpPr txBox="1"/>
          <p:nvPr/>
        </p:nvSpPr>
        <p:spPr>
          <a:xfrm>
            <a:off x="7593728" y="2974724"/>
            <a:ext cx="2003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noProof="0" dirty="0"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AF05D7D-6F14-5AD8-3F4A-F41C16AA7CFF}"/>
              </a:ext>
            </a:extLst>
          </p:cNvPr>
          <p:cNvSpPr txBox="1"/>
          <p:nvPr/>
        </p:nvSpPr>
        <p:spPr>
          <a:xfrm>
            <a:off x="4397956" y="2974723"/>
            <a:ext cx="2003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noProof="0" dirty="0"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4D3555-C574-41C2-0A45-675AA466510B}"/>
              </a:ext>
            </a:extLst>
          </p:cNvPr>
          <p:cNvSpPr txBox="1"/>
          <p:nvPr/>
        </p:nvSpPr>
        <p:spPr>
          <a:xfrm>
            <a:off x="838200" y="5962598"/>
            <a:ext cx="60939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noProof="0" dirty="0"/>
              <a:t>Frattini, J., Montgomery, L., Fischbach, J., Mendez, D., Fucci, D., &amp; Unterkalmsteiner, M. (2023). Requirements quality research: a harmonized theory, evaluation, and roadmap. </a:t>
            </a:r>
            <a:r>
              <a:rPr lang="en-US" sz="800" i="1" noProof="0" dirty="0"/>
              <a:t>Requirements engineering</a:t>
            </a:r>
            <a:r>
              <a:rPr lang="en-US" sz="800" noProof="0" dirty="0"/>
              <a:t>, </a:t>
            </a:r>
            <a:r>
              <a:rPr lang="en-US" sz="800" i="1" noProof="0" dirty="0"/>
              <a:t>28</a:t>
            </a:r>
            <a:r>
              <a:rPr lang="en-US" sz="800" noProof="0" dirty="0"/>
              <a:t>(4), 507-520.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9A8C2A88-93F0-A1A5-2F83-E9AEAD1048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65283" y="-765833"/>
            <a:ext cx="5867908" cy="586791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6BBC06-14D5-EB1C-C123-6DC108F6E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Signal'26: Information-centric RE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6732038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40" grpId="0"/>
      <p:bldP spid="41" grpId="0"/>
      <p:bldP spid="4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DB852-75A7-306F-C04A-A91A717BE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Observed Inconsistencies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C853E-C07B-71F8-A3D9-98E510C16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64400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Despite the plausibility of the artifact-centric theory of requirements quality, we still observe inconsistencies.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9BB46-BDED-0F9D-C046-B7A18B3A4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2026-05-28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08B674-862E-9E30-BD2A-6E070145A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US" noProof="0" smtClean="0"/>
              <a:t>3</a:t>
            </a:fld>
            <a:endParaRPr lang="en-US" noProof="0" dirty="0"/>
          </a:p>
        </p:txBody>
      </p:sp>
      <p:pic>
        <p:nvPicPr>
          <p:cNvPr id="7" name="Graphic 6" descr="Programmer male with solid fill">
            <a:extLst>
              <a:ext uri="{FF2B5EF4-FFF2-40B4-BE49-F238E27FC236}">
                <a16:creationId xmlns:a16="http://schemas.microsoft.com/office/drawing/2014/main" id="{7E2632C4-4EBA-9EF3-B720-91EFAA4907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61973" y="3409657"/>
            <a:ext cx="914400" cy="914400"/>
          </a:xfrm>
          <a:prstGeom prst="rect">
            <a:avLst/>
          </a:prstGeom>
        </p:spPr>
      </p:pic>
      <p:pic>
        <p:nvPicPr>
          <p:cNvPr id="9" name="Graphic 8" descr="User with solid fill">
            <a:extLst>
              <a:ext uri="{FF2B5EF4-FFF2-40B4-BE49-F238E27FC236}">
                <a16:creationId xmlns:a16="http://schemas.microsoft.com/office/drawing/2014/main" id="{46FAA735-F87F-45D4-51A5-3344356924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825" y="3409657"/>
            <a:ext cx="914400" cy="914400"/>
          </a:xfrm>
          <a:prstGeom prst="rect">
            <a:avLst/>
          </a:prstGeom>
        </p:spPr>
      </p:pic>
      <p:pic>
        <p:nvPicPr>
          <p:cNvPr id="11" name="Graphic 10" descr="Document with solid fill">
            <a:extLst>
              <a:ext uri="{FF2B5EF4-FFF2-40B4-BE49-F238E27FC236}">
                <a16:creationId xmlns:a16="http://schemas.microsoft.com/office/drawing/2014/main" id="{378167E3-CC23-C9EF-DDA5-6F0D9CA68A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531936" y="3409657"/>
            <a:ext cx="914400" cy="914400"/>
          </a:xfrm>
          <a:prstGeom prst="rect">
            <a:avLst/>
          </a:prstGeom>
        </p:spPr>
      </p:pic>
      <p:pic>
        <p:nvPicPr>
          <p:cNvPr id="13" name="Graphic 12" descr="Research with solid fill">
            <a:extLst>
              <a:ext uri="{FF2B5EF4-FFF2-40B4-BE49-F238E27FC236}">
                <a16:creationId xmlns:a16="http://schemas.microsoft.com/office/drawing/2014/main" id="{649C7507-377C-6CF7-F002-AEACC6A0DB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301899" y="3409657"/>
            <a:ext cx="914400" cy="914400"/>
          </a:xfrm>
          <a:prstGeom prst="rect">
            <a:avLst/>
          </a:prstGeom>
        </p:spPr>
      </p:pic>
      <p:pic>
        <p:nvPicPr>
          <p:cNvPr id="15" name="Graphic 14" descr="Chat with solid fill">
            <a:extLst>
              <a:ext uri="{FF2B5EF4-FFF2-40B4-BE49-F238E27FC236}">
                <a16:creationId xmlns:a16="http://schemas.microsoft.com/office/drawing/2014/main" id="{ABDCDBAE-ED68-EB8D-B110-7E1A16652A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71862" y="3409657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B59961C-615B-1C1B-D7FA-7DD31CDA2E57}"/>
              </a:ext>
            </a:extLst>
          </p:cNvPr>
          <p:cNvSpPr txBox="1"/>
          <p:nvPr/>
        </p:nvSpPr>
        <p:spPr>
          <a:xfrm>
            <a:off x="607970" y="4438521"/>
            <a:ext cx="1382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/>
              <a:t>Stakeholder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5CF51F-12C1-90C7-BD6B-F7E5950DCCFD}"/>
              </a:ext>
            </a:extLst>
          </p:cNvPr>
          <p:cNvSpPr txBox="1"/>
          <p:nvPr/>
        </p:nvSpPr>
        <p:spPr>
          <a:xfrm>
            <a:off x="9617534" y="4438521"/>
            <a:ext cx="1203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/>
              <a:t>Developer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9B9F8A-2C35-6973-4161-9248755CE8F6}"/>
              </a:ext>
            </a:extLst>
          </p:cNvPr>
          <p:cNvSpPr txBox="1"/>
          <p:nvPr/>
        </p:nvSpPr>
        <p:spPr>
          <a:xfrm>
            <a:off x="2982053" y="3040325"/>
            <a:ext cx="1094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/>
              <a:t>Interview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6C11A4-84A8-9F67-9B63-C3544E51CBB8}"/>
              </a:ext>
            </a:extLst>
          </p:cNvPr>
          <p:cNvSpPr txBox="1"/>
          <p:nvPr/>
        </p:nvSpPr>
        <p:spPr>
          <a:xfrm>
            <a:off x="5275507" y="3062682"/>
            <a:ext cx="967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E" noProof="0" dirty="0"/>
              <a:t>Analyse</a:t>
            </a:r>
            <a:endParaRPr lang="en-US" noProof="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2DF10F-B413-83E2-6EF7-59F461F21C55}"/>
              </a:ext>
            </a:extLst>
          </p:cNvPr>
          <p:cNvSpPr txBox="1"/>
          <p:nvPr/>
        </p:nvSpPr>
        <p:spPr>
          <a:xfrm>
            <a:off x="7368618" y="3040325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E" noProof="0" dirty="0"/>
              <a:t>Document</a:t>
            </a:r>
            <a:endParaRPr lang="en-US" noProof="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D663C45-3750-B96F-F30A-4F9753974A47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1756225" y="3866857"/>
            <a:ext cx="13156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535AA3D-CF47-BCF1-75C7-B3323558EC4B}"/>
              </a:ext>
            </a:extLst>
          </p:cNvPr>
          <p:cNvCxnSpPr>
            <a:cxnSpLocks/>
            <a:stCxn id="15" idx="3"/>
            <a:endCxn id="13" idx="1"/>
          </p:cNvCxnSpPr>
          <p:nvPr/>
        </p:nvCxnSpPr>
        <p:spPr>
          <a:xfrm>
            <a:off x="3986262" y="3866857"/>
            <a:ext cx="13156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E7D8215-B201-2161-8379-E6DF1B5046A4}"/>
              </a:ext>
            </a:extLst>
          </p:cNvPr>
          <p:cNvCxnSpPr>
            <a:cxnSpLocks/>
            <a:stCxn id="13" idx="3"/>
            <a:endCxn id="11" idx="1"/>
          </p:cNvCxnSpPr>
          <p:nvPr/>
        </p:nvCxnSpPr>
        <p:spPr>
          <a:xfrm>
            <a:off x="6216299" y="3866857"/>
            <a:ext cx="13156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9339135-285F-7F91-5745-34C9B354E0D1}"/>
              </a:ext>
            </a:extLst>
          </p:cNvPr>
          <p:cNvCxnSpPr>
            <a:cxnSpLocks/>
            <a:stCxn id="11" idx="3"/>
            <a:endCxn id="7" idx="1"/>
          </p:cNvCxnSpPr>
          <p:nvPr/>
        </p:nvCxnSpPr>
        <p:spPr>
          <a:xfrm>
            <a:off x="8446336" y="3866857"/>
            <a:ext cx="13156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35C47D2-146C-9129-98EC-873C889BEBE9}"/>
              </a:ext>
            </a:extLst>
          </p:cNvPr>
          <p:cNvCxnSpPr>
            <a:cxnSpLocks/>
            <a:stCxn id="16" idx="2"/>
            <a:endCxn id="45" idx="1"/>
          </p:cNvCxnSpPr>
          <p:nvPr/>
        </p:nvCxnSpPr>
        <p:spPr>
          <a:xfrm rot="16200000" flipH="1">
            <a:off x="2948603" y="3158275"/>
            <a:ext cx="703718" cy="400287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5" name="Graphic 44" descr="Speech with solid fill">
            <a:extLst>
              <a:ext uri="{FF2B5EF4-FFF2-40B4-BE49-F238E27FC236}">
                <a16:creationId xmlns:a16="http://schemas.microsoft.com/office/drawing/2014/main" id="{F11CE06C-4C0E-2DE4-D47F-BC26996F55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01899" y="5054371"/>
            <a:ext cx="914400" cy="91440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6F09E6D6-6152-CB5A-8C24-6B5E0C28B490}"/>
              </a:ext>
            </a:extLst>
          </p:cNvPr>
          <p:cNvSpPr txBox="1"/>
          <p:nvPr/>
        </p:nvSpPr>
        <p:spPr>
          <a:xfrm>
            <a:off x="4551947" y="5784105"/>
            <a:ext cx="2414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/>
              <a:t>Direct communication</a:t>
            </a:r>
          </a:p>
        </p:txBody>
      </p:sp>
      <p:cxnSp>
        <p:nvCxnSpPr>
          <p:cNvPr id="49" name="Straight Arrow Connector 40">
            <a:extLst>
              <a:ext uri="{FF2B5EF4-FFF2-40B4-BE49-F238E27FC236}">
                <a16:creationId xmlns:a16="http://schemas.microsoft.com/office/drawing/2014/main" id="{D18EA87B-FE28-E82B-CE1D-264011901D97}"/>
              </a:ext>
            </a:extLst>
          </p:cNvPr>
          <p:cNvCxnSpPr>
            <a:cxnSpLocks/>
            <a:stCxn id="45" idx="3"/>
            <a:endCxn id="17" idx="2"/>
          </p:cNvCxnSpPr>
          <p:nvPr/>
        </p:nvCxnSpPr>
        <p:spPr>
          <a:xfrm flipV="1">
            <a:off x="6216299" y="4807853"/>
            <a:ext cx="4002874" cy="70371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43A8D8-651B-A35E-BE97-352B82793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Signal'26: Information-centric RE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6101736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7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4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2C96D-8BD9-E9B7-5D05-D3CE2E649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6D412-65A5-C590-877F-7A936005D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Observed Inconsistencies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2D436-317E-B95C-A9E7-9A2102ABF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64400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Despite the plausibility of the artifact-centric theory of requirements quality, we still observe inconsistencies.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13C34-5CCA-7630-D4D0-A41AADBEB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2026-05-28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AF747A-3B69-A7B1-54F0-81E7331D3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US" noProof="0" smtClean="0"/>
              <a:t>4</a:t>
            </a:fld>
            <a:endParaRPr lang="en-US" noProof="0" dirty="0"/>
          </a:p>
        </p:txBody>
      </p:sp>
      <p:pic>
        <p:nvPicPr>
          <p:cNvPr id="7" name="Graphic 6" descr="Programmer male with solid fill">
            <a:extLst>
              <a:ext uri="{FF2B5EF4-FFF2-40B4-BE49-F238E27FC236}">
                <a16:creationId xmlns:a16="http://schemas.microsoft.com/office/drawing/2014/main" id="{EC396E29-EDE5-9885-5A7C-5B3B7C09C6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61973" y="3409657"/>
            <a:ext cx="914400" cy="914400"/>
          </a:xfrm>
          <a:prstGeom prst="rect">
            <a:avLst/>
          </a:prstGeom>
        </p:spPr>
      </p:pic>
      <p:pic>
        <p:nvPicPr>
          <p:cNvPr id="9" name="Graphic 8" descr="User with solid fill">
            <a:extLst>
              <a:ext uri="{FF2B5EF4-FFF2-40B4-BE49-F238E27FC236}">
                <a16:creationId xmlns:a16="http://schemas.microsoft.com/office/drawing/2014/main" id="{6CFDEB19-1DE9-4F5D-76D2-BD81D8F4BE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825" y="3409657"/>
            <a:ext cx="914400" cy="914400"/>
          </a:xfrm>
          <a:prstGeom prst="rect">
            <a:avLst/>
          </a:prstGeom>
        </p:spPr>
      </p:pic>
      <p:pic>
        <p:nvPicPr>
          <p:cNvPr id="11" name="Graphic 10" descr="Document with solid fill">
            <a:extLst>
              <a:ext uri="{FF2B5EF4-FFF2-40B4-BE49-F238E27FC236}">
                <a16:creationId xmlns:a16="http://schemas.microsoft.com/office/drawing/2014/main" id="{4CE74D16-E5FA-5B61-BFB1-DF73D40007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531936" y="3409657"/>
            <a:ext cx="914400" cy="914400"/>
          </a:xfrm>
          <a:prstGeom prst="rect">
            <a:avLst/>
          </a:prstGeom>
        </p:spPr>
      </p:pic>
      <p:pic>
        <p:nvPicPr>
          <p:cNvPr id="13" name="Graphic 12" descr="Research with solid fill">
            <a:extLst>
              <a:ext uri="{FF2B5EF4-FFF2-40B4-BE49-F238E27FC236}">
                <a16:creationId xmlns:a16="http://schemas.microsoft.com/office/drawing/2014/main" id="{83AEE3D5-A957-1373-44E3-5323E4B395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301899" y="3409657"/>
            <a:ext cx="914400" cy="914400"/>
          </a:xfrm>
          <a:prstGeom prst="rect">
            <a:avLst/>
          </a:prstGeom>
        </p:spPr>
      </p:pic>
      <p:pic>
        <p:nvPicPr>
          <p:cNvPr id="15" name="Graphic 14" descr="Chat with solid fill">
            <a:extLst>
              <a:ext uri="{FF2B5EF4-FFF2-40B4-BE49-F238E27FC236}">
                <a16:creationId xmlns:a16="http://schemas.microsoft.com/office/drawing/2014/main" id="{ABF7D1D9-FCB0-2988-EC3E-70DD532325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71862" y="3409657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684887A-D840-E479-A51F-4E63FE832D7B}"/>
              </a:ext>
            </a:extLst>
          </p:cNvPr>
          <p:cNvSpPr txBox="1"/>
          <p:nvPr/>
        </p:nvSpPr>
        <p:spPr>
          <a:xfrm>
            <a:off x="607970" y="4438521"/>
            <a:ext cx="1382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/>
              <a:t>Stakeholder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AC03A3-AAA4-7781-944F-3DAC2EE34E02}"/>
              </a:ext>
            </a:extLst>
          </p:cNvPr>
          <p:cNvSpPr txBox="1"/>
          <p:nvPr/>
        </p:nvSpPr>
        <p:spPr>
          <a:xfrm>
            <a:off x="9617534" y="4438521"/>
            <a:ext cx="1203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/>
              <a:t>Developer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A67D5E-BC1E-7F7E-8DA9-67CF5BA54598}"/>
              </a:ext>
            </a:extLst>
          </p:cNvPr>
          <p:cNvSpPr txBox="1"/>
          <p:nvPr/>
        </p:nvSpPr>
        <p:spPr>
          <a:xfrm>
            <a:off x="2982053" y="3040325"/>
            <a:ext cx="1094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/>
              <a:t>Interview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3F292F-4C5F-DA06-A685-321BFFF23431}"/>
              </a:ext>
            </a:extLst>
          </p:cNvPr>
          <p:cNvSpPr txBox="1"/>
          <p:nvPr/>
        </p:nvSpPr>
        <p:spPr>
          <a:xfrm>
            <a:off x="5275507" y="3062682"/>
            <a:ext cx="967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E" noProof="0" dirty="0"/>
              <a:t>Analyse</a:t>
            </a:r>
            <a:endParaRPr lang="en-US" noProof="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949EE4-08A1-17B1-6F85-412F7B9633AE}"/>
              </a:ext>
            </a:extLst>
          </p:cNvPr>
          <p:cNvSpPr txBox="1"/>
          <p:nvPr/>
        </p:nvSpPr>
        <p:spPr>
          <a:xfrm>
            <a:off x="7368618" y="3040325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E" noProof="0" dirty="0"/>
              <a:t>Document</a:t>
            </a:r>
            <a:endParaRPr lang="en-US" noProof="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7D75517-AE69-78AE-23ED-C1BFC07A75F7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1756225" y="3866857"/>
            <a:ext cx="13156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410F54B-48F4-1D4F-F054-A62C72E372D2}"/>
              </a:ext>
            </a:extLst>
          </p:cNvPr>
          <p:cNvCxnSpPr>
            <a:cxnSpLocks/>
            <a:stCxn id="15" idx="3"/>
            <a:endCxn id="13" idx="1"/>
          </p:cNvCxnSpPr>
          <p:nvPr/>
        </p:nvCxnSpPr>
        <p:spPr>
          <a:xfrm>
            <a:off x="3986262" y="3866857"/>
            <a:ext cx="13156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179B772-DEDC-34CD-3877-66B7ECA0604B}"/>
              </a:ext>
            </a:extLst>
          </p:cNvPr>
          <p:cNvCxnSpPr>
            <a:cxnSpLocks/>
            <a:stCxn id="13" idx="3"/>
            <a:endCxn id="11" idx="1"/>
          </p:cNvCxnSpPr>
          <p:nvPr/>
        </p:nvCxnSpPr>
        <p:spPr>
          <a:xfrm>
            <a:off x="6216299" y="3866857"/>
            <a:ext cx="13156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110D690-50B7-DEED-A134-EB956E0B6EEC}"/>
              </a:ext>
            </a:extLst>
          </p:cNvPr>
          <p:cNvCxnSpPr>
            <a:cxnSpLocks/>
            <a:stCxn id="11" idx="3"/>
            <a:endCxn id="7" idx="1"/>
          </p:cNvCxnSpPr>
          <p:nvPr/>
        </p:nvCxnSpPr>
        <p:spPr>
          <a:xfrm>
            <a:off x="8446336" y="3866857"/>
            <a:ext cx="13156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5AF680-FBE3-2BB8-28E8-C85FBB2FD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Signal'26: Information-centric RE</a:t>
            </a:r>
            <a:endParaRPr lang="en-SE"/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F9EC42B8-2238-6B11-5181-4E62AA9C8BCA}"/>
              </a:ext>
            </a:extLst>
          </p:cNvPr>
          <p:cNvCxnSpPr>
            <a:stCxn id="16" idx="2"/>
            <a:endCxn id="17" idx="2"/>
          </p:cNvCxnSpPr>
          <p:nvPr/>
        </p:nvCxnSpPr>
        <p:spPr>
          <a:xfrm rot="16200000" flipH="1">
            <a:off x="5759099" y="347779"/>
            <a:ext cx="12700" cy="8920148"/>
          </a:xfrm>
          <a:prstGeom prst="bentConnector3">
            <a:avLst>
              <a:gd name="adj1" fmla="val 3184614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1223307-821B-7237-8B84-451CEB6742E3}"/>
              </a:ext>
            </a:extLst>
          </p:cNvPr>
          <p:cNvSpPr/>
          <p:nvPr/>
        </p:nvSpPr>
        <p:spPr>
          <a:xfrm>
            <a:off x="6822831" y="2890025"/>
            <a:ext cx="4527344" cy="1924178"/>
          </a:xfrm>
          <a:prstGeom prst="round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79234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EF7A-2A85-C1B2-E35D-4B77E5C1C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Research Philosophy: Kuhn’s Paradigms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1F5A4-161D-37E9-CAB6-304570936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08025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Thomas Kuhn describes scientific progress as follows: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6EFEA-75E6-7AE2-809F-4E75C72C7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2026-05-28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E1DBE3-BEBA-2A3F-8B8B-8D8B0194C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US" noProof="0" smtClean="0"/>
              <a:t>5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5C4CEE-FCDF-D598-29C2-1EDD68982BB6}"/>
              </a:ext>
            </a:extLst>
          </p:cNvPr>
          <p:cNvSpPr txBox="1"/>
          <p:nvPr/>
        </p:nvSpPr>
        <p:spPr>
          <a:xfrm>
            <a:off x="838198" y="6140906"/>
            <a:ext cx="609399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noProof="0" dirty="0"/>
              <a:t>Kuhn, T. S., &amp; Hacking, I. (1970). The structure of scientific revolutions (Vol. 2, No. 2, p. 310). Chicago: University of Chicago press.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22BC71E-3813-6558-6C98-5BCABFBEE2B5}"/>
              </a:ext>
            </a:extLst>
          </p:cNvPr>
          <p:cNvGrpSpPr/>
          <p:nvPr/>
        </p:nvGrpSpPr>
        <p:grpSpPr>
          <a:xfrm>
            <a:off x="838198" y="2781299"/>
            <a:ext cx="4000500" cy="3143251"/>
            <a:chOff x="838198" y="2781299"/>
            <a:chExt cx="4000500" cy="3143251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829FFEB-E42D-8FA5-C297-DDB08A39119A}"/>
                </a:ext>
              </a:extLst>
            </p:cNvPr>
            <p:cNvSpPr/>
            <p:nvPr/>
          </p:nvSpPr>
          <p:spPr>
            <a:xfrm>
              <a:off x="838198" y="2781299"/>
              <a:ext cx="4000500" cy="3143251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400" b="1" noProof="0" dirty="0">
                  <a:solidFill>
                    <a:schemeClr val="tx1"/>
                  </a:solidFill>
                </a:rPr>
                <a:t>Paradigm</a:t>
              </a:r>
            </a:p>
          </p:txBody>
        </p:sp>
        <p:pic>
          <p:nvPicPr>
            <p:cNvPr id="9" name="Graphic 8" descr="Thermometer with solid fill">
              <a:extLst>
                <a:ext uri="{FF2B5EF4-FFF2-40B4-BE49-F238E27FC236}">
                  <a16:creationId xmlns:a16="http://schemas.microsoft.com/office/drawing/2014/main" id="{5436CB7E-A0BD-3385-AB20-ECEF963CB3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95325" y="4953184"/>
              <a:ext cx="720000" cy="720000"/>
            </a:xfrm>
            <a:prstGeom prst="rect">
              <a:avLst/>
            </a:prstGeom>
          </p:spPr>
        </p:pic>
        <p:pic>
          <p:nvPicPr>
            <p:cNvPr id="11" name="Graphic 10" descr="Books with solid fill">
              <a:extLst>
                <a:ext uri="{FF2B5EF4-FFF2-40B4-BE49-F238E27FC236}">
                  <a16:creationId xmlns:a16="http://schemas.microsoft.com/office/drawing/2014/main" id="{8F62DCD4-869A-7315-B13D-866332ACAFF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5325" y="4155964"/>
              <a:ext cx="720000" cy="720000"/>
            </a:xfrm>
            <a:prstGeom prst="rect">
              <a:avLst/>
            </a:prstGeom>
          </p:spPr>
        </p:pic>
        <p:pic>
          <p:nvPicPr>
            <p:cNvPr id="13" name="Graphic 12" descr="Atom with solid fill">
              <a:extLst>
                <a:ext uri="{FF2B5EF4-FFF2-40B4-BE49-F238E27FC236}">
                  <a16:creationId xmlns:a16="http://schemas.microsoft.com/office/drawing/2014/main" id="{1D71E4EE-A54F-2CC3-0108-0413E45F23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95325" y="3358744"/>
              <a:ext cx="720000" cy="7200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FD38B2F-C7A5-81F7-0B9B-09AF0F41B1F8}"/>
                </a:ext>
              </a:extLst>
            </p:cNvPr>
            <p:cNvSpPr txBox="1"/>
            <p:nvPr/>
          </p:nvSpPr>
          <p:spPr>
            <a:xfrm>
              <a:off x="1872452" y="3534078"/>
              <a:ext cx="18748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/>
                <a:t>Governing theory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01EE074-76D1-1E9E-4FBA-3B52EAF4B6A2}"/>
                </a:ext>
              </a:extLst>
            </p:cNvPr>
            <p:cNvSpPr txBox="1"/>
            <p:nvPr/>
          </p:nvSpPr>
          <p:spPr>
            <a:xfrm>
              <a:off x="1872452" y="4331298"/>
              <a:ext cx="21519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/>
                <a:t>Accepted examples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9CEA369-22ED-94D9-97C7-F2CEB3721A2A}"/>
                </a:ext>
              </a:extLst>
            </p:cNvPr>
            <p:cNvSpPr txBox="1"/>
            <p:nvPr/>
          </p:nvSpPr>
          <p:spPr>
            <a:xfrm>
              <a:off x="1872452" y="5128518"/>
              <a:ext cx="28210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/>
                <a:t>Measurement instruments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1711179-35C9-160A-861F-08EA7FBA6CB7}"/>
              </a:ext>
            </a:extLst>
          </p:cNvPr>
          <p:cNvGrpSpPr/>
          <p:nvPr/>
        </p:nvGrpSpPr>
        <p:grpSpPr>
          <a:xfrm>
            <a:off x="7353304" y="2781299"/>
            <a:ext cx="4000500" cy="3143251"/>
            <a:chOff x="838198" y="2781299"/>
            <a:chExt cx="4000500" cy="3143251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18160A11-5862-D2A7-0AA5-166769ED8632}"/>
                </a:ext>
              </a:extLst>
            </p:cNvPr>
            <p:cNvSpPr/>
            <p:nvPr/>
          </p:nvSpPr>
          <p:spPr>
            <a:xfrm>
              <a:off x="838198" y="2781299"/>
              <a:ext cx="4000500" cy="3143251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SE" sz="2400" b="1" noProof="0" dirty="0">
                  <a:solidFill>
                    <a:schemeClr val="tx1"/>
                  </a:solidFill>
                </a:rPr>
                <a:t>New </a:t>
              </a:r>
              <a:r>
                <a:rPr lang="en-US" sz="2400" b="1" noProof="0" dirty="0">
                  <a:solidFill>
                    <a:schemeClr val="tx1"/>
                  </a:solidFill>
                </a:rPr>
                <a:t>Paradigm</a:t>
              </a:r>
            </a:p>
          </p:txBody>
        </p:sp>
        <p:pic>
          <p:nvPicPr>
            <p:cNvPr id="20" name="Graphic 19" descr="Thermometer with solid fill">
              <a:extLst>
                <a:ext uri="{FF2B5EF4-FFF2-40B4-BE49-F238E27FC236}">
                  <a16:creationId xmlns:a16="http://schemas.microsoft.com/office/drawing/2014/main" id="{7D78A00E-5058-A0E8-FBC9-7734B48910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95325" y="4953184"/>
              <a:ext cx="720000" cy="720000"/>
            </a:xfrm>
            <a:prstGeom prst="rect">
              <a:avLst/>
            </a:prstGeom>
          </p:spPr>
        </p:pic>
        <p:pic>
          <p:nvPicPr>
            <p:cNvPr id="21" name="Graphic 20" descr="Books with solid fill">
              <a:extLst>
                <a:ext uri="{FF2B5EF4-FFF2-40B4-BE49-F238E27FC236}">
                  <a16:creationId xmlns:a16="http://schemas.microsoft.com/office/drawing/2014/main" id="{9D093005-B191-B835-4458-60040A7624A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5325" y="4155964"/>
              <a:ext cx="720000" cy="720000"/>
            </a:xfrm>
            <a:prstGeom prst="rect">
              <a:avLst/>
            </a:prstGeom>
          </p:spPr>
        </p:pic>
        <p:pic>
          <p:nvPicPr>
            <p:cNvPr id="22" name="Graphic 21" descr="Atom with solid fill">
              <a:extLst>
                <a:ext uri="{FF2B5EF4-FFF2-40B4-BE49-F238E27FC236}">
                  <a16:creationId xmlns:a16="http://schemas.microsoft.com/office/drawing/2014/main" id="{02BF216E-9835-89FE-DF28-C0F9D6A3C0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95325" y="3358744"/>
              <a:ext cx="720000" cy="720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FC68410-3908-D2D8-9E30-3908C1ED32B7}"/>
                </a:ext>
              </a:extLst>
            </p:cNvPr>
            <p:cNvSpPr txBox="1"/>
            <p:nvPr/>
          </p:nvSpPr>
          <p:spPr>
            <a:xfrm>
              <a:off x="1872452" y="3534078"/>
              <a:ext cx="18748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/>
                <a:t>Governing theory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EC2A994-ECAF-15A4-B115-DBECF7C8EC36}"/>
                </a:ext>
              </a:extLst>
            </p:cNvPr>
            <p:cNvSpPr txBox="1"/>
            <p:nvPr/>
          </p:nvSpPr>
          <p:spPr>
            <a:xfrm>
              <a:off x="1872452" y="4331298"/>
              <a:ext cx="21519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/>
                <a:t>Accepted examples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BADEFE6-8BE1-EDD4-436A-329844D41764}"/>
                </a:ext>
              </a:extLst>
            </p:cNvPr>
            <p:cNvSpPr txBox="1"/>
            <p:nvPr/>
          </p:nvSpPr>
          <p:spPr>
            <a:xfrm>
              <a:off x="1872452" y="5128518"/>
              <a:ext cx="28210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/>
                <a:t>Measurement instruments</a:t>
              </a:r>
            </a:p>
          </p:txBody>
        </p:sp>
      </p:grpSp>
      <p:pic>
        <p:nvPicPr>
          <p:cNvPr id="27" name="Graphic 26" descr="Warning with solid fill">
            <a:extLst>
              <a:ext uri="{FF2B5EF4-FFF2-40B4-BE49-F238E27FC236}">
                <a16:creationId xmlns:a16="http://schemas.microsoft.com/office/drawing/2014/main" id="{727D255D-C55C-80FA-4FBB-D7D700D5F7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  <p:pic>
        <p:nvPicPr>
          <p:cNvPr id="29" name="Graphic 28" descr="Radioactive with solid fill">
            <a:extLst>
              <a:ext uri="{FF2B5EF4-FFF2-40B4-BE49-F238E27FC236}">
                <a16:creationId xmlns:a16="http://schemas.microsoft.com/office/drawing/2014/main" id="{4135EAC3-6DC1-9F6A-6293-7F287DE02E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8800" y="4495984"/>
            <a:ext cx="914400" cy="9144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EC4A2EC-5F1D-9605-D4BF-005C56038C46}"/>
              </a:ext>
            </a:extLst>
          </p:cNvPr>
          <p:cNvSpPr txBox="1"/>
          <p:nvPr/>
        </p:nvSpPr>
        <p:spPr>
          <a:xfrm>
            <a:off x="5566849" y="2606675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/>
              <a:t>Anomaly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C44BB5-B77E-354E-215A-94AB931804F2}"/>
              </a:ext>
            </a:extLst>
          </p:cNvPr>
          <p:cNvSpPr txBox="1"/>
          <p:nvPr/>
        </p:nvSpPr>
        <p:spPr>
          <a:xfrm>
            <a:off x="5668368" y="5478730"/>
            <a:ext cx="755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noProof="0" dirty="0"/>
              <a:t>Crisis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911B372-32C0-715B-7ED6-70C4B3A5EF08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4838698" y="3429000"/>
            <a:ext cx="8001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BE9BDB1-DE9B-428B-4B16-554CC7D57C1D}"/>
              </a:ext>
            </a:extLst>
          </p:cNvPr>
          <p:cNvCxnSpPr>
            <a:cxnSpLocks/>
            <a:stCxn id="27" idx="2"/>
            <a:endCxn id="29" idx="0"/>
          </p:cNvCxnSpPr>
          <p:nvPr/>
        </p:nvCxnSpPr>
        <p:spPr>
          <a:xfrm>
            <a:off x="6096000" y="3886200"/>
            <a:ext cx="0" cy="609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4403937-2A0F-5493-56FE-E4468986498C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6553200" y="4953184"/>
            <a:ext cx="8001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83E973-120A-0FD6-A6E8-AD02A4C92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Signal'26: Information-centric RE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856311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4046DAF-F1EA-67DC-C561-A21223D3A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Information-centric 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BFF1EF7-4B98-3392-86D9-5AF9A5DAA4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noProof="0" dirty="0"/>
              <a:t>From </a:t>
            </a:r>
            <a:r>
              <a:rPr lang="en-SE" b="1" noProof="0" dirty="0"/>
              <a:t>Requirements Artifact Quality </a:t>
            </a:r>
            <a:r>
              <a:rPr lang="en-SE" noProof="0" dirty="0"/>
              <a:t>to </a:t>
            </a:r>
            <a:r>
              <a:rPr lang="en-SE" b="1" noProof="0" dirty="0"/>
              <a:t>Requirements Engineering Quality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47020-4031-DC8D-F15A-DF2B98665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2026-05-28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700A8A-D046-69BD-433F-E07A3B4E2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US" noProof="0" smtClean="0"/>
              <a:t>6</a:t>
            </a:fld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B4ABBC-BA5E-1D58-E961-11A9D8C24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Signal'26: Information-centric RE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461058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FD892-A5D1-986D-B5EE-4EEB88CBC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Information-Centric Requirements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6455C-549D-BA9D-78F9-8FE2DB552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19150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R</a:t>
            </a:r>
            <a:r>
              <a:rPr lang="en-US" noProof="0" dirty="0" err="1"/>
              <a:t>equirements</a:t>
            </a:r>
            <a:r>
              <a:rPr lang="en-US" noProof="0" dirty="0"/>
              <a:t> are information.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0D97F-84C1-8221-6CBE-08ED1BA87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2026-05-28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3D091E-82E7-2082-797C-AF2967C07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US" noProof="0" smtClean="0"/>
              <a:t>7</a:t>
            </a:fld>
            <a:endParaRPr lang="en-US" noProof="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28AC38A-015F-41AB-7B66-964FBF9673BB}"/>
              </a:ext>
            </a:extLst>
          </p:cNvPr>
          <p:cNvSpPr/>
          <p:nvPr/>
        </p:nvSpPr>
        <p:spPr>
          <a:xfrm>
            <a:off x="1219200" y="4213226"/>
            <a:ext cx="2743200" cy="9144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>
                <a:solidFill>
                  <a:schemeClr val="tx1"/>
                </a:solidFill>
              </a:rPr>
              <a:t>It would be neat if I could export my data into a CSV file.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0785795-AB24-5B2C-F577-868DB5E2A02D}"/>
              </a:ext>
            </a:extLst>
          </p:cNvPr>
          <p:cNvSpPr/>
          <p:nvPr/>
        </p:nvSpPr>
        <p:spPr>
          <a:xfrm>
            <a:off x="8896350" y="3228975"/>
            <a:ext cx="2171700" cy="9144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>
                <a:solidFill>
                  <a:schemeClr val="tx1"/>
                </a:solidFill>
              </a:rPr>
              <a:t>&lt;information particle&gt;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66A3928-7781-8749-96FA-735E4249E860}"/>
              </a:ext>
            </a:extLst>
          </p:cNvPr>
          <p:cNvSpPr/>
          <p:nvPr/>
        </p:nvSpPr>
        <p:spPr>
          <a:xfrm>
            <a:off x="8610600" y="2644775"/>
            <a:ext cx="2743200" cy="3711575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noProof="0" dirty="0">
                <a:solidFill>
                  <a:sysClr val="windowText" lastClr="000000"/>
                </a:solidFill>
              </a:rPr>
              <a:t>Legend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D69D47C-7843-99F1-C7F3-1976DFECA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Signal'26: Information-centric RE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1322571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E0AAA-4E99-0A77-B269-04E707590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B16FD21-A860-2012-83F9-B53E4CA16590}"/>
              </a:ext>
            </a:extLst>
          </p:cNvPr>
          <p:cNvGrpSpPr/>
          <p:nvPr/>
        </p:nvGrpSpPr>
        <p:grpSpPr>
          <a:xfrm>
            <a:off x="1219200" y="3228975"/>
            <a:ext cx="2743200" cy="1054099"/>
            <a:chOff x="1219200" y="2955925"/>
            <a:chExt cx="2743200" cy="1054099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53C2753B-7FD1-4F75-201B-C532D6B4E609}"/>
                </a:ext>
              </a:extLst>
            </p:cNvPr>
            <p:cNvSpPr/>
            <p:nvPr/>
          </p:nvSpPr>
          <p:spPr>
            <a:xfrm>
              <a:off x="1219200" y="2955925"/>
              <a:ext cx="2743200" cy="105409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US" noProof="0" dirty="0">
                  <a:solidFill>
                    <a:sysClr val="windowText" lastClr="000000"/>
                  </a:solidFill>
                </a:rPr>
                <a:t>End user</a:t>
              </a:r>
            </a:p>
          </p:txBody>
        </p:sp>
        <p:pic>
          <p:nvPicPr>
            <p:cNvPr id="11" name="Graphic 10" descr="User with solid fill">
              <a:extLst>
                <a:ext uri="{FF2B5EF4-FFF2-40B4-BE49-F238E27FC236}">
                  <a16:creationId xmlns:a16="http://schemas.microsoft.com/office/drawing/2014/main" id="{BFC04873-D0AF-6A59-B788-DB822AFB74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52550" y="3122974"/>
              <a:ext cx="720000" cy="720000"/>
            </a:xfrm>
            <a:prstGeom prst="rect">
              <a:avLst/>
            </a:prstGeom>
          </p:spPr>
        </p:pic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ABB508DB-74CF-3AD6-44F1-C75743BB18C8}"/>
              </a:ext>
            </a:extLst>
          </p:cNvPr>
          <p:cNvSpPr/>
          <p:nvPr/>
        </p:nvSpPr>
        <p:spPr>
          <a:xfrm>
            <a:off x="1219200" y="4213226"/>
            <a:ext cx="2743200" cy="9144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>
                <a:solidFill>
                  <a:schemeClr val="tx1"/>
                </a:solidFill>
              </a:rPr>
              <a:t>It would be neat if I could export my data into a CSV file.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8F0594-7B07-81CF-7A8D-5042E6126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Information-Centric Requirements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8645-154F-286E-AB2C-A0D8404FC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19150"/>
          </a:xfrm>
        </p:spPr>
        <p:txBody>
          <a:bodyPr/>
          <a:lstStyle/>
          <a:p>
            <a:pPr marL="0" indent="0">
              <a:buNone/>
            </a:pPr>
            <a:r>
              <a:rPr lang="en-SE" noProof="0" dirty="0"/>
              <a:t>Information storages contain information particles.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6645C-420C-4087-834F-E943C1CE6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2026-05-28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413CAC-D1DC-EA0E-42A1-921D2774F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US" noProof="0" smtClean="0"/>
              <a:t>8</a:t>
            </a:fld>
            <a:endParaRPr lang="en-US" noProof="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8C0BDD5-40A8-F6E9-DA9E-04A673ECC660}"/>
              </a:ext>
            </a:extLst>
          </p:cNvPr>
          <p:cNvSpPr/>
          <p:nvPr/>
        </p:nvSpPr>
        <p:spPr>
          <a:xfrm>
            <a:off x="8896350" y="3228975"/>
            <a:ext cx="2171700" cy="9144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>
                <a:solidFill>
                  <a:schemeClr val="tx1"/>
                </a:solidFill>
              </a:rPr>
              <a:t>&lt;information particle&gt;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E37C392-1F21-476F-59A3-20EA5AC7EBB0}"/>
              </a:ext>
            </a:extLst>
          </p:cNvPr>
          <p:cNvSpPr/>
          <p:nvPr/>
        </p:nvSpPr>
        <p:spPr>
          <a:xfrm>
            <a:off x="8610600" y="2644775"/>
            <a:ext cx="2743200" cy="3711575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noProof="0" dirty="0">
                <a:solidFill>
                  <a:sysClr val="windowText" lastClr="000000"/>
                </a:solidFill>
              </a:rPr>
              <a:t>Legend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0A5DA5C-1FFC-584B-9A7D-93A423827B82}"/>
              </a:ext>
            </a:extLst>
          </p:cNvPr>
          <p:cNvGrpSpPr/>
          <p:nvPr/>
        </p:nvGrpSpPr>
        <p:grpSpPr>
          <a:xfrm>
            <a:off x="8801100" y="4370388"/>
            <a:ext cx="2362200" cy="811577"/>
            <a:chOff x="1219200" y="3095624"/>
            <a:chExt cx="2362200" cy="811577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B5032607-FC32-FE73-96E9-F5DB10BA7A04}"/>
                </a:ext>
              </a:extLst>
            </p:cNvPr>
            <p:cNvSpPr/>
            <p:nvPr/>
          </p:nvSpPr>
          <p:spPr>
            <a:xfrm>
              <a:off x="1219200" y="3095624"/>
              <a:ext cx="2362200" cy="811577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US" noProof="0" dirty="0">
                  <a:solidFill>
                    <a:sysClr val="windowText" lastClr="000000"/>
                  </a:solidFill>
                </a:rPr>
                <a:t>&lt;information storage&gt;</a:t>
              </a:r>
            </a:p>
          </p:txBody>
        </p:sp>
        <p:pic>
          <p:nvPicPr>
            <p:cNvPr id="15" name="Graphic 14" descr="User with solid fill">
              <a:extLst>
                <a:ext uri="{FF2B5EF4-FFF2-40B4-BE49-F238E27FC236}">
                  <a16:creationId xmlns:a16="http://schemas.microsoft.com/office/drawing/2014/main" id="{9682F44E-7AD7-2CAF-F686-DF80B74C29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52550" y="3122974"/>
              <a:ext cx="720000" cy="720000"/>
            </a:xfrm>
            <a:prstGeom prst="rect">
              <a:avLst/>
            </a:prstGeom>
          </p:spPr>
        </p:pic>
      </p:grp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E262793-D4DB-A106-69C8-30EBC30D2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Signal'26: Information-centric RE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680400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B07B4-94AF-F8BA-3210-B282FD894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0FF5430-47A6-06BF-3A11-DE68C940912B}"/>
              </a:ext>
            </a:extLst>
          </p:cNvPr>
          <p:cNvGrpSpPr/>
          <p:nvPr/>
        </p:nvGrpSpPr>
        <p:grpSpPr>
          <a:xfrm>
            <a:off x="1219200" y="3228975"/>
            <a:ext cx="2743200" cy="1054099"/>
            <a:chOff x="1219200" y="2955925"/>
            <a:chExt cx="2743200" cy="1054099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6064D34-0DA1-7FAA-3E9B-40F04E47C7B0}"/>
                </a:ext>
              </a:extLst>
            </p:cNvPr>
            <p:cNvSpPr/>
            <p:nvPr/>
          </p:nvSpPr>
          <p:spPr>
            <a:xfrm>
              <a:off x="1219200" y="2955925"/>
              <a:ext cx="2743200" cy="105409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US" noProof="0" dirty="0">
                  <a:solidFill>
                    <a:sysClr val="windowText" lastClr="000000"/>
                  </a:solidFill>
                </a:rPr>
                <a:t>End user</a:t>
              </a:r>
            </a:p>
          </p:txBody>
        </p:sp>
        <p:pic>
          <p:nvPicPr>
            <p:cNvPr id="11" name="Graphic 10" descr="User with solid fill">
              <a:extLst>
                <a:ext uri="{FF2B5EF4-FFF2-40B4-BE49-F238E27FC236}">
                  <a16:creationId xmlns:a16="http://schemas.microsoft.com/office/drawing/2014/main" id="{8B535085-0DDA-3AE4-892F-F2F33F3084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52550" y="3122974"/>
              <a:ext cx="720000" cy="720000"/>
            </a:xfrm>
            <a:prstGeom prst="rect">
              <a:avLst/>
            </a:prstGeom>
          </p:spPr>
        </p:pic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CA0E64C1-B390-1190-8770-8F93918EEC73}"/>
              </a:ext>
            </a:extLst>
          </p:cNvPr>
          <p:cNvSpPr/>
          <p:nvPr/>
        </p:nvSpPr>
        <p:spPr>
          <a:xfrm>
            <a:off x="1219200" y="4213226"/>
            <a:ext cx="2743200" cy="9144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>
                <a:solidFill>
                  <a:schemeClr val="tx1"/>
                </a:solidFill>
              </a:rPr>
              <a:t>It would be neat if I could export my data into a CSV file.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9426B8-67F1-0B4B-CEC0-757D0823B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Information-Centric Requirements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A476E-9083-DE3F-2F7C-64CC801C5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19150"/>
          </a:xfrm>
        </p:spPr>
        <p:txBody>
          <a:bodyPr/>
          <a:lstStyle/>
          <a:p>
            <a:pPr marL="0" indent="0">
              <a:buNone/>
            </a:pPr>
            <a:r>
              <a:rPr lang="en-SE" noProof="0" dirty="0"/>
              <a:t>Information storages can be tangible or intangible.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53EB6-F959-2183-9BCF-5BF3DFF3B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2026-05-28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57CD01-C368-CC30-8D38-2720480A2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US" noProof="0" smtClean="0"/>
              <a:t>9</a:t>
            </a:fld>
            <a:endParaRPr lang="en-US" noProof="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505294F-2432-4BEC-E901-C891D16EA40B}"/>
              </a:ext>
            </a:extLst>
          </p:cNvPr>
          <p:cNvSpPr/>
          <p:nvPr/>
        </p:nvSpPr>
        <p:spPr>
          <a:xfrm>
            <a:off x="8896350" y="3228975"/>
            <a:ext cx="2171700" cy="9144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>
                <a:solidFill>
                  <a:schemeClr val="tx1"/>
                </a:solidFill>
              </a:rPr>
              <a:t>&lt;information particle&gt;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7A7C4D4-9D1A-48E3-0FEC-291459D9306E}"/>
              </a:ext>
            </a:extLst>
          </p:cNvPr>
          <p:cNvSpPr/>
          <p:nvPr/>
        </p:nvSpPr>
        <p:spPr>
          <a:xfrm>
            <a:off x="8610600" y="2644775"/>
            <a:ext cx="2743200" cy="3711575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noProof="0" dirty="0">
                <a:solidFill>
                  <a:sysClr val="windowText" lastClr="000000"/>
                </a:solidFill>
              </a:rPr>
              <a:t>Legend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6151BD5-5662-CDEF-0FE0-2F8CABA395D0}"/>
              </a:ext>
            </a:extLst>
          </p:cNvPr>
          <p:cNvGrpSpPr/>
          <p:nvPr/>
        </p:nvGrpSpPr>
        <p:grpSpPr>
          <a:xfrm>
            <a:off x="8801100" y="4370388"/>
            <a:ext cx="2362200" cy="811577"/>
            <a:chOff x="1219200" y="3095624"/>
            <a:chExt cx="2362200" cy="811577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B7F80CB-BABA-B520-6B68-C5534EC40A50}"/>
                </a:ext>
              </a:extLst>
            </p:cNvPr>
            <p:cNvSpPr/>
            <p:nvPr/>
          </p:nvSpPr>
          <p:spPr>
            <a:xfrm>
              <a:off x="1219200" y="3095624"/>
              <a:ext cx="2362200" cy="811577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US" noProof="0" dirty="0">
                  <a:solidFill>
                    <a:sysClr val="windowText" lastClr="000000"/>
                  </a:solidFill>
                </a:rPr>
                <a:t>&lt;information storage&gt;</a:t>
              </a:r>
            </a:p>
          </p:txBody>
        </p:sp>
        <p:pic>
          <p:nvPicPr>
            <p:cNvPr id="15" name="Graphic 14" descr="User with solid fill">
              <a:extLst>
                <a:ext uri="{FF2B5EF4-FFF2-40B4-BE49-F238E27FC236}">
                  <a16:creationId xmlns:a16="http://schemas.microsoft.com/office/drawing/2014/main" id="{10E22A36-813D-8561-7B5E-69A23CF6D1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52550" y="3122974"/>
              <a:ext cx="720000" cy="720000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45C2A7E-401A-A7B6-CB8D-35F9002BA8B4}"/>
              </a:ext>
            </a:extLst>
          </p:cNvPr>
          <p:cNvGrpSpPr/>
          <p:nvPr/>
        </p:nvGrpSpPr>
        <p:grpSpPr>
          <a:xfrm>
            <a:off x="5349150" y="3228974"/>
            <a:ext cx="2743200" cy="1054099"/>
            <a:chOff x="1219200" y="2955925"/>
            <a:chExt cx="2743200" cy="105409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05EA7DF6-A440-FB33-4FF4-AF3871E75980}"/>
                </a:ext>
              </a:extLst>
            </p:cNvPr>
            <p:cNvSpPr/>
            <p:nvPr/>
          </p:nvSpPr>
          <p:spPr>
            <a:xfrm>
              <a:off x="1219200" y="2955925"/>
              <a:ext cx="2743200" cy="105409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US" noProof="0" dirty="0">
                  <a:solidFill>
                    <a:sysClr val="windowText" lastClr="000000"/>
                  </a:solidFill>
                </a:rPr>
                <a:t>Backlog</a:t>
              </a:r>
            </a:p>
          </p:txBody>
        </p:sp>
        <p:pic>
          <p:nvPicPr>
            <p:cNvPr id="17" name="Graphic 16" descr="Database with solid fill">
              <a:extLst>
                <a:ext uri="{FF2B5EF4-FFF2-40B4-BE49-F238E27FC236}">
                  <a16:creationId xmlns:a16="http://schemas.microsoft.com/office/drawing/2014/main" id="{97A638CA-73C7-8DE6-40BA-1B1A626119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352550" y="3122974"/>
              <a:ext cx="720000" cy="720000"/>
            </a:xfrm>
            <a:prstGeom prst="rect">
              <a:avLst/>
            </a:prstGeom>
          </p:spPr>
        </p:pic>
      </p:grp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1511B196-F71B-C8D9-5CFC-7A293FCE0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Signal'26: Information-centric RE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758250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18AA8-71A4-4068-20EB-18F73F631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345666A-5D5A-F1EC-D497-43C550A41735}"/>
              </a:ext>
            </a:extLst>
          </p:cNvPr>
          <p:cNvGrpSpPr/>
          <p:nvPr/>
        </p:nvGrpSpPr>
        <p:grpSpPr>
          <a:xfrm>
            <a:off x="5349150" y="3228974"/>
            <a:ext cx="2743200" cy="1054099"/>
            <a:chOff x="1219200" y="2955925"/>
            <a:chExt cx="2743200" cy="105409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11379795-BBC9-DB97-BA2C-EEBD1C45104F}"/>
                </a:ext>
              </a:extLst>
            </p:cNvPr>
            <p:cNvSpPr/>
            <p:nvPr/>
          </p:nvSpPr>
          <p:spPr>
            <a:xfrm>
              <a:off x="1219200" y="2955925"/>
              <a:ext cx="2743200" cy="105409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US" noProof="0" dirty="0">
                  <a:solidFill>
                    <a:sysClr val="windowText" lastClr="000000"/>
                  </a:solidFill>
                </a:rPr>
                <a:t>Backlog</a:t>
              </a:r>
            </a:p>
          </p:txBody>
        </p:sp>
        <p:pic>
          <p:nvPicPr>
            <p:cNvPr id="17" name="Graphic 16" descr="Database with solid fill">
              <a:extLst>
                <a:ext uri="{FF2B5EF4-FFF2-40B4-BE49-F238E27FC236}">
                  <a16:creationId xmlns:a16="http://schemas.microsoft.com/office/drawing/2014/main" id="{922B686A-ABDC-7789-3A30-8FFB3EFEB3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352550" y="3122974"/>
              <a:ext cx="720000" cy="7200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838B7D0-4CCD-F261-82A3-DD9C0B0F974D}"/>
              </a:ext>
            </a:extLst>
          </p:cNvPr>
          <p:cNvGrpSpPr/>
          <p:nvPr/>
        </p:nvGrpSpPr>
        <p:grpSpPr>
          <a:xfrm>
            <a:off x="1219200" y="3228975"/>
            <a:ext cx="2743200" cy="1054099"/>
            <a:chOff x="1219200" y="2955925"/>
            <a:chExt cx="2743200" cy="1054099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2ABBB2A-38FF-A267-4BF8-5E4915C1C19E}"/>
                </a:ext>
              </a:extLst>
            </p:cNvPr>
            <p:cNvSpPr/>
            <p:nvPr/>
          </p:nvSpPr>
          <p:spPr>
            <a:xfrm>
              <a:off x="1219200" y="2955925"/>
              <a:ext cx="2743200" cy="105409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US" noProof="0" dirty="0">
                  <a:solidFill>
                    <a:sysClr val="windowText" lastClr="000000"/>
                  </a:solidFill>
                </a:rPr>
                <a:t>End user</a:t>
              </a:r>
            </a:p>
          </p:txBody>
        </p:sp>
        <p:pic>
          <p:nvPicPr>
            <p:cNvPr id="11" name="Graphic 10" descr="User with solid fill">
              <a:extLst>
                <a:ext uri="{FF2B5EF4-FFF2-40B4-BE49-F238E27FC236}">
                  <a16:creationId xmlns:a16="http://schemas.microsoft.com/office/drawing/2014/main" id="{46582467-E4F6-A8F3-1E22-02DC8E6B7C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52550" y="3122974"/>
              <a:ext cx="720000" cy="720000"/>
            </a:xfrm>
            <a:prstGeom prst="rect">
              <a:avLst/>
            </a:prstGeom>
          </p:spPr>
        </p:pic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BF457BEA-D952-E140-D607-A61399487D68}"/>
              </a:ext>
            </a:extLst>
          </p:cNvPr>
          <p:cNvSpPr/>
          <p:nvPr/>
        </p:nvSpPr>
        <p:spPr>
          <a:xfrm>
            <a:off x="5349150" y="4185872"/>
            <a:ext cx="2743200" cy="9144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>
                <a:solidFill>
                  <a:schemeClr val="tx1"/>
                </a:solidFill>
              </a:rPr>
              <a:t>It would be neat if I could export my data into a CSV file.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2E50A-F035-5823-7EFC-AB8388F30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Information-Centric Requirements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CCED6-8497-4F55-7427-F89398BB1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19150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Information particles can transfer from one storage to another.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63676-C0EB-4D99-CFD2-FF92D5190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2026-05-28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CF1539-B8B7-3AAE-B2AA-504DED29C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US" noProof="0" smtClean="0"/>
              <a:t>10</a:t>
            </a:fld>
            <a:endParaRPr lang="en-US" noProof="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E70E791-A60D-BF3E-2420-2D1F5A900CFF}"/>
              </a:ext>
            </a:extLst>
          </p:cNvPr>
          <p:cNvSpPr/>
          <p:nvPr/>
        </p:nvSpPr>
        <p:spPr>
          <a:xfrm>
            <a:off x="8896350" y="3228975"/>
            <a:ext cx="2171700" cy="9144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>
                <a:solidFill>
                  <a:schemeClr val="tx1"/>
                </a:solidFill>
              </a:rPr>
              <a:t>&lt;information particle&gt;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1B336F2-FF35-EFF3-8BA3-1D36BD017E0F}"/>
              </a:ext>
            </a:extLst>
          </p:cNvPr>
          <p:cNvSpPr/>
          <p:nvPr/>
        </p:nvSpPr>
        <p:spPr>
          <a:xfrm>
            <a:off x="8610600" y="2644775"/>
            <a:ext cx="2743200" cy="3711575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noProof="0" dirty="0">
                <a:solidFill>
                  <a:sysClr val="windowText" lastClr="000000"/>
                </a:solidFill>
              </a:rPr>
              <a:t>Legend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7B670CC-5CB0-AC95-BB83-3C6A5E3F597A}"/>
              </a:ext>
            </a:extLst>
          </p:cNvPr>
          <p:cNvGrpSpPr/>
          <p:nvPr/>
        </p:nvGrpSpPr>
        <p:grpSpPr>
          <a:xfrm>
            <a:off x="8801100" y="4370388"/>
            <a:ext cx="2362200" cy="811577"/>
            <a:chOff x="1219200" y="3095624"/>
            <a:chExt cx="2362200" cy="811577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E5E3BF0-8527-910C-A1BE-87B68813BA0D}"/>
                </a:ext>
              </a:extLst>
            </p:cNvPr>
            <p:cNvSpPr/>
            <p:nvPr/>
          </p:nvSpPr>
          <p:spPr>
            <a:xfrm>
              <a:off x="1219200" y="3095624"/>
              <a:ext cx="2362200" cy="811577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US" noProof="0" dirty="0">
                  <a:solidFill>
                    <a:sysClr val="windowText" lastClr="000000"/>
                  </a:solidFill>
                </a:rPr>
                <a:t>&lt;information storage&gt;</a:t>
              </a:r>
            </a:p>
          </p:txBody>
        </p:sp>
        <p:pic>
          <p:nvPicPr>
            <p:cNvPr id="15" name="Graphic 14" descr="User with solid fill">
              <a:extLst>
                <a:ext uri="{FF2B5EF4-FFF2-40B4-BE49-F238E27FC236}">
                  <a16:creationId xmlns:a16="http://schemas.microsoft.com/office/drawing/2014/main" id="{65538BB0-224C-374A-2657-97D5DD0492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52550" y="3122974"/>
              <a:ext cx="720000" cy="720000"/>
            </a:xfrm>
            <a:prstGeom prst="rect">
              <a:avLst/>
            </a:prstGeom>
          </p:spPr>
        </p:pic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E2D8C8C-346E-3AF8-96B6-F58371574ACE}"/>
              </a:ext>
            </a:extLst>
          </p:cNvPr>
          <p:cNvCxnSpPr>
            <a:stCxn id="9" idx="3"/>
            <a:endCxn id="16" idx="1"/>
          </p:cNvCxnSpPr>
          <p:nvPr/>
        </p:nvCxnSpPr>
        <p:spPr>
          <a:xfrm flipV="1">
            <a:off x="3962400" y="3756024"/>
            <a:ext cx="138675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8CE3F36-3FC3-C96C-D057-E6B955F108F2}"/>
              </a:ext>
            </a:extLst>
          </p:cNvPr>
          <p:cNvCxnSpPr>
            <a:cxnSpLocks/>
          </p:cNvCxnSpPr>
          <p:nvPr/>
        </p:nvCxnSpPr>
        <p:spPr>
          <a:xfrm flipV="1">
            <a:off x="8848725" y="5868988"/>
            <a:ext cx="226695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0EFA098-8712-0722-749C-C4E2850CB6EA}"/>
              </a:ext>
            </a:extLst>
          </p:cNvPr>
          <p:cNvSpPr txBox="1"/>
          <p:nvPr/>
        </p:nvSpPr>
        <p:spPr>
          <a:xfrm>
            <a:off x="8780781" y="5484660"/>
            <a:ext cx="2402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&lt;information transfer&gt;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3DC34292-42D8-01D7-C826-80E152ADA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Signal'26: Information-centric RE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972481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79747-7353-2C79-E7C5-E76BE802F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Resolving the Anomaly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7252F-934D-0854-BA28-8ED6FBD59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93775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The new, information-centric paradigm explains the anomaly and allows resolving the crisis.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63C9E-8A05-130C-3E46-FBD2356C0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2026-05-28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1F606C-2D6A-3FB8-CDB7-012B896A0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US" noProof="0" smtClean="0"/>
              <a:t>11</a:t>
            </a:fld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4C62427-E539-B2B6-2CF5-D02DA1A3C2F9}"/>
              </a:ext>
            </a:extLst>
          </p:cNvPr>
          <p:cNvGrpSpPr/>
          <p:nvPr/>
        </p:nvGrpSpPr>
        <p:grpSpPr>
          <a:xfrm>
            <a:off x="838198" y="3967162"/>
            <a:ext cx="2362200" cy="809626"/>
            <a:chOff x="1219200" y="2955926"/>
            <a:chExt cx="2362200" cy="809626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A5967642-39C8-FC18-1DD4-C8A184546036}"/>
                </a:ext>
              </a:extLst>
            </p:cNvPr>
            <p:cNvSpPr/>
            <p:nvPr/>
          </p:nvSpPr>
          <p:spPr>
            <a:xfrm>
              <a:off x="1219200" y="2955926"/>
              <a:ext cx="2362200" cy="8096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US" noProof="0" dirty="0">
                  <a:solidFill>
                    <a:sysClr val="windowText" lastClr="000000"/>
                  </a:solidFill>
                </a:rPr>
                <a:t>Stakeholder</a:t>
              </a:r>
            </a:p>
          </p:txBody>
        </p:sp>
        <p:pic>
          <p:nvPicPr>
            <p:cNvPr id="26" name="Graphic 25" descr="User with solid fill">
              <a:extLst>
                <a:ext uri="{FF2B5EF4-FFF2-40B4-BE49-F238E27FC236}">
                  <a16:creationId xmlns:a16="http://schemas.microsoft.com/office/drawing/2014/main" id="{F7BF45F1-D3C5-EF84-E4A4-F641F97D9C2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19200" y="3000739"/>
              <a:ext cx="720000" cy="720000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AD0C0F4-33E1-CEC0-3F53-7AC2683659CC}"/>
              </a:ext>
            </a:extLst>
          </p:cNvPr>
          <p:cNvGrpSpPr/>
          <p:nvPr/>
        </p:nvGrpSpPr>
        <p:grpSpPr>
          <a:xfrm>
            <a:off x="8991600" y="3967162"/>
            <a:ext cx="2362200" cy="809626"/>
            <a:chOff x="1219200" y="2955926"/>
            <a:chExt cx="2362200" cy="809626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D16330E8-F0AF-D2E5-F2F5-5DC1F3A7F9BC}"/>
                </a:ext>
              </a:extLst>
            </p:cNvPr>
            <p:cNvSpPr/>
            <p:nvPr/>
          </p:nvSpPr>
          <p:spPr>
            <a:xfrm>
              <a:off x="1219200" y="2955926"/>
              <a:ext cx="2362200" cy="8096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SE" noProof="0" dirty="0">
                  <a:solidFill>
                    <a:sysClr val="windowText" lastClr="000000"/>
                  </a:solidFill>
                </a:rPr>
                <a:t>Developer</a:t>
              </a:r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35" name="Graphic 34" descr="User with solid fill">
              <a:extLst>
                <a:ext uri="{FF2B5EF4-FFF2-40B4-BE49-F238E27FC236}">
                  <a16:creationId xmlns:a16="http://schemas.microsoft.com/office/drawing/2014/main" id="{1BA7F5BD-3EE3-C1AA-89A3-7BF12302AA2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19200" y="3000739"/>
              <a:ext cx="720000" cy="720000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12AF06A-9794-3268-4A3D-8947D48D97A5}"/>
              </a:ext>
            </a:extLst>
          </p:cNvPr>
          <p:cNvGrpSpPr/>
          <p:nvPr/>
        </p:nvGrpSpPr>
        <p:grpSpPr>
          <a:xfrm>
            <a:off x="7204802" y="2880518"/>
            <a:ext cx="2362200" cy="809626"/>
            <a:chOff x="1219200" y="2955926"/>
            <a:chExt cx="2362200" cy="809626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98438FF7-9B82-A845-8310-43250CF1929E}"/>
                </a:ext>
              </a:extLst>
            </p:cNvPr>
            <p:cNvSpPr/>
            <p:nvPr/>
          </p:nvSpPr>
          <p:spPr>
            <a:xfrm>
              <a:off x="1219200" y="2955926"/>
              <a:ext cx="2362200" cy="8096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SE" noProof="0" dirty="0">
                  <a:solidFill>
                    <a:sysClr val="windowText" lastClr="000000"/>
                  </a:solidFill>
                </a:rPr>
                <a:t>Requirements Specification</a:t>
              </a:r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38" name="Graphic 37" descr="Database with solid fill">
              <a:extLst>
                <a:ext uri="{FF2B5EF4-FFF2-40B4-BE49-F238E27FC236}">
                  <a16:creationId xmlns:a16="http://schemas.microsoft.com/office/drawing/2014/main" id="{E8AC107F-107F-9D9E-47D4-1EEF0D9630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219200" y="3000739"/>
              <a:ext cx="720000" cy="720000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8842273-B1E4-5624-249D-AB2FC2A84881}"/>
              </a:ext>
            </a:extLst>
          </p:cNvPr>
          <p:cNvGrpSpPr/>
          <p:nvPr/>
        </p:nvGrpSpPr>
        <p:grpSpPr>
          <a:xfrm>
            <a:off x="2625000" y="2880518"/>
            <a:ext cx="2362200" cy="809626"/>
            <a:chOff x="1219200" y="2955926"/>
            <a:chExt cx="2362200" cy="809626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B38AB779-277B-6B3F-D33E-B16BA2BC7949}"/>
                </a:ext>
              </a:extLst>
            </p:cNvPr>
            <p:cNvSpPr/>
            <p:nvPr/>
          </p:nvSpPr>
          <p:spPr>
            <a:xfrm>
              <a:off x="1219200" y="2955926"/>
              <a:ext cx="2362200" cy="8096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SE" noProof="0" dirty="0">
                  <a:solidFill>
                    <a:sysClr val="windowText" lastClr="000000"/>
                  </a:solidFill>
                </a:rPr>
                <a:t>Requirements Engineer</a:t>
              </a:r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41" name="Graphic 40" descr="User with solid fill">
              <a:extLst>
                <a:ext uri="{FF2B5EF4-FFF2-40B4-BE49-F238E27FC236}">
                  <a16:creationId xmlns:a16="http://schemas.microsoft.com/office/drawing/2014/main" id="{D9F7D3F7-19A6-B32C-469A-08CDBF384C3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19200" y="3000739"/>
              <a:ext cx="720000" cy="720000"/>
            </a:xfrm>
            <a:prstGeom prst="rect">
              <a:avLst/>
            </a:prstGeom>
          </p:spPr>
        </p:pic>
      </p:grp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4E8A7C4-DABA-3E84-994E-6C7BFE2F24FA}"/>
              </a:ext>
            </a:extLst>
          </p:cNvPr>
          <p:cNvCxnSpPr>
            <a:stCxn id="40" idx="3"/>
            <a:endCxn id="37" idx="1"/>
          </p:cNvCxnSpPr>
          <p:nvPr/>
        </p:nvCxnSpPr>
        <p:spPr>
          <a:xfrm>
            <a:off x="4987200" y="3285331"/>
            <a:ext cx="22176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6DA8AEE-6DEC-BAEA-F863-CEF70FF4DDC4}"/>
              </a:ext>
            </a:extLst>
          </p:cNvPr>
          <p:cNvCxnSpPr>
            <a:cxnSpLocks/>
            <a:stCxn id="25" idx="3"/>
            <a:endCxn id="34" idx="1"/>
          </p:cNvCxnSpPr>
          <p:nvPr/>
        </p:nvCxnSpPr>
        <p:spPr>
          <a:xfrm>
            <a:off x="3200398" y="4371975"/>
            <a:ext cx="57912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89CC9EA-ADE2-FD1C-0F51-68DAB87DA4F5}"/>
              </a:ext>
            </a:extLst>
          </p:cNvPr>
          <p:cNvCxnSpPr>
            <a:cxnSpLocks/>
            <a:stCxn id="25" idx="0"/>
            <a:endCxn id="40" idx="1"/>
          </p:cNvCxnSpPr>
          <p:nvPr/>
        </p:nvCxnSpPr>
        <p:spPr>
          <a:xfrm rot="5400000" flipH="1" flipV="1">
            <a:off x="1981234" y="3323396"/>
            <a:ext cx="681831" cy="6057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6">
            <a:extLst>
              <a:ext uri="{FF2B5EF4-FFF2-40B4-BE49-F238E27FC236}">
                <a16:creationId xmlns:a16="http://schemas.microsoft.com/office/drawing/2014/main" id="{229164D8-C450-86F5-7B54-88C173A47D11}"/>
              </a:ext>
            </a:extLst>
          </p:cNvPr>
          <p:cNvCxnSpPr>
            <a:cxnSpLocks/>
            <a:stCxn id="37" idx="3"/>
            <a:endCxn id="34" idx="0"/>
          </p:cNvCxnSpPr>
          <p:nvPr/>
        </p:nvCxnSpPr>
        <p:spPr>
          <a:xfrm>
            <a:off x="9567002" y="3285331"/>
            <a:ext cx="605698" cy="68183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53D194B-9C46-E698-57D1-8D6A347ED870}"/>
              </a:ext>
            </a:extLst>
          </p:cNvPr>
          <p:cNvGrpSpPr/>
          <p:nvPr/>
        </p:nvGrpSpPr>
        <p:grpSpPr>
          <a:xfrm>
            <a:off x="647583" y="2792313"/>
            <a:ext cx="1821230" cy="432000"/>
            <a:chOff x="1124335" y="3054350"/>
            <a:chExt cx="1821230" cy="432000"/>
          </a:xfrm>
        </p:grpSpPr>
        <p:pic>
          <p:nvPicPr>
            <p:cNvPr id="53" name="Graphic 52" descr="Chat with solid fill">
              <a:extLst>
                <a:ext uri="{FF2B5EF4-FFF2-40B4-BE49-F238E27FC236}">
                  <a16:creationId xmlns:a16="http://schemas.microsoft.com/office/drawing/2014/main" id="{01DABE9C-C919-FEC1-E443-3C5E454EB6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24335" y="3054350"/>
              <a:ext cx="432000" cy="432000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482145B-16C0-5D02-EA4D-2BE624C1BC89}"/>
                </a:ext>
              </a:extLst>
            </p:cNvPr>
            <p:cNvSpPr txBox="1"/>
            <p:nvPr/>
          </p:nvSpPr>
          <p:spPr>
            <a:xfrm>
              <a:off x="1558198" y="3085684"/>
              <a:ext cx="13873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dirty="0"/>
                <a:t>Interviewing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3B807C7-46B5-BB2A-64F3-82F7EC948373}"/>
              </a:ext>
            </a:extLst>
          </p:cNvPr>
          <p:cNvGrpSpPr/>
          <p:nvPr/>
        </p:nvGrpSpPr>
        <p:grpSpPr>
          <a:xfrm>
            <a:off x="5111870" y="2792313"/>
            <a:ext cx="1968257" cy="432000"/>
            <a:chOff x="1124335" y="3054350"/>
            <a:chExt cx="1968257" cy="432000"/>
          </a:xfrm>
        </p:grpSpPr>
        <p:pic>
          <p:nvPicPr>
            <p:cNvPr id="57" name="Graphic 56" descr="Pen with solid fill">
              <a:extLst>
                <a:ext uri="{FF2B5EF4-FFF2-40B4-BE49-F238E27FC236}">
                  <a16:creationId xmlns:a16="http://schemas.microsoft.com/office/drawing/2014/main" id="{13257F38-ADC8-6DBE-B2E1-77D9E822279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1124335" y="3054350"/>
              <a:ext cx="432000" cy="432000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D78A2AB-37B2-4ADC-DDC6-0BD84C487174}"/>
                </a:ext>
              </a:extLst>
            </p:cNvPr>
            <p:cNvSpPr txBox="1"/>
            <p:nvPr/>
          </p:nvSpPr>
          <p:spPr>
            <a:xfrm>
              <a:off x="1558198" y="3085684"/>
              <a:ext cx="15343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dirty="0"/>
                <a:t>Documenting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8216D53-E7AE-0254-E922-4BDA6BCAF949}"/>
              </a:ext>
            </a:extLst>
          </p:cNvPr>
          <p:cNvGrpSpPr/>
          <p:nvPr/>
        </p:nvGrpSpPr>
        <p:grpSpPr>
          <a:xfrm>
            <a:off x="9691677" y="2792313"/>
            <a:ext cx="1426442" cy="432000"/>
            <a:chOff x="1124335" y="3054350"/>
            <a:chExt cx="1426442" cy="432000"/>
          </a:xfrm>
        </p:grpSpPr>
        <p:pic>
          <p:nvPicPr>
            <p:cNvPr id="60" name="Graphic 59" descr="Glasses with solid fill">
              <a:extLst>
                <a:ext uri="{FF2B5EF4-FFF2-40B4-BE49-F238E27FC236}">
                  <a16:creationId xmlns:a16="http://schemas.microsoft.com/office/drawing/2014/main" id="{A7D8D5C4-8D18-9590-FA32-557FD7B9D4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1124335" y="3054350"/>
              <a:ext cx="432000" cy="432000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6A133E1-B36F-DAAB-592C-8A202DB616BB}"/>
                </a:ext>
              </a:extLst>
            </p:cNvPr>
            <p:cNvSpPr txBox="1"/>
            <p:nvPr/>
          </p:nvSpPr>
          <p:spPr>
            <a:xfrm>
              <a:off x="1558198" y="3085684"/>
              <a:ext cx="9925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dirty="0"/>
                <a:t>Reading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D28FCDB-AD79-8465-F085-60D177534464}"/>
              </a:ext>
            </a:extLst>
          </p:cNvPr>
          <p:cNvGrpSpPr/>
          <p:nvPr/>
        </p:nvGrpSpPr>
        <p:grpSpPr>
          <a:xfrm>
            <a:off x="4814301" y="4416788"/>
            <a:ext cx="2997257" cy="432000"/>
            <a:chOff x="1124335" y="3054350"/>
            <a:chExt cx="2997257" cy="432000"/>
          </a:xfrm>
        </p:grpSpPr>
        <p:pic>
          <p:nvPicPr>
            <p:cNvPr id="63" name="Graphic 62" descr="Chat with solid fill">
              <a:extLst>
                <a:ext uri="{FF2B5EF4-FFF2-40B4-BE49-F238E27FC236}">
                  <a16:creationId xmlns:a16="http://schemas.microsoft.com/office/drawing/2014/main" id="{83FD063E-03AC-2AF5-BBDF-F22DBD7976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124335" y="3054350"/>
              <a:ext cx="432000" cy="432000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24BEFF1-3F0A-BFD0-C9FB-6325DAC5F06F}"/>
                </a:ext>
              </a:extLst>
            </p:cNvPr>
            <p:cNvSpPr txBox="1"/>
            <p:nvPr/>
          </p:nvSpPr>
          <p:spPr>
            <a:xfrm>
              <a:off x="1558198" y="3085684"/>
              <a:ext cx="25633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dirty="0"/>
                <a:t>Directly communicating</a:t>
              </a:r>
            </a:p>
          </p:txBody>
        </p:sp>
      </p:grpSp>
      <p:sp>
        <p:nvSpPr>
          <p:cNvPr id="65" name="Oval 64">
            <a:extLst>
              <a:ext uri="{FF2B5EF4-FFF2-40B4-BE49-F238E27FC236}">
                <a16:creationId xmlns:a16="http://schemas.microsoft.com/office/drawing/2014/main" id="{15C1D7E7-009C-27D5-3164-9235333DDFE6}"/>
              </a:ext>
            </a:extLst>
          </p:cNvPr>
          <p:cNvSpPr/>
          <p:nvPr/>
        </p:nvSpPr>
        <p:spPr>
          <a:xfrm>
            <a:off x="1107031" y="4614963"/>
            <a:ext cx="2743200" cy="9144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>
                <a:solidFill>
                  <a:schemeClr val="tx1"/>
                </a:solidFill>
              </a:rPr>
              <a:t>It would be neat if I could export my data into a CSV file.</a:t>
            </a:r>
          </a:p>
        </p:txBody>
      </p:sp>
      <p:sp>
        <p:nvSpPr>
          <p:cNvPr id="66" name="Content Placeholder 2">
            <a:extLst>
              <a:ext uri="{FF2B5EF4-FFF2-40B4-BE49-F238E27FC236}">
                <a16:creationId xmlns:a16="http://schemas.microsoft.com/office/drawing/2014/main" id="{27C64556-18D3-7230-009E-72CBA927FC15}"/>
              </a:ext>
            </a:extLst>
          </p:cNvPr>
          <p:cNvSpPr txBox="1">
            <a:spLocks/>
          </p:cNvSpPr>
          <p:nvPr/>
        </p:nvSpPr>
        <p:spPr>
          <a:xfrm>
            <a:off x="838198" y="5537630"/>
            <a:ext cx="10515600" cy="993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SE" dirty="0"/>
              <a:t>What matters is </a:t>
            </a:r>
            <a:r>
              <a:rPr lang="en-SE" b="1" dirty="0"/>
              <a:t>through which path </a:t>
            </a:r>
            <a:r>
              <a:rPr lang="en-SE" dirty="0"/>
              <a:t>does the information (i.e., the requirements particle) flow better/faster to the developer?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AEEAA6-C0BA-ED86-9928-1D5A8AC37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Signal'26: Information-centric RE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112131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79733-7B46-48D7-CBFB-5ECF5CE16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EA323-223F-8A7D-703D-FFCF78959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Resolving the Anomaly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50AD7-C538-322A-ADF7-468F8120E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2026-05-28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CAD125-8D90-FF3E-A466-C1CEC3C3F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US" noProof="0" smtClean="0"/>
              <a:t>12</a:t>
            </a:fld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FD98DC3-154D-4267-51F6-50472BFA9CDB}"/>
              </a:ext>
            </a:extLst>
          </p:cNvPr>
          <p:cNvGrpSpPr/>
          <p:nvPr/>
        </p:nvGrpSpPr>
        <p:grpSpPr>
          <a:xfrm>
            <a:off x="838198" y="3967162"/>
            <a:ext cx="2362200" cy="809626"/>
            <a:chOff x="1219200" y="2955926"/>
            <a:chExt cx="2362200" cy="809626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F7195694-27A7-3282-0694-1A56E47517D5}"/>
                </a:ext>
              </a:extLst>
            </p:cNvPr>
            <p:cNvSpPr/>
            <p:nvPr/>
          </p:nvSpPr>
          <p:spPr>
            <a:xfrm>
              <a:off x="1219200" y="2955926"/>
              <a:ext cx="2362200" cy="8096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US" noProof="0" dirty="0">
                  <a:solidFill>
                    <a:sysClr val="windowText" lastClr="000000"/>
                  </a:solidFill>
                </a:rPr>
                <a:t>Stakeholder</a:t>
              </a:r>
            </a:p>
          </p:txBody>
        </p:sp>
        <p:pic>
          <p:nvPicPr>
            <p:cNvPr id="26" name="Graphic 25" descr="User with solid fill">
              <a:extLst>
                <a:ext uri="{FF2B5EF4-FFF2-40B4-BE49-F238E27FC236}">
                  <a16:creationId xmlns:a16="http://schemas.microsoft.com/office/drawing/2014/main" id="{BD1B5C18-0B3B-16C4-8D3A-1669BD1777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19200" y="3000739"/>
              <a:ext cx="720000" cy="720000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D236F61-D7CF-0C36-5AC9-3A9C8544DDAE}"/>
              </a:ext>
            </a:extLst>
          </p:cNvPr>
          <p:cNvGrpSpPr/>
          <p:nvPr/>
        </p:nvGrpSpPr>
        <p:grpSpPr>
          <a:xfrm>
            <a:off x="8991600" y="3967162"/>
            <a:ext cx="2362200" cy="809626"/>
            <a:chOff x="1219200" y="2955926"/>
            <a:chExt cx="2362200" cy="809626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898EE2A6-BEA4-E76B-FC70-D70FB243939E}"/>
                </a:ext>
              </a:extLst>
            </p:cNvPr>
            <p:cNvSpPr/>
            <p:nvPr/>
          </p:nvSpPr>
          <p:spPr>
            <a:xfrm>
              <a:off x="1219200" y="2955926"/>
              <a:ext cx="2362200" cy="8096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SE" noProof="0" dirty="0">
                  <a:solidFill>
                    <a:sysClr val="windowText" lastClr="000000"/>
                  </a:solidFill>
                </a:rPr>
                <a:t>Developer</a:t>
              </a:r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35" name="Graphic 34" descr="User with solid fill">
              <a:extLst>
                <a:ext uri="{FF2B5EF4-FFF2-40B4-BE49-F238E27FC236}">
                  <a16:creationId xmlns:a16="http://schemas.microsoft.com/office/drawing/2014/main" id="{192199CC-0D68-1278-C00A-704B2220FD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19200" y="3000739"/>
              <a:ext cx="720000" cy="720000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8E787CA-9A4C-C6EC-31D1-22A9C763033E}"/>
              </a:ext>
            </a:extLst>
          </p:cNvPr>
          <p:cNvGrpSpPr/>
          <p:nvPr/>
        </p:nvGrpSpPr>
        <p:grpSpPr>
          <a:xfrm>
            <a:off x="7204802" y="2880518"/>
            <a:ext cx="2362200" cy="809626"/>
            <a:chOff x="1219200" y="2955926"/>
            <a:chExt cx="2362200" cy="809626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502DF4BB-CED9-C17E-A30C-8A9312663272}"/>
                </a:ext>
              </a:extLst>
            </p:cNvPr>
            <p:cNvSpPr/>
            <p:nvPr/>
          </p:nvSpPr>
          <p:spPr>
            <a:xfrm>
              <a:off x="1219200" y="2955926"/>
              <a:ext cx="2362200" cy="8096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SE" noProof="0" dirty="0">
                  <a:solidFill>
                    <a:sysClr val="windowText" lastClr="000000"/>
                  </a:solidFill>
                </a:rPr>
                <a:t>Requirements Specification</a:t>
              </a:r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38" name="Graphic 37" descr="Database with solid fill">
              <a:extLst>
                <a:ext uri="{FF2B5EF4-FFF2-40B4-BE49-F238E27FC236}">
                  <a16:creationId xmlns:a16="http://schemas.microsoft.com/office/drawing/2014/main" id="{62E1497F-DD4E-D0E3-524C-1CC40BEC9C2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219200" y="3000739"/>
              <a:ext cx="720000" cy="720000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7381C58-88E5-5B83-CCFB-78D5876FD129}"/>
              </a:ext>
            </a:extLst>
          </p:cNvPr>
          <p:cNvGrpSpPr/>
          <p:nvPr/>
        </p:nvGrpSpPr>
        <p:grpSpPr>
          <a:xfrm>
            <a:off x="2625000" y="2880518"/>
            <a:ext cx="2362200" cy="809626"/>
            <a:chOff x="1219200" y="2955926"/>
            <a:chExt cx="2362200" cy="809626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B9B86821-2C8F-8709-9A96-75590C6476A2}"/>
                </a:ext>
              </a:extLst>
            </p:cNvPr>
            <p:cNvSpPr/>
            <p:nvPr/>
          </p:nvSpPr>
          <p:spPr>
            <a:xfrm>
              <a:off x="1219200" y="2955926"/>
              <a:ext cx="2362200" cy="8096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SE" noProof="0" dirty="0">
                  <a:solidFill>
                    <a:sysClr val="windowText" lastClr="000000"/>
                  </a:solidFill>
                </a:rPr>
                <a:t>Requirements Engineer</a:t>
              </a:r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41" name="Graphic 40" descr="User with solid fill">
              <a:extLst>
                <a:ext uri="{FF2B5EF4-FFF2-40B4-BE49-F238E27FC236}">
                  <a16:creationId xmlns:a16="http://schemas.microsoft.com/office/drawing/2014/main" id="{9C23A190-83B3-C2F5-508C-B18883554A0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19200" y="3000739"/>
              <a:ext cx="720000" cy="720000"/>
            </a:xfrm>
            <a:prstGeom prst="rect">
              <a:avLst/>
            </a:prstGeom>
          </p:spPr>
        </p:pic>
      </p:grp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CCBDE2C-7443-68C3-0C69-594779E7F948}"/>
              </a:ext>
            </a:extLst>
          </p:cNvPr>
          <p:cNvCxnSpPr>
            <a:stCxn id="40" idx="3"/>
            <a:endCxn id="37" idx="1"/>
          </p:cNvCxnSpPr>
          <p:nvPr/>
        </p:nvCxnSpPr>
        <p:spPr>
          <a:xfrm>
            <a:off x="4987200" y="3285331"/>
            <a:ext cx="22176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FBDE654-5876-C32C-68C3-00C016E5A3B6}"/>
              </a:ext>
            </a:extLst>
          </p:cNvPr>
          <p:cNvCxnSpPr>
            <a:cxnSpLocks/>
            <a:stCxn id="25" idx="3"/>
            <a:endCxn id="34" idx="1"/>
          </p:cNvCxnSpPr>
          <p:nvPr/>
        </p:nvCxnSpPr>
        <p:spPr>
          <a:xfrm>
            <a:off x="3200398" y="4371975"/>
            <a:ext cx="57912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9E3E505-F24B-859C-1183-C9E302CF0724}"/>
              </a:ext>
            </a:extLst>
          </p:cNvPr>
          <p:cNvCxnSpPr>
            <a:cxnSpLocks/>
            <a:stCxn id="25" idx="0"/>
            <a:endCxn id="40" idx="1"/>
          </p:cNvCxnSpPr>
          <p:nvPr/>
        </p:nvCxnSpPr>
        <p:spPr>
          <a:xfrm rot="5400000" flipH="1" flipV="1">
            <a:off x="1981234" y="3323396"/>
            <a:ext cx="681831" cy="6057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6">
            <a:extLst>
              <a:ext uri="{FF2B5EF4-FFF2-40B4-BE49-F238E27FC236}">
                <a16:creationId xmlns:a16="http://schemas.microsoft.com/office/drawing/2014/main" id="{DC6A15F6-4D32-6A73-14D4-4F2F9AFCB499}"/>
              </a:ext>
            </a:extLst>
          </p:cNvPr>
          <p:cNvCxnSpPr>
            <a:cxnSpLocks/>
            <a:stCxn id="37" idx="3"/>
            <a:endCxn id="34" idx="0"/>
          </p:cNvCxnSpPr>
          <p:nvPr/>
        </p:nvCxnSpPr>
        <p:spPr>
          <a:xfrm>
            <a:off x="9567002" y="3285331"/>
            <a:ext cx="605698" cy="68183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8F3CA99-4C28-7222-76A0-522580743193}"/>
              </a:ext>
            </a:extLst>
          </p:cNvPr>
          <p:cNvGrpSpPr/>
          <p:nvPr/>
        </p:nvGrpSpPr>
        <p:grpSpPr>
          <a:xfrm>
            <a:off x="647583" y="2792313"/>
            <a:ext cx="1821230" cy="432000"/>
            <a:chOff x="1124335" y="3054350"/>
            <a:chExt cx="1821230" cy="432000"/>
          </a:xfrm>
        </p:grpSpPr>
        <p:pic>
          <p:nvPicPr>
            <p:cNvPr id="53" name="Graphic 52" descr="Chat with solid fill">
              <a:extLst>
                <a:ext uri="{FF2B5EF4-FFF2-40B4-BE49-F238E27FC236}">
                  <a16:creationId xmlns:a16="http://schemas.microsoft.com/office/drawing/2014/main" id="{60D71A7B-ADB3-29F7-F985-77CB4F37EB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24335" y="3054350"/>
              <a:ext cx="432000" cy="432000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10C8BAD-EC6D-835D-4995-4E55FCC336AA}"/>
                </a:ext>
              </a:extLst>
            </p:cNvPr>
            <p:cNvSpPr txBox="1"/>
            <p:nvPr/>
          </p:nvSpPr>
          <p:spPr>
            <a:xfrm>
              <a:off x="1558198" y="3085684"/>
              <a:ext cx="13873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dirty="0"/>
                <a:t>Interviewing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5142865-7B54-D6B2-3BEE-E2204A41C832}"/>
              </a:ext>
            </a:extLst>
          </p:cNvPr>
          <p:cNvGrpSpPr/>
          <p:nvPr/>
        </p:nvGrpSpPr>
        <p:grpSpPr>
          <a:xfrm>
            <a:off x="5111870" y="2792313"/>
            <a:ext cx="1968257" cy="432000"/>
            <a:chOff x="1124335" y="3054350"/>
            <a:chExt cx="1968257" cy="432000"/>
          </a:xfrm>
        </p:grpSpPr>
        <p:pic>
          <p:nvPicPr>
            <p:cNvPr id="57" name="Graphic 56" descr="Pen with solid fill">
              <a:extLst>
                <a:ext uri="{FF2B5EF4-FFF2-40B4-BE49-F238E27FC236}">
                  <a16:creationId xmlns:a16="http://schemas.microsoft.com/office/drawing/2014/main" id="{CCE4F411-C8D2-1535-3BFF-299482E808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1124335" y="3054350"/>
              <a:ext cx="432000" cy="432000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081511B-BB17-CD8A-2294-2233E709471E}"/>
                </a:ext>
              </a:extLst>
            </p:cNvPr>
            <p:cNvSpPr txBox="1"/>
            <p:nvPr/>
          </p:nvSpPr>
          <p:spPr>
            <a:xfrm>
              <a:off x="1558198" y="3085684"/>
              <a:ext cx="15343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dirty="0"/>
                <a:t>Documenting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BAB30F8-0F36-FB5A-27C7-E09D01D0A6E1}"/>
              </a:ext>
            </a:extLst>
          </p:cNvPr>
          <p:cNvGrpSpPr/>
          <p:nvPr/>
        </p:nvGrpSpPr>
        <p:grpSpPr>
          <a:xfrm>
            <a:off x="9691677" y="2792313"/>
            <a:ext cx="1426442" cy="432000"/>
            <a:chOff x="1124335" y="3054350"/>
            <a:chExt cx="1426442" cy="432000"/>
          </a:xfrm>
        </p:grpSpPr>
        <p:pic>
          <p:nvPicPr>
            <p:cNvPr id="60" name="Graphic 59" descr="Glasses with solid fill">
              <a:extLst>
                <a:ext uri="{FF2B5EF4-FFF2-40B4-BE49-F238E27FC236}">
                  <a16:creationId xmlns:a16="http://schemas.microsoft.com/office/drawing/2014/main" id="{7158EE99-AA77-482B-21BF-5C8935BF27C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1124335" y="3054350"/>
              <a:ext cx="432000" cy="432000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21E5B7D-E333-83B5-0946-AD0D9A6C68BE}"/>
                </a:ext>
              </a:extLst>
            </p:cNvPr>
            <p:cNvSpPr txBox="1"/>
            <p:nvPr/>
          </p:nvSpPr>
          <p:spPr>
            <a:xfrm>
              <a:off x="1558198" y="3085684"/>
              <a:ext cx="9925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dirty="0"/>
                <a:t>Reading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19F9C22-60C5-B842-14BC-22DAC6AFCBF7}"/>
              </a:ext>
            </a:extLst>
          </p:cNvPr>
          <p:cNvGrpSpPr/>
          <p:nvPr/>
        </p:nvGrpSpPr>
        <p:grpSpPr>
          <a:xfrm>
            <a:off x="4814301" y="4416788"/>
            <a:ext cx="2997257" cy="432000"/>
            <a:chOff x="1124335" y="3054350"/>
            <a:chExt cx="2997257" cy="432000"/>
          </a:xfrm>
        </p:grpSpPr>
        <p:pic>
          <p:nvPicPr>
            <p:cNvPr id="63" name="Graphic 62" descr="Chat with solid fill">
              <a:extLst>
                <a:ext uri="{FF2B5EF4-FFF2-40B4-BE49-F238E27FC236}">
                  <a16:creationId xmlns:a16="http://schemas.microsoft.com/office/drawing/2014/main" id="{6C85EED8-09EA-7119-C502-CB6E25F583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124335" y="3054350"/>
              <a:ext cx="432000" cy="432000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07EE89F-08E3-43DD-CFF7-370208EB9FE8}"/>
                </a:ext>
              </a:extLst>
            </p:cNvPr>
            <p:cNvSpPr txBox="1"/>
            <p:nvPr/>
          </p:nvSpPr>
          <p:spPr>
            <a:xfrm>
              <a:off x="1558198" y="3085684"/>
              <a:ext cx="25633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dirty="0"/>
                <a:t>Directly communicating</a:t>
              </a:r>
            </a:p>
          </p:txBody>
        </p:sp>
      </p:grpSp>
      <p:sp>
        <p:nvSpPr>
          <p:cNvPr id="65" name="Oval 64">
            <a:extLst>
              <a:ext uri="{FF2B5EF4-FFF2-40B4-BE49-F238E27FC236}">
                <a16:creationId xmlns:a16="http://schemas.microsoft.com/office/drawing/2014/main" id="{2F0E03BF-47CE-82AE-12A5-3EC68BDFA37F}"/>
              </a:ext>
            </a:extLst>
          </p:cNvPr>
          <p:cNvSpPr/>
          <p:nvPr/>
        </p:nvSpPr>
        <p:spPr>
          <a:xfrm>
            <a:off x="1107031" y="4614963"/>
            <a:ext cx="2743200" cy="9144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noProof="0" dirty="0">
                <a:solidFill>
                  <a:schemeClr val="tx1"/>
                </a:solidFill>
              </a:rPr>
              <a:t>It would be neat if I could export my data into a CSV file.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E8578-34E9-8E02-D928-D3535B39F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Signal'26: Information-centric RE</a:t>
            </a:r>
            <a:endParaRPr lang="en-SE"/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6233D5BE-60DD-FAAF-C238-99FFD6F31AD7}"/>
              </a:ext>
            </a:extLst>
          </p:cNvPr>
          <p:cNvSpPr/>
          <p:nvPr/>
        </p:nvSpPr>
        <p:spPr>
          <a:xfrm>
            <a:off x="4349260" y="1517185"/>
            <a:ext cx="3804140" cy="1011360"/>
          </a:xfrm>
          <a:prstGeom prst="wedgeRectCallout">
            <a:avLst>
              <a:gd name="adj1" fmla="val 27244"/>
              <a:gd name="adj2" fmla="val 84524"/>
            </a:avLst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dirty="0"/>
              <a:t>Tangible and intangible information storages are equally represented 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1FF9F818-54EC-F765-4B06-85A3E80E6251}"/>
              </a:ext>
            </a:extLst>
          </p:cNvPr>
          <p:cNvSpPr/>
          <p:nvPr/>
        </p:nvSpPr>
        <p:spPr>
          <a:xfrm>
            <a:off x="3641800" y="5283546"/>
            <a:ext cx="3804140" cy="1011360"/>
          </a:xfrm>
          <a:prstGeom prst="wedgeRectCallout">
            <a:avLst>
              <a:gd name="adj1" fmla="val 33715"/>
              <a:gd name="adj2" fmla="val -83551"/>
            </a:avLst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dirty="0"/>
              <a:t>The goal of RE is formalized as the transport of information from sources to targets</a:t>
            </a: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E9BE20A4-AFFE-0730-008F-86628E5E6C78}"/>
              </a:ext>
            </a:extLst>
          </p:cNvPr>
          <p:cNvSpPr/>
          <p:nvPr/>
        </p:nvSpPr>
        <p:spPr>
          <a:xfrm>
            <a:off x="7564802" y="5283546"/>
            <a:ext cx="3804140" cy="1011360"/>
          </a:xfrm>
          <a:prstGeom prst="wedgeRectCallout">
            <a:avLst>
              <a:gd name="adj1" fmla="val -55653"/>
              <a:gd name="adj2" fmla="val 11498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dirty="0"/>
              <a:t>The properties of the information flow constitute RE quality</a:t>
            </a:r>
          </a:p>
        </p:txBody>
      </p:sp>
    </p:spTree>
    <p:extLst>
      <p:ext uri="{BB962C8B-B14F-4D97-AF65-F5344CB8AC3E}">
        <p14:creationId xmlns:p14="http://schemas.microsoft.com/office/powerpoint/2010/main" val="27701121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C92B-A52D-B4FB-2354-50B3B0C5C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Modelling RE as I</a:t>
            </a:r>
            <a:r>
              <a:rPr lang="de-DE" dirty="0"/>
              <a:t>n</a:t>
            </a:r>
            <a:r>
              <a:rPr lang="en-SE" dirty="0"/>
              <a:t>formation Flow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856A3-5A62-0198-684F-51B5CE5D5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2026-05-28</a:t>
            </a:r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F1E7AB-592A-FEEF-29F7-38F25911A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13</a:t>
            </a:fld>
            <a:endParaRPr lang="en-SE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F8734A7-3899-B245-88A2-A0E2FAB64F87}"/>
              </a:ext>
            </a:extLst>
          </p:cNvPr>
          <p:cNvGrpSpPr/>
          <p:nvPr/>
        </p:nvGrpSpPr>
        <p:grpSpPr>
          <a:xfrm>
            <a:off x="1928446" y="1855656"/>
            <a:ext cx="2705596" cy="929704"/>
            <a:chOff x="2209800" y="1986659"/>
            <a:chExt cx="2705596" cy="92970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BE0573A-F232-6519-7E89-D30E28928C44}"/>
                </a:ext>
              </a:extLst>
            </p:cNvPr>
            <p:cNvGrpSpPr/>
            <p:nvPr/>
          </p:nvGrpSpPr>
          <p:grpSpPr>
            <a:xfrm>
              <a:off x="3907211" y="1986659"/>
              <a:ext cx="1008185" cy="569302"/>
              <a:chOff x="1219200" y="2955926"/>
              <a:chExt cx="1008185" cy="569302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99220273-8D2C-788B-05CA-B5D9F6566E5B}"/>
                  </a:ext>
                </a:extLst>
              </p:cNvPr>
              <p:cNvSpPr/>
              <p:nvPr/>
            </p:nvSpPr>
            <p:spPr>
              <a:xfrm>
                <a:off x="1219200" y="2955926"/>
                <a:ext cx="1008185" cy="569302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92000" rtlCol="0" anchor="ctr"/>
              <a:lstStyle/>
              <a:p>
                <a:pPr algn="ctr"/>
                <a:endParaRPr lang="en-US" noProof="0" dirty="0">
                  <a:solidFill>
                    <a:sysClr val="windowText" lastClr="000000"/>
                  </a:solidFill>
                </a:endParaRPr>
              </a:p>
            </p:txBody>
          </p:sp>
          <p:pic>
            <p:nvPicPr>
              <p:cNvPr id="8" name="Graphic 7" descr="Database with solid fill">
                <a:extLst>
                  <a:ext uri="{FF2B5EF4-FFF2-40B4-BE49-F238E27FC236}">
                    <a16:creationId xmlns:a16="http://schemas.microsoft.com/office/drawing/2014/main" id="{0DFF8BB0-6A2F-4385-2292-B7FD9F3AC9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1352550" y="3122974"/>
                <a:ext cx="216000" cy="216000"/>
              </a:xfrm>
              <a:prstGeom prst="rect">
                <a:avLst/>
              </a:prstGeom>
            </p:spPr>
          </p:pic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CA583B1-3CE1-C4A5-35D2-8A269A205666}"/>
                </a:ext>
              </a:extLst>
            </p:cNvPr>
            <p:cNvGrpSpPr/>
            <p:nvPr/>
          </p:nvGrpSpPr>
          <p:grpSpPr>
            <a:xfrm>
              <a:off x="2209800" y="1989791"/>
              <a:ext cx="1008185" cy="569302"/>
              <a:chOff x="1201615" y="2935941"/>
              <a:chExt cx="1008185" cy="569302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2DB8A718-ED3F-A092-D065-E8FE04342708}"/>
                  </a:ext>
                </a:extLst>
              </p:cNvPr>
              <p:cNvSpPr/>
              <p:nvPr/>
            </p:nvSpPr>
            <p:spPr>
              <a:xfrm>
                <a:off x="1201615" y="2935941"/>
                <a:ext cx="1008185" cy="569302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92000" rtlCol="0" anchor="ctr"/>
              <a:lstStyle/>
              <a:p>
                <a:pPr algn="ctr"/>
                <a:endParaRPr lang="en-US" noProof="0" dirty="0">
                  <a:solidFill>
                    <a:sysClr val="windowText" lastClr="000000"/>
                  </a:solidFill>
                </a:endParaRPr>
              </a:p>
            </p:txBody>
          </p:sp>
          <p:pic>
            <p:nvPicPr>
              <p:cNvPr id="11" name="Graphic 10" descr="User with solid fill">
                <a:extLst>
                  <a:ext uri="{FF2B5EF4-FFF2-40B4-BE49-F238E27FC236}">
                    <a16:creationId xmlns:a16="http://schemas.microsoft.com/office/drawing/2014/main" id="{B13EA14C-A2A1-1840-9355-A3F33EC7A2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352550" y="3122974"/>
                <a:ext cx="216000" cy="216000"/>
              </a:xfrm>
              <a:prstGeom prst="rect">
                <a:avLst/>
              </a:prstGeom>
            </p:spPr>
          </p:pic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DCC468-73EE-91C6-6098-8916F757AB09}"/>
                </a:ext>
              </a:extLst>
            </p:cNvPr>
            <p:cNvSpPr/>
            <p:nvPr/>
          </p:nvSpPr>
          <p:spPr>
            <a:xfrm>
              <a:off x="2576735" y="2483343"/>
              <a:ext cx="746850" cy="43302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04F0275-C6DB-5832-1F4B-E1FF72209362}"/>
                </a:ext>
              </a:extLst>
            </p:cNvPr>
            <p:cNvCxnSpPr>
              <a:cxnSpLocks/>
              <a:stCxn id="10" idx="3"/>
              <a:endCxn id="7" idx="1"/>
            </p:cNvCxnSpPr>
            <p:nvPr/>
          </p:nvCxnSpPr>
          <p:spPr>
            <a:xfrm flipV="1">
              <a:off x="3217985" y="2271310"/>
              <a:ext cx="689226" cy="31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A248CEB-C1AB-449E-D52C-BBA0E6063936}"/>
              </a:ext>
            </a:extLst>
          </p:cNvPr>
          <p:cNvSpPr txBox="1"/>
          <p:nvPr/>
        </p:nvSpPr>
        <p:spPr>
          <a:xfrm>
            <a:off x="1487613" y="2819326"/>
            <a:ext cx="35872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sz="2000" b="1" dirty="0"/>
              <a:t>Information as discrete, concrete particles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D6EA5FA2-0665-BC2C-9888-23DFAC3A4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92181"/>
            <a:ext cx="4835769" cy="2664169"/>
          </a:xfrm>
        </p:spPr>
        <p:txBody>
          <a:bodyPr>
            <a:normAutofit/>
          </a:bodyPr>
          <a:lstStyle/>
          <a:p>
            <a:pPr>
              <a:buClr>
                <a:srgbClr val="92D050"/>
              </a:buClr>
              <a:buFont typeface="Aptos" panose="020B0004020202020204" pitchFamily="34" charset="0"/>
              <a:buChar char="+"/>
            </a:pPr>
            <a:r>
              <a:rPr lang="en-SE" sz="2000" dirty="0"/>
              <a:t>High granularity and specificity</a:t>
            </a:r>
          </a:p>
          <a:p>
            <a:pPr>
              <a:buClr>
                <a:srgbClr val="92D050"/>
              </a:buClr>
              <a:buFont typeface="Aptos" panose="020B0004020202020204" pitchFamily="34" charset="0"/>
              <a:buChar char="+"/>
            </a:pPr>
            <a:r>
              <a:rPr lang="en-SE" sz="2000" dirty="0"/>
              <a:t>Directly empirically grounded</a:t>
            </a:r>
          </a:p>
          <a:p>
            <a:pPr>
              <a:buClr>
                <a:srgbClr val="C00000"/>
              </a:buClr>
              <a:buFont typeface="Aptos" panose="020B0004020202020204" pitchFamily="34" charset="0"/>
              <a:buChar char="-"/>
            </a:pPr>
            <a:r>
              <a:rPr lang="en-SE" sz="2000" dirty="0"/>
              <a:t>Only retrospective</a:t>
            </a:r>
          </a:p>
          <a:p>
            <a:pPr>
              <a:buClr>
                <a:srgbClr val="C00000"/>
              </a:buClr>
              <a:buFont typeface="Aptos" panose="020B0004020202020204" pitchFamily="34" charset="0"/>
              <a:buChar char="-"/>
            </a:pPr>
            <a:r>
              <a:rPr lang="de-DE" sz="2000" dirty="0"/>
              <a:t>L</a:t>
            </a:r>
            <a:r>
              <a:rPr lang="en-SE" sz="2000" dirty="0"/>
              <a:t>ow generalizability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SE" sz="2000" dirty="0"/>
              <a:t>Useful for retrospective analyses (e.g., identifying bottlenecks)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SE" sz="2000" dirty="0"/>
              <a:t>Models requirements semantically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D4212C40-259C-E554-C09A-840138B6C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Signal'26: Information-centric RE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8235454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4B8B2-BC62-EB4F-C2B4-C46033E29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Modelling RE as I</a:t>
            </a:r>
            <a:r>
              <a:rPr lang="de-DE" dirty="0"/>
              <a:t>n</a:t>
            </a:r>
            <a:r>
              <a:rPr lang="en-SE" dirty="0"/>
              <a:t>formation Flow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1F74D-A9B4-5514-38E2-06911CDEF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11360"/>
          </a:xfrm>
        </p:spPr>
        <p:txBody>
          <a:bodyPr/>
          <a:lstStyle/>
          <a:p>
            <a:pPr marL="0" indent="0">
              <a:buNone/>
            </a:pPr>
            <a:r>
              <a:rPr lang="en-SE" noProof="0" dirty="0"/>
              <a:t>Alternatively, we can model information as a </a:t>
            </a:r>
            <a:r>
              <a:rPr lang="en-SE" i="1" noProof="0" dirty="0"/>
              <a:t>quantity</a:t>
            </a:r>
            <a:r>
              <a:rPr lang="en-SE" noProof="0" dirty="0"/>
              <a:t>, i.e., the fraction of the total information that a storage possesses.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A8F87-D32A-4B01-2F7C-269C50B32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2026-05-28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720F16-C49B-8AFE-9F7C-D3EB34C80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US" noProof="0" smtClean="0"/>
              <a:t>14</a:t>
            </a:fld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46723B9-91DB-78DE-D39A-0CB7E9004B4F}"/>
              </a:ext>
            </a:extLst>
          </p:cNvPr>
          <p:cNvGrpSpPr/>
          <p:nvPr/>
        </p:nvGrpSpPr>
        <p:grpSpPr>
          <a:xfrm>
            <a:off x="1028700" y="3787041"/>
            <a:ext cx="2362200" cy="809626"/>
            <a:chOff x="1219200" y="2955926"/>
            <a:chExt cx="2362200" cy="809626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5E9BCD5B-E9A6-6245-67F5-3B6F8CB6BCC3}"/>
                </a:ext>
              </a:extLst>
            </p:cNvPr>
            <p:cNvSpPr/>
            <p:nvPr/>
          </p:nvSpPr>
          <p:spPr>
            <a:xfrm>
              <a:off x="1219200" y="2955926"/>
              <a:ext cx="2362200" cy="8096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US" noProof="0" dirty="0">
                  <a:solidFill>
                    <a:sysClr val="windowText" lastClr="000000"/>
                  </a:solidFill>
                </a:rPr>
                <a:t>Stakeholder</a:t>
              </a:r>
              <a:endParaRPr lang="en-SE" noProof="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SE" dirty="0">
                  <a:solidFill>
                    <a:sysClr val="windowText" lastClr="000000"/>
                  </a:solidFill>
                </a:rPr>
                <a:t>(</a:t>
              </a:r>
              <a:r>
                <a:rPr lang="en-SE" dirty="0" err="1">
                  <a:solidFill>
                    <a:sysClr val="windowText" lastClr="000000"/>
                  </a:solidFill>
                </a:rPr>
                <a:t>i</a:t>
              </a:r>
              <a:r>
                <a:rPr lang="en-SE" dirty="0">
                  <a:solidFill>
                    <a:sysClr val="windowText" lastClr="000000"/>
                  </a:solidFill>
                </a:rPr>
                <a:t> = 0.8)</a:t>
              </a:r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8" name="Graphic 7" descr="User with solid fill">
              <a:extLst>
                <a:ext uri="{FF2B5EF4-FFF2-40B4-BE49-F238E27FC236}">
                  <a16:creationId xmlns:a16="http://schemas.microsoft.com/office/drawing/2014/main" id="{C6F20A5A-F6FF-5CB9-02E8-4C98C30CFE0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19200" y="3000739"/>
              <a:ext cx="720000" cy="720000"/>
            </a:xfrm>
            <a:prstGeom prst="rect">
              <a:avLst/>
            </a:prstGeom>
          </p:spPr>
        </p:pic>
      </p:grp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FFE292F5-C303-56C6-744B-FD532918E8B5}"/>
              </a:ext>
            </a:extLst>
          </p:cNvPr>
          <p:cNvSpPr/>
          <p:nvPr/>
        </p:nvSpPr>
        <p:spPr>
          <a:xfrm>
            <a:off x="838198" y="5041043"/>
            <a:ext cx="3804140" cy="1011360"/>
          </a:xfrm>
          <a:prstGeom prst="wedgeRectCallout">
            <a:avLst>
              <a:gd name="adj1" fmla="val -9427"/>
              <a:gd name="adj2" fmla="val -105575"/>
            </a:avLst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dirty="0"/>
              <a:t>The intangible information storage “Stakeholder” contains 80% of the total requirements information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4663E39-1323-DFA2-FDB9-8E674FE80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Signal'26: Information-centric RE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560672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42D44-54E7-3F78-0958-DD8FD8791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D3D3D-E231-6700-DD67-F22DE2A2D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Modelling RE as I</a:t>
            </a:r>
            <a:r>
              <a:rPr lang="de-DE" dirty="0"/>
              <a:t>n</a:t>
            </a:r>
            <a:r>
              <a:rPr lang="en-SE" dirty="0"/>
              <a:t>formation Flow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19D51-8E07-E178-6418-5BA11C69E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11360"/>
          </a:xfrm>
        </p:spPr>
        <p:txBody>
          <a:bodyPr/>
          <a:lstStyle/>
          <a:p>
            <a:pPr marL="0" indent="0">
              <a:buNone/>
            </a:pPr>
            <a:r>
              <a:rPr lang="en-SE" noProof="0" dirty="0"/>
              <a:t>Alternatively, we can model information as a </a:t>
            </a:r>
            <a:r>
              <a:rPr lang="en-SE" i="1" noProof="0" dirty="0"/>
              <a:t>quantity</a:t>
            </a:r>
            <a:r>
              <a:rPr lang="en-SE" noProof="0" dirty="0"/>
              <a:t>, i.e., the fraction of the total information that a storage possesses.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856A6-E796-3D52-FF21-1FFA71F5D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2026-05-28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0C2E06-680C-E2E5-46DA-B258ADFD6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US" noProof="0" smtClean="0"/>
              <a:t>15</a:t>
            </a:fld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584A70E-52D5-02D4-2C3D-1725187E3C8B}"/>
              </a:ext>
            </a:extLst>
          </p:cNvPr>
          <p:cNvGrpSpPr/>
          <p:nvPr/>
        </p:nvGrpSpPr>
        <p:grpSpPr>
          <a:xfrm>
            <a:off x="1028700" y="3787041"/>
            <a:ext cx="2362200" cy="809626"/>
            <a:chOff x="1219200" y="2955926"/>
            <a:chExt cx="2362200" cy="809626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862A353-B372-EFCD-8759-A1FD3903EE82}"/>
                </a:ext>
              </a:extLst>
            </p:cNvPr>
            <p:cNvSpPr/>
            <p:nvPr/>
          </p:nvSpPr>
          <p:spPr>
            <a:xfrm>
              <a:off x="1219200" y="2955926"/>
              <a:ext cx="2362200" cy="8096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US" noProof="0" dirty="0">
                  <a:solidFill>
                    <a:sysClr val="windowText" lastClr="000000"/>
                  </a:solidFill>
                </a:rPr>
                <a:t>Stakeholder</a:t>
              </a:r>
              <a:endParaRPr lang="en-SE" noProof="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SE" dirty="0">
                  <a:solidFill>
                    <a:sysClr val="windowText" lastClr="000000"/>
                  </a:solidFill>
                </a:rPr>
                <a:t>(</a:t>
              </a:r>
              <a:r>
                <a:rPr lang="en-SE" dirty="0" err="1">
                  <a:solidFill>
                    <a:sysClr val="windowText" lastClr="000000"/>
                  </a:solidFill>
                </a:rPr>
                <a:t>i</a:t>
              </a:r>
              <a:r>
                <a:rPr lang="en-SE" dirty="0">
                  <a:solidFill>
                    <a:sysClr val="windowText" lastClr="000000"/>
                  </a:solidFill>
                </a:rPr>
                <a:t> = 0.8)</a:t>
              </a:r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8" name="Graphic 7" descr="User with solid fill">
              <a:extLst>
                <a:ext uri="{FF2B5EF4-FFF2-40B4-BE49-F238E27FC236}">
                  <a16:creationId xmlns:a16="http://schemas.microsoft.com/office/drawing/2014/main" id="{61297C3A-C8FD-2E4F-4B98-A37A4EF6E3F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19200" y="3000739"/>
              <a:ext cx="720000" cy="720000"/>
            </a:xfrm>
            <a:prstGeom prst="rect">
              <a:avLst/>
            </a:prstGeom>
          </p:spPr>
        </p:pic>
      </p:grp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4C2808D3-4D37-683D-7BB8-9BC4E760E80C}"/>
              </a:ext>
            </a:extLst>
          </p:cNvPr>
          <p:cNvSpPr/>
          <p:nvPr/>
        </p:nvSpPr>
        <p:spPr>
          <a:xfrm>
            <a:off x="7051429" y="5041043"/>
            <a:ext cx="3804140" cy="1011360"/>
          </a:xfrm>
          <a:prstGeom prst="wedgeRectCallout">
            <a:avLst>
              <a:gd name="adj1" fmla="val 34024"/>
              <a:gd name="adj2" fmla="val -95143"/>
            </a:avLst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dirty="0"/>
              <a:t>How much information ends up at the target of the transfer?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FDAF0FA-8D26-D95B-DCC8-370BBA64D642}"/>
              </a:ext>
            </a:extLst>
          </p:cNvPr>
          <p:cNvGrpSpPr/>
          <p:nvPr/>
        </p:nvGrpSpPr>
        <p:grpSpPr>
          <a:xfrm>
            <a:off x="8801100" y="3787041"/>
            <a:ext cx="2362200" cy="809626"/>
            <a:chOff x="1219200" y="2955926"/>
            <a:chExt cx="2362200" cy="80962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AFFCD94B-282C-73C5-1E80-32E6CB709FE1}"/>
                </a:ext>
              </a:extLst>
            </p:cNvPr>
            <p:cNvSpPr/>
            <p:nvPr/>
          </p:nvSpPr>
          <p:spPr>
            <a:xfrm>
              <a:off x="1219200" y="2955926"/>
              <a:ext cx="2362200" cy="8096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en-SE" noProof="0" dirty="0">
                  <a:solidFill>
                    <a:sysClr val="windowText" lastClr="000000"/>
                  </a:solidFill>
                </a:rPr>
                <a:t>Requirements Engineer</a:t>
              </a:r>
            </a:p>
            <a:p>
              <a:pPr algn="ctr"/>
              <a:r>
                <a:rPr lang="en-SE" dirty="0">
                  <a:solidFill>
                    <a:sysClr val="windowText" lastClr="000000"/>
                  </a:solidFill>
                </a:rPr>
                <a:t>(</a:t>
              </a:r>
              <a:r>
                <a:rPr lang="en-SE" dirty="0" err="1">
                  <a:solidFill>
                    <a:sysClr val="windowText" lastClr="000000"/>
                  </a:solidFill>
                </a:rPr>
                <a:t>i</a:t>
              </a:r>
              <a:r>
                <a:rPr lang="en-SE" dirty="0">
                  <a:solidFill>
                    <a:sysClr val="windowText" lastClr="000000"/>
                  </a:solidFill>
                </a:rPr>
                <a:t> = ?)</a:t>
              </a:r>
              <a:endParaRPr lang="en-US" noProof="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2" name="Graphic 11" descr="User with solid fill">
              <a:extLst>
                <a:ext uri="{FF2B5EF4-FFF2-40B4-BE49-F238E27FC236}">
                  <a16:creationId xmlns:a16="http://schemas.microsoft.com/office/drawing/2014/main" id="{63B2E8D8-D535-2D66-7F9C-DCB209D59E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19200" y="3000739"/>
              <a:ext cx="720000" cy="720000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21ADBBD-7508-B70A-126B-1E054ABAD63C}"/>
              </a:ext>
            </a:extLst>
          </p:cNvPr>
          <p:cNvGrpSpPr/>
          <p:nvPr/>
        </p:nvGrpSpPr>
        <p:grpSpPr>
          <a:xfrm>
            <a:off x="4390292" y="3787042"/>
            <a:ext cx="3411416" cy="809626"/>
            <a:chOff x="4390292" y="3742229"/>
            <a:chExt cx="3411416" cy="809626"/>
          </a:xfrm>
        </p:grpSpPr>
        <p:sp>
          <p:nvSpPr>
            <p:cNvPr id="13" name="Arrow: Chevron 12">
              <a:extLst>
                <a:ext uri="{FF2B5EF4-FFF2-40B4-BE49-F238E27FC236}">
                  <a16:creationId xmlns:a16="http://schemas.microsoft.com/office/drawing/2014/main" id="{FB14252B-8FF9-EC16-F148-52AE69D354F5}"/>
                </a:ext>
              </a:extLst>
            </p:cNvPr>
            <p:cNvSpPr/>
            <p:nvPr/>
          </p:nvSpPr>
          <p:spPr>
            <a:xfrm>
              <a:off x="4390292" y="3742229"/>
              <a:ext cx="3411416" cy="809626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I</a:t>
              </a:r>
              <a:r>
                <a:rPr lang="en-SE" dirty="0" err="1">
                  <a:solidFill>
                    <a:schemeClr val="tx1"/>
                  </a:solidFill>
                </a:rPr>
                <a:t>nterviewing</a:t>
              </a:r>
              <a:r>
                <a:rPr lang="en-SE" dirty="0">
                  <a:solidFill>
                    <a:schemeClr val="tx1"/>
                  </a:solidFill>
                </a:rPr>
                <a:t> </a:t>
              </a:r>
            </a:p>
          </p:txBody>
        </p:sp>
        <p:pic>
          <p:nvPicPr>
            <p:cNvPr id="14" name="Graphic 13" descr="Chat with solid fill">
              <a:extLst>
                <a:ext uri="{FF2B5EF4-FFF2-40B4-BE49-F238E27FC236}">
                  <a16:creationId xmlns:a16="http://schemas.microsoft.com/office/drawing/2014/main" id="{3ECD6999-A8EE-29B9-0D01-F461E30605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08685" y="3831854"/>
              <a:ext cx="720000" cy="720000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05334F4-240E-D082-5DC1-AD23F28CF16E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3390900" y="4191854"/>
            <a:ext cx="1404205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1493F5E-B979-A832-6397-3E613E6D7DCF}"/>
              </a:ext>
            </a:extLst>
          </p:cNvPr>
          <p:cNvCxnSpPr>
            <a:cxnSpLocks/>
            <a:stCxn id="13" idx="3"/>
            <a:endCxn id="11" idx="1"/>
          </p:cNvCxnSpPr>
          <p:nvPr/>
        </p:nvCxnSpPr>
        <p:spPr>
          <a:xfrm flipV="1">
            <a:off x="7801708" y="4191854"/>
            <a:ext cx="999392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7790F141-69B8-D0B7-6E23-8DF67B48E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Signal'26: Information-centric RE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7022423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EF5BE-DE9C-6D3A-E36F-F84493E99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E0056-F167-54BB-6DE5-8C749C683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Modelling RE as I</a:t>
            </a:r>
            <a:r>
              <a:rPr lang="de-DE" dirty="0"/>
              <a:t>n</a:t>
            </a:r>
            <a:r>
              <a:rPr lang="en-SE" dirty="0"/>
              <a:t>formation Flow</a:t>
            </a:r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313C10-1480-BCE0-37F2-C81E0E4162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01136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SE" noProof="0" dirty="0"/>
                  <a:t>Information transfers become a function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E" b="0" i="1" noProof="0" smtClean="0">
                          <a:latin typeface="Cambria Math" panose="02040503050406030204" pitchFamily="18" charset="0"/>
                        </a:rPr>
                        <m:t>𝑡𝑟𝑎𝑛𝑠𝑓𝑒𝑟</m:t>
                      </m:r>
                      <m:d>
                        <m:dPr>
                          <m:ctrlPr>
                            <a:rPr lang="en-SE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E" b="0" i="1" noProof="0" smtClean="0">
                              <a:latin typeface="Cambria Math" panose="02040503050406030204" pitchFamily="18" charset="0"/>
                            </a:rPr>
                            <m:t>𝑖𝑛𝑝𝑢𝑡</m:t>
                          </m:r>
                          <m:r>
                            <a:rPr lang="en-SE" b="0" i="1" noProof="0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SE" b="0" i="1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SE" b="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SE" b="0" i="1" noProof="0" smtClean="0">
                              <a:latin typeface="Cambria Math" panose="02040503050406030204" pitchFamily="18" charset="0"/>
                            </a:rPr>
                            <m:t>𝑝𝑎𝑟𝑎𝑚𝑒𝑡𝑒𝑟𝑠</m:t>
                          </m:r>
                          <m:r>
                            <a:rPr lang="en-SE" b="0" i="1" noProof="0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SE" b="0" i="1" noProof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SE" b="0" i="1" noProof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SE" b="0" i="1" noProof="0" smtClean="0">
                          <a:latin typeface="Cambria Math" panose="02040503050406030204" pitchFamily="18" charset="0"/>
                        </a:rPr>
                        <m:t>𝑜𝑢𝑡𝑝𝑢𝑡</m:t>
                      </m:r>
                      <m:r>
                        <a:rPr lang="en-SE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SE" b="0" i="1" noProof="0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313C10-1480-BCE0-37F2-C81E0E4162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011360"/>
              </a:xfrm>
              <a:blipFill>
                <a:blip r:embed="rId3"/>
                <a:stretch>
                  <a:fillRect l="-1217" t="-1024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6BB05-639F-92C7-D3FA-E7B734A4A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2026-05-28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7DABF3-C185-2031-0806-C3F82E02B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US" noProof="0" smtClean="0"/>
              <a:t>16</a:t>
            </a:fld>
            <a:endParaRPr lang="en-US" noProof="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4E89A94-392C-3F64-8A1B-CBCAABE245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4770" y="2926374"/>
            <a:ext cx="6287829" cy="3931626"/>
          </a:xfrm>
          <a:prstGeom prst="rect">
            <a:avLst/>
          </a:prstGeom>
        </p:spPr>
      </p:pic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B8A9E5CA-C68C-A0BB-9F88-CDD48999F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Signal'26: Information-centric RE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085293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0BB64-BB77-FDF3-99F0-2BC9BF41C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4C5F8-D052-D854-00B5-1D831024E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Modelling RE as I</a:t>
            </a:r>
            <a:r>
              <a:rPr lang="de-DE" dirty="0"/>
              <a:t>n</a:t>
            </a:r>
            <a:r>
              <a:rPr lang="en-SE" dirty="0"/>
              <a:t>formation Flow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42BB7-32A6-E031-D4BA-8DD2260AA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2026-05-28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F0071F-8150-0653-F2CC-E953ECBC9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US" noProof="0" smtClean="0"/>
              <a:t>17</a:t>
            </a:fld>
            <a:endParaRPr lang="en-US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3B41F1-50A0-A15C-C137-FB2C17F55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859" y="1597564"/>
            <a:ext cx="10964281" cy="5260436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957865-2DF4-4C4B-CF04-BB467246B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Signal'26: Information-centric RE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308449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EFBC5-E9C3-1719-7D3F-7162593ED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C6750-5510-79F1-51DF-A9C68847A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Modelling RE as I</a:t>
            </a:r>
            <a:r>
              <a:rPr lang="de-DE" dirty="0"/>
              <a:t>n</a:t>
            </a:r>
            <a:r>
              <a:rPr lang="en-SE" dirty="0"/>
              <a:t>formation Flow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60FB8-91C0-9E21-C95B-FD3D3F8E9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2026-05-28</a:t>
            </a:r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84812C-00F2-A64A-5F5F-8B1007EB2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18</a:t>
            </a:fld>
            <a:endParaRPr lang="en-SE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4E73FCC-DD65-3F5D-A7F7-1C719D2F5BD6}"/>
              </a:ext>
            </a:extLst>
          </p:cNvPr>
          <p:cNvGrpSpPr/>
          <p:nvPr/>
        </p:nvGrpSpPr>
        <p:grpSpPr>
          <a:xfrm>
            <a:off x="1928446" y="1855656"/>
            <a:ext cx="2705596" cy="929704"/>
            <a:chOff x="2209800" y="1986659"/>
            <a:chExt cx="2705596" cy="92970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C8367A0-701A-D059-1990-6665E8E3DE65}"/>
                </a:ext>
              </a:extLst>
            </p:cNvPr>
            <p:cNvGrpSpPr/>
            <p:nvPr/>
          </p:nvGrpSpPr>
          <p:grpSpPr>
            <a:xfrm>
              <a:off x="3907211" y="1986659"/>
              <a:ext cx="1008185" cy="569302"/>
              <a:chOff x="1219200" y="2955926"/>
              <a:chExt cx="1008185" cy="569302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6EC20E0A-21E6-82EA-BE5C-AE921E2189AC}"/>
                  </a:ext>
                </a:extLst>
              </p:cNvPr>
              <p:cNvSpPr/>
              <p:nvPr/>
            </p:nvSpPr>
            <p:spPr>
              <a:xfrm>
                <a:off x="1219200" y="2955926"/>
                <a:ext cx="1008185" cy="569302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92000" rtlCol="0" anchor="ctr"/>
              <a:lstStyle/>
              <a:p>
                <a:pPr algn="ctr"/>
                <a:endParaRPr lang="en-US" noProof="0" dirty="0">
                  <a:solidFill>
                    <a:sysClr val="windowText" lastClr="000000"/>
                  </a:solidFill>
                </a:endParaRPr>
              </a:p>
            </p:txBody>
          </p:sp>
          <p:pic>
            <p:nvPicPr>
              <p:cNvPr id="8" name="Graphic 7" descr="Database with solid fill">
                <a:extLst>
                  <a:ext uri="{FF2B5EF4-FFF2-40B4-BE49-F238E27FC236}">
                    <a16:creationId xmlns:a16="http://schemas.microsoft.com/office/drawing/2014/main" id="{90650410-E8E8-7D18-EB42-E53974BF32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1352550" y="3122974"/>
                <a:ext cx="216000" cy="216000"/>
              </a:xfrm>
              <a:prstGeom prst="rect">
                <a:avLst/>
              </a:prstGeom>
            </p:spPr>
          </p:pic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752C648-C181-876E-509D-675E902729DD}"/>
                </a:ext>
              </a:extLst>
            </p:cNvPr>
            <p:cNvGrpSpPr/>
            <p:nvPr/>
          </p:nvGrpSpPr>
          <p:grpSpPr>
            <a:xfrm>
              <a:off x="2209800" y="1989791"/>
              <a:ext cx="1008185" cy="569302"/>
              <a:chOff x="1201615" y="2935941"/>
              <a:chExt cx="1008185" cy="569302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EBBC37A5-3B20-58F2-66F9-36AE6892C256}"/>
                  </a:ext>
                </a:extLst>
              </p:cNvPr>
              <p:cNvSpPr/>
              <p:nvPr/>
            </p:nvSpPr>
            <p:spPr>
              <a:xfrm>
                <a:off x="1201615" y="2935941"/>
                <a:ext cx="1008185" cy="569302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92000" rtlCol="0" anchor="ctr"/>
              <a:lstStyle/>
              <a:p>
                <a:pPr algn="ctr"/>
                <a:endParaRPr lang="en-US" noProof="0" dirty="0">
                  <a:solidFill>
                    <a:sysClr val="windowText" lastClr="000000"/>
                  </a:solidFill>
                </a:endParaRPr>
              </a:p>
            </p:txBody>
          </p:sp>
          <p:pic>
            <p:nvPicPr>
              <p:cNvPr id="11" name="Graphic 10" descr="User with solid fill">
                <a:extLst>
                  <a:ext uri="{FF2B5EF4-FFF2-40B4-BE49-F238E27FC236}">
                    <a16:creationId xmlns:a16="http://schemas.microsoft.com/office/drawing/2014/main" id="{3A18326E-1A2E-BFCA-040F-7F004100E3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352550" y="3122974"/>
                <a:ext cx="216000" cy="216000"/>
              </a:xfrm>
              <a:prstGeom prst="rect">
                <a:avLst/>
              </a:prstGeom>
            </p:spPr>
          </p:pic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0F987C9-705E-AD27-75F1-F62D371649B7}"/>
                </a:ext>
              </a:extLst>
            </p:cNvPr>
            <p:cNvSpPr/>
            <p:nvPr/>
          </p:nvSpPr>
          <p:spPr>
            <a:xfrm>
              <a:off x="2576735" y="2483343"/>
              <a:ext cx="746850" cy="43302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818610E-D616-5402-1005-A7E604B15927}"/>
                </a:ext>
              </a:extLst>
            </p:cNvPr>
            <p:cNvCxnSpPr>
              <a:cxnSpLocks/>
              <a:stCxn id="10" idx="3"/>
              <a:endCxn id="7" idx="1"/>
            </p:cNvCxnSpPr>
            <p:nvPr/>
          </p:nvCxnSpPr>
          <p:spPr>
            <a:xfrm flipV="1">
              <a:off x="3217985" y="2271310"/>
              <a:ext cx="689226" cy="31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A429DBD-0781-0EA8-4DB5-CB66C33FF39E}"/>
              </a:ext>
            </a:extLst>
          </p:cNvPr>
          <p:cNvSpPr txBox="1"/>
          <p:nvPr/>
        </p:nvSpPr>
        <p:spPr>
          <a:xfrm>
            <a:off x="1487613" y="2819326"/>
            <a:ext cx="35872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sz="2000" b="1" dirty="0"/>
              <a:t>Information as discrete, concrete particles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E004E62-1482-121D-D259-126E7FB5E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92181"/>
            <a:ext cx="4835769" cy="2664169"/>
          </a:xfrm>
        </p:spPr>
        <p:txBody>
          <a:bodyPr>
            <a:normAutofit/>
          </a:bodyPr>
          <a:lstStyle/>
          <a:p>
            <a:pPr>
              <a:buClr>
                <a:srgbClr val="92D050"/>
              </a:buClr>
              <a:buFont typeface="Aptos" panose="020B0004020202020204" pitchFamily="34" charset="0"/>
              <a:buChar char="+"/>
            </a:pPr>
            <a:r>
              <a:rPr lang="en-SE" sz="2000" dirty="0"/>
              <a:t>High granularity and specificity</a:t>
            </a:r>
          </a:p>
          <a:p>
            <a:pPr>
              <a:buClr>
                <a:srgbClr val="92D050"/>
              </a:buClr>
              <a:buFont typeface="Aptos" panose="020B0004020202020204" pitchFamily="34" charset="0"/>
              <a:buChar char="+"/>
            </a:pPr>
            <a:r>
              <a:rPr lang="en-SE" sz="2000" dirty="0"/>
              <a:t>Directly empirically grounded</a:t>
            </a:r>
          </a:p>
          <a:p>
            <a:pPr>
              <a:buClr>
                <a:srgbClr val="C00000"/>
              </a:buClr>
              <a:buFont typeface="Aptos" panose="020B0004020202020204" pitchFamily="34" charset="0"/>
              <a:buChar char="-"/>
            </a:pPr>
            <a:r>
              <a:rPr lang="en-SE" sz="2000" dirty="0"/>
              <a:t>Only retrospective</a:t>
            </a:r>
          </a:p>
          <a:p>
            <a:pPr>
              <a:buClr>
                <a:srgbClr val="C00000"/>
              </a:buClr>
              <a:buFont typeface="Aptos" panose="020B0004020202020204" pitchFamily="34" charset="0"/>
              <a:buChar char="-"/>
            </a:pPr>
            <a:r>
              <a:rPr lang="de-DE" sz="2000" dirty="0"/>
              <a:t>L</a:t>
            </a:r>
            <a:r>
              <a:rPr lang="en-SE" sz="2000" dirty="0"/>
              <a:t>ow generalizability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SE" sz="2000" dirty="0"/>
              <a:t>Useful for retrospective analyses (e.g., identifying bottlenecks)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SE" sz="2000" dirty="0"/>
              <a:t>Models requirements semantically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91E7F-48F6-9608-F0DD-D6E849E36045}"/>
              </a:ext>
            </a:extLst>
          </p:cNvPr>
          <p:cNvSpPr txBox="1">
            <a:spLocks/>
          </p:cNvSpPr>
          <p:nvPr/>
        </p:nvSpPr>
        <p:spPr>
          <a:xfrm>
            <a:off x="6192715" y="3692181"/>
            <a:ext cx="4835769" cy="26641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92D050"/>
              </a:buClr>
              <a:buFont typeface="Aptos" panose="020B0004020202020204" pitchFamily="34" charset="0"/>
              <a:buChar char="+"/>
            </a:pPr>
            <a:r>
              <a:rPr lang="en-SE" sz="2000" dirty="0"/>
              <a:t>Highly generalizable</a:t>
            </a:r>
          </a:p>
          <a:p>
            <a:pPr>
              <a:buClr>
                <a:srgbClr val="C00000"/>
              </a:buClr>
              <a:buFont typeface="Aptos" panose="020B0004020202020204" pitchFamily="34" charset="0"/>
              <a:buChar char="-"/>
            </a:pPr>
            <a:r>
              <a:rPr lang="en-SE" sz="2000" dirty="0"/>
              <a:t>Requires extensive empirical evidence</a:t>
            </a:r>
          </a:p>
          <a:p>
            <a:pPr>
              <a:buClr>
                <a:srgbClr val="C00000"/>
              </a:buClr>
              <a:buFont typeface="Aptos" panose="020B0004020202020204" pitchFamily="34" charset="0"/>
              <a:buChar char="-"/>
            </a:pPr>
            <a:r>
              <a:rPr lang="de-DE" sz="2000" dirty="0"/>
              <a:t>I</a:t>
            </a:r>
            <a:r>
              <a:rPr lang="en-SE" sz="2000" dirty="0" err="1"/>
              <a:t>mplies</a:t>
            </a:r>
            <a:r>
              <a:rPr lang="en-SE" sz="2000" dirty="0"/>
              <a:t> several mathematical assumptions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SE" sz="2000" dirty="0"/>
              <a:t>Useful for identifying optimal flows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SE" sz="2000" dirty="0"/>
              <a:t>Prospective analyses (e.g., simulation of change)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ABECC30-2848-75CF-5296-8822426164A9}"/>
              </a:ext>
            </a:extLst>
          </p:cNvPr>
          <p:cNvGrpSpPr/>
          <p:nvPr/>
        </p:nvGrpSpPr>
        <p:grpSpPr>
          <a:xfrm>
            <a:off x="6096000" y="1321939"/>
            <a:ext cx="4596106" cy="1106129"/>
            <a:chOff x="6096000" y="1321939"/>
            <a:chExt cx="4596106" cy="1106129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9AB258C2-8A38-FCA1-B2C4-00498DF2CC2B}"/>
                </a:ext>
              </a:extLst>
            </p:cNvPr>
            <p:cNvGrpSpPr/>
            <p:nvPr/>
          </p:nvGrpSpPr>
          <p:grpSpPr>
            <a:xfrm>
              <a:off x="6096000" y="1852546"/>
              <a:ext cx="4596106" cy="575522"/>
              <a:chOff x="6458755" y="1923184"/>
              <a:chExt cx="4596106" cy="575522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95EF1034-7884-9865-C190-718863509A10}"/>
                  </a:ext>
                </a:extLst>
              </p:cNvPr>
              <p:cNvGrpSpPr/>
              <p:nvPr/>
            </p:nvGrpSpPr>
            <p:grpSpPr>
              <a:xfrm>
                <a:off x="6458755" y="1929404"/>
                <a:ext cx="1008186" cy="569302"/>
                <a:chOff x="5390584" y="1033893"/>
                <a:chExt cx="1008186" cy="569302"/>
              </a:xfrm>
            </p:grpSpPr>
            <p:sp>
              <p:nvSpPr>
                <p:cNvPr id="27" name="Rectangle: Rounded Corners 26">
                  <a:extLst>
                    <a:ext uri="{FF2B5EF4-FFF2-40B4-BE49-F238E27FC236}">
                      <a16:creationId xmlns:a16="http://schemas.microsoft.com/office/drawing/2014/main" id="{87B17712-A19C-1346-3883-21404186FE7B}"/>
                    </a:ext>
                  </a:extLst>
                </p:cNvPr>
                <p:cNvSpPr/>
                <p:nvPr/>
              </p:nvSpPr>
              <p:spPr>
                <a:xfrm>
                  <a:off x="5390584" y="1033893"/>
                  <a:ext cx="1008186" cy="569302"/>
                </a:xfrm>
                <a:prstGeom prst="round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92000" rtlCol="0" anchor="ctr"/>
                <a:lstStyle/>
                <a:p>
                  <a:pPr algn="ctr"/>
                  <a:endParaRPr lang="en-US" noProof="0" dirty="0">
                    <a:solidFill>
                      <a:sysClr val="windowText" lastClr="000000"/>
                    </a:solidFill>
                  </a:endParaRPr>
                </a:p>
              </p:txBody>
            </p:sp>
            <p:pic>
              <p:nvPicPr>
                <p:cNvPr id="28" name="Graphic 27" descr="User with solid fill">
                  <a:extLst>
                    <a:ext uri="{FF2B5EF4-FFF2-40B4-BE49-F238E27FC236}">
                      <a16:creationId xmlns:a16="http://schemas.microsoft.com/office/drawing/2014/main" id="{40528E7F-F544-3097-FB6A-42245A3A21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13261" y="1207892"/>
                  <a:ext cx="216000" cy="216000"/>
                </a:xfrm>
                <a:prstGeom prst="rect">
                  <a:avLst/>
                </a:prstGeom>
              </p:spPr>
            </p:pic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33B54BF3-FB05-7D3D-D90B-D0F9833F52C4}"/>
                  </a:ext>
                </a:extLst>
              </p:cNvPr>
              <p:cNvGrpSpPr/>
              <p:nvPr/>
            </p:nvGrpSpPr>
            <p:grpSpPr>
              <a:xfrm>
                <a:off x="10046676" y="1923184"/>
                <a:ext cx="1008185" cy="566170"/>
                <a:chOff x="1219200" y="2918089"/>
                <a:chExt cx="1008185" cy="566170"/>
              </a:xfrm>
            </p:grpSpPr>
            <p:sp>
              <p:nvSpPr>
                <p:cNvPr id="30" name="Rectangle: Rounded Corners 29">
                  <a:extLst>
                    <a:ext uri="{FF2B5EF4-FFF2-40B4-BE49-F238E27FC236}">
                      <a16:creationId xmlns:a16="http://schemas.microsoft.com/office/drawing/2014/main" id="{2BC081CD-3D9B-6401-86D7-A9FF2CFA09AA}"/>
                    </a:ext>
                  </a:extLst>
                </p:cNvPr>
                <p:cNvSpPr/>
                <p:nvPr/>
              </p:nvSpPr>
              <p:spPr>
                <a:xfrm>
                  <a:off x="1219200" y="2918089"/>
                  <a:ext cx="1008185" cy="566170"/>
                </a:xfrm>
                <a:prstGeom prst="round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92000" rtlCol="0" anchor="ctr"/>
                <a:lstStyle/>
                <a:p>
                  <a:pPr algn="ctr"/>
                  <a:endParaRPr lang="en-US" noProof="0" dirty="0">
                    <a:solidFill>
                      <a:sysClr val="windowText" lastClr="000000"/>
                    </a:solidFill>
                  </a:endParaRPr>
                </a:p>
              </p:txBody>
            </p:sp>
            <p:pic>
              <p:nvPicPr>
                <p:cNvPr id="31" name="Graphic 30" descr="User with solid fill">
                  <a:extLst>
                    <a:ext uri="{FF2B5EF4-FFF2-40B4-BE49-F238E27FC236}">
                      <a16:creationId xmlns:a16="http://schemas.microsoft.com/office/drawing/2014/main" id="{A2C12205-3333-38C6-2B09-E5486FE3BD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48883" y="3092908"/>
                  <a:ext cx="216000" cy="216000"/>
                </a:xfrm>
                <a:prstGeom prst="rect">
                  <a:avLst/>
                </a:prstGeom>
              </p:spPr>
            </p:pic>
          </p:grp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66977241-3F88-EE12-AC72-A1BDA12934D3}"/>
                  </a:ext>
                </a:extLst>
              </p:cNvPr>
              <p:cNvGrpSpPr/>
              <p:nvPr/>
            </p:nvGrpSpPr>
            <p:grpSpPr>
              <a:xfrm>
                <a:off x="7907362" y="1926752"/>
                <a:ext cx="1793631" cy="569302"/>
                <a:chOff x="4390292" y="3742229"/>
                <a:chExt cx="1793631" cy="569302"/>
              </a:xfrm>
            </p:grpSpPr>
            <p:sp>
              <p:nvSpPr>
                <p:cNvPr id="33" name="Arrow: Chevron 32">
                  <a:extLst>
                    <a:ext uri="{FF2B5EF4-FFF2-40B4-BE49-F238E27FC236}">
                      <a16:creationId xmlns:a16="http://schemas.microsoft.com/office/drawing/2014/main" id="{76B0AEC3-0F8C-4D6D-52CE-BE5A6AB07C4A}"/>
                    </a:ext>
                  </a:extLst>
                </p:cNvPr>
                <p:cNvSpPr/>
                <p:nvPr/>
              </p:nvSpPr>
              <p:spPr>
                <a:xfrm>
                  <a:off x="4390292" y="3742229"/>
                  <a:ext cx="1793631" cy="569302"/>
                </a:xfrm>
                <a:prstGeom prst="chevron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92000" rtlCol="0" anchor="ctr"/>
                <a:lstStyle/>
                <a:p>
                  <a:pPr algn="ctr"/>
                  <a:endParaRPr lang="en-SE" dirty="0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34" name="Graphic 33" descr="Chat with solid fill">
                  <a:extLst>
                    <a:ext uri="{FF2B5EF4-FFF2-40B4-BE49-F238E27FC236}">
                      <a16:creationId xmlns:a16="http://schemas.microsoft.com/office/drawing/2014/main" id="{61CD5654-81C7-FB29-2CE1-E81FBF1A67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35975" y="3913480"/>
                  <a:ext cx="215999" cy="216000"/>
                </a:xfrm>
                <a:prstGeom prst="rect">
                  <a:avLst/>
                </a:prstGeom>
              </p:spPr>
            </p:pic>
          </p:grp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68C4F21A-93DC-2919-51FD-127CF61CCC2C}"/>
                  </a:ext>
                </a:extLst>
              </p:cNvPr>
              <p:cNvCxnSpPr>
                <a:cxnSpLocks/>
                <a:stCxn id="27" idx="3"/>
                <a:endCxn id="33" idx="1"/>
              </p:cNvCxnSpPr>
              <p:nvPr/>
            </p:nvCxnSpPr>
            <p:spPr>
              <a:xfrm flipV="1">
                <a:off x="7466941" y="2211403"/>
                <a:ext cx="725072" cy="265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2EEDC831-7E51-F16E-8288-90B30C6794B7}"/>
                  </a:ext>
                </a:extLst>
              </p:cNvPr>
              <p:cNvCxnSpPr>
                <a:cxnSpLocks/>
                <a:stCxn id="33" idx="3"/>
                <a:endCxn id="30" idx="1"/>
              </p:cNvCxnSpPr>
              <p:nvPr/>
            </p:nvCxnSpPr>
            <p:spPr>
              <a:xfrm flipV="1">
                <a:off x="9700993" y="2206269"/>
                <a:ext cx="345683" cy="513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48" name="Graphic 47" descr="Hockey Stick Curve Graph with solid fill">
              <a:extLst>
                <a:ext uri="{FF2B5EF4-FFF2-40B4-BE49-F238E27FC236}">
                  <a16:creationId xmlns:a16="http://schemas.microsoft.com/office/drawing/2014/main" id="{7EE6D430-5133-880D-400A-8B98EAAAA8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106289" y="1321939"/>
              <a:ext cx="540000" cy="540000"/>
            </a:xfrm>
            <a:prstGeom prst="rect">
              <a:avLst/>
            </a:prstGeom>
          </p:spPr>
        </p:pic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9C3CE8B2-A92B-E6E9-543A-4095984B83EF}"/>
              </a:ext>
            </a:extLst>
          </p:cNvPr>
          <p:cNvSpPr txBox="1"/>
          <p:nvPr/>
        </p:nvSpPr>
        <p:spPr>
          <a:xfrm>
            <a:off x="6582658" y="2710067"/>
            <a:ext cx="35872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sz="2000" b="1" dirty="0"/>
              <a:t>Information as continuous distributions</a:t>
            </a:r>
          </a:p>
        </p:txBody>
      </p:sp>
      <p:sp>
        <p:nvSpPr>
          <p:cNvPr id="51" name="Footer Placeholder 50">
            <a:extLst>
              <a:ext uri="{FF2B5EF4-FFF2-40B4-BE49-F238E27FC236}">
                <a16:creationId xmlns:a16="http://schemas.microsoft.com/office/drawing/2014/main" id="{D4CC970F-EA7E-C382-71BE-CBCBE6919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Signal'26: Information-centric RE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570481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FCFCBAF-0BE6-16C8-A21B-743C42F86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Outlook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CBDC6F0-AFE2-CED1-9E3D-47B829E04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F9D7B-A5CB-DFD8-EE33-59DA5F316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2026-05-28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F6B33-F42D-F7FC-23D2-D8D56904F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US" noProof="0" smtClean="0"/>
              <a:t>19</a:t>
            </a:fld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A7C974-C331-3957-95AE-5F3018311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Signal'26: Information-centric RE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007454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A9EF-5C8B-AD01-5C30-93777B2F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F8C0A-60F4-3981-2D23-D80570D4B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E" noProof="0" dirty="0"/>
              <a:t>Considering requirements engineering as information flow has the potential to resolve anomalies observed in requirements quality, but the current formalizations are just scaffolding. </a:t>
            </a:r>
          </a:p>
          <a:p>
            <a:pPr marL="0" indent="0">
              <a:buNone/>
            </a:pPr>
            <a:r>
              <a:rPr lang="en-SE" noProof="0" dirty="0"/>
              <a:t>It remains to be solved how to model</a:t>
            </a:r>
          </a:p>
          <a:p>
            <a:r>
              <a:rPr lang="en-SE" noProof="0" dirty="0"/>
              <a:t>information merging,</a:t>
            </a:r>
          </a:p>
          <a:p>
            <a:r>
              <a:rPr lang="en-SE" dirty="0"/>
              <a:t>iterations and change over time,</a:t>
            </a:r>
          </a:p>
          <a:p>
            <a:r>
              <a:rPr lang="en-SE" noProof="0" dirty="0"/>
              <a:t>decay and retention of information, </a:t>
            </a:r>
          </a:p>
          <a:p>
            <a:r>
              <a:rPr lang="en-SE" dirty="0"/>
              <a:t>...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F3602-D9A4-DE03-B2E5-4CB11B3F6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2026-05-28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8FEA2C-FC8B-4FC3-2EED-87E301B58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US" noProof="0" smtClean="0"/>
              <a:t>20</a:t>
            </a:fld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92FA05-F53B-EE6A-B532-58C1CD27D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Signal'26: Information-centric RE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0349438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72E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28ABB83-2805-A558-4F99-157A12F04ED1}"/>
              </a:ext>
            </a:extLst>
          </p:cNvPr>
          <p:cNvSpPr txBox="1"/>
          <p:nvPr/>
        </p:nvSpPr>
        <p:spPr>
          <a:xfrm>
            <a:off x="566058" y="318339"/>
            <a:ext cx="96240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noProof="0" dirty="0">
                <a:solidFill>
                  <a:schemeClr val="bg1"/>
                </a:solidFill>
              </a:rPr>
              <a:t>Requirements are Information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3E28BE-35F5-7AEC-C4EB-D8AB066F246D}"/>
              </a:ext>
            </a:extLst>
          </p:cNvPr>
          <p:cNvSpPr txBox="1"/>
          <p:nvPr/>
        </p:nvSpPr>
        <p:spPr>
          <a:xfrm>
            <a:off x="584941" y="1269218"/>
            <a:ext cx="81333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chemeClr val="bg1"/>
                </a:solidFill>
              </a:rPr>
              <a:t>and the purpose of RE is to </a:t>
            </a:r>
            <a:r>
              <a:rPr lang="en-US" sz="2800" i="1" noProof="0" dirty="0">
                <a:solidFill>
                  <a:schemeClr val="bg1"/>
                </a:solidFill>
              </a:rPr>
              <a:t>transfer</a:t>
            </a:r>
            <a:r>
              <a:rPr lang="en-US" sz="2800" noProof="0" dirty="0">
                <a:solidFill>
                  <a:schemeClr val="bg1"/>
                </a:solidFill>
              </a:rPr>
              <a:t> that information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A2E441-4D04-C9A3-0E5C-56657289C63D}"/>
              </a:ext>
            </a:extLst>
          </p:cNvPr>
          <p:cNvSpPr txBox="1"/>
          <p:nvPr/>
        </p:nvSpPr>
        <p:spPr>
          <a:xfrm>
            <a:off x="943533" y="1893162"/>
            <a:ext cx="34767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noProof="0" dirty="0">
                <a:solidFill>
                  <a:schemeClr val="bg1"/>
                </a:solidFill>
              </a:rPr>
              <a:t>from its </a:t>
            </a:r>
            <a:r>
              <a:rPr lang="en-US" sz="3600" b="1" noProof="0" dirty="0">
                <a:solidFill>
                  <a:schemeClr val="bg1"/>
                </a:solidFill>
              </a:rPr>
              <a:t>sources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8A251D-6E91-CF13-9331-92A6397E7FFB}"/>
              </a:ext>
            </a:extLst>
          </p:cNvPr>
          <p:cNvSpPr txBox="1"/>
          <p:nvPr/>
        </p:nvSpPr>
        <p:spPr>
          <a:xfrm>
            <a:off x="7868916" y="1891735"/>
            <a:ext cx="3264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noProof="0" dirty="0">
                <a:solidFill>
                  <a:schemeClr val="bg1"/>
                </a:solidFill>
              </a:rPr>
              <a:t>to its </a:t>
            </a:r>
            <a:r>
              <a:rPr lang="en-US" sz="3600" b="1" noProof="0" dirty="0">
                <a:solidFill>
                  <a:schemeClr val="bg1"/>
                </a:solidFill>
              </a:rPr>
              <a:t>targets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CFB89C-3652-5FC9-B68C-C138785FF819}"/>
              </a:ext>
            </a:extLst>
          </p:cNvPr>
          <p:cNvSpPr txBox="1"/>
          <p:nvPr/>
        </p:nvSpPr>
        <p:spPr>
          <a:xfrm>
            <a:off x="566058" y="5192278"/>
            <a:ext cx="110453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noProof="0" dirty="0">
                <a:solidFill>
                  <a:schemeClr val="bg1"/>
                </a:solidFill>
              </a:rPr>
              <a:t>Requirements Engineering Quality = effectiveness and efficiency of the information flow.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25E89A-825A-1289-B20E-61F6ACE4D31A}"/>
              </a:ext>
            </a:extLst>
          </p:cNvPr>
          <p:cNvSpPr txBox="1"/>
          <p:nvPr/>
        </p:nvSpPr>
        <p:spPr>
          <a:xfrm>
            <a:off x="566058" y="4795297"/>
            <a:ext cx="13222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>
                <a:solidFill>
                  <a:schemeClr val="bg1"/>
                </a:solidFill>
              </a:rPr>
              <a:t>As such,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6E280A5-3E4C-C7E3-D468-4AE54AA09CB5}"/>
              </a:ext>
            </a:extLst>
          </p:cNvPr>
          <p:cNvGrpSpPr/>
          <p:nvPr/>
        </p:nvGrpSpPr>
        <p:grpSpPr>
          <a:xfrm>
            <a:off x="1846893" y="2664579"/>
            <a:ext cx="2140075" cy="648000"/>
            <a:chOff x="1846893" y="2737149"/>
            <a:chExt cx="2140075" cy="648000"/>
          </a:xfrm>
        </p:grpSpPr>
        <p:pic>
          <p:nvPicPr>
            <p:cNvPr id="25" name="Graphic 24" descr="User with solid fill">
              <a:extLst>
                <a:ext uri="{FF2B5EF4-FFF2-40B4-BE49-F238E27FC236}">
                  <a16:creationId xmlns:a16="http://schemas.microsoft.com/office/drawing/2014/main" id="{734A133E-080F-3140-7810-0CC1AC14A2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38968" y="2737149"/>
              <a:ext cx="648000" cy="6480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9B80F72-5D40-7F04-41A1-390238DE9FC1}"/>
                </a:ext>
              </a:extLst>
            </p:cNvPr>
            <p:cNvSpPr txBox="1"/>
            <p:nvPr/>
          </p:nvSpPr>
          <p:spPr>
            <a:xfrm>
              <a:off x="1846893" y="2876483"/>
              <a:ext cx="14920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noProof="0" dirty="0">
                  <a:solidFill>
                    <a:schemeClr val="bg1"/>
                  </a:solidFill>
                </a:rPr>
                <a:t>Stakeholders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EB5FFFA-0FB2-18F2-A6AB-B2A4332794BF}"/>
              </a:ext>
            </a:extLst>
          </p:cNvPr>
          <p:cNvGrpSpPr/>
          <p:nvPr/>
        </p:nvGrpSpPr>
        <p:grpSpPr>
          <a:xfrm>
            <a:off x="1582077" y="3289893"/>
            <a:ext cx="2404891" cy="648000"/>
            <a:chOff x="1582077" y="3440000"/>
            <a:chExt cx="2404891" cy="648000"/>
          </a:xfrm>
        </p:grpSpPr>
        <p:pic>
          <p:nvPicPr>
            <p:cNvPr id="21" name="Graphic 20" descr="Dinosaur Head Skeleton with solid fill">
              <a:extLst>
                <a:ext uri="{FF2B5EF4-FFF2-40B4-BE49-F238E27FC236}">
                  <a16:creationId xmlns:a16="http://schemas.microsoft.com/office/drawing/2014/main" id="{D0CCC5FD-0A3F-5632-0ADB-B140105824A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38968" y="3440000"/>
              <a:ext cx="648000" cy="6480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7EBB029-05DA-D8DA-5578-7DBED9917908}"/>
                </a:ext>
              </a:extLst>
            </p:cNvPr>
            <p:cNvSpPr txBox="1"/>
            <p:nvPr/>
          </p:nvSpPr>
          <p:spPr>
            <a:xfrm>
              <a:off x="1582077" y="3579334"/>
              <a:ext cx="17568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noProof="0" dirty="0">
                  <a:solidFill>
                    <a:schemeClr val="bg1"/>
                  </a:solidFill>
                </a:rPr>
                <a:t>Legacy systems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57E06E0-CFB1-B377-B20A-0E1264BB125B}"/>
              </a:ext>
            </a:extLst>
          </p:cNvPr>
          <p:cNvGrpSpPr/>
          <p:nvPr/>
        </p:nvGrpSpPr>
        <p:grpSpPr>
          <a:xfrm>
            <a:off x="1149844" y="3908984"/>
            <a:ext cx="2837124" cy="648000"/>
            <a:chOff x="1149844" y="4136628"/>
            <a:chExt cx="2837124" cy="648000"/>
          </a:xfrm>
        </p:grpSpPr>
        <p:pic>
          <p:nvPicPr>
            <p:cNvPr id="23" name="Graphic 22" descr="Detective male with solid fill">
              <a:extLst>
                <a:ext uri="{FF2B5EF4-FFF2-40B4-BE49-F238E27FC236}">
                  <a16:creationId xmlns:a16="http://schemas.microsoft.com/office/drawing/2014/main" id="{613C49B8-9C4E-1E23-BBE1-255639D0F3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38968" y="4136628"/>
              <a:ext cx="648000" cy="64800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C77A605-A14E-6314-7A80-7E9FD4C777CD}"/>
                </a:ext>
              </a:extLst>
            </p:cNvPr>
            <p:cNvSpPr txBox="1"/>
            <p:nvPr/>
          </p:nvSpPr>
          <p:spPr>
            <a:xfrm>
              <a:off x="1149844" y="4276797"/>
              <a:ext cx="21891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noProof="0" dirty="0">
                  <a:solidFill>
                    <a:schemeClr val="bg1"/>
                  </a:solidFill>
                </a:rPr>
                <a:t>Competitor analysis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AB1D116-707B-971F-97FF-A15618205472}"/>
              </a:ext>
            </a:extLst>
          </p:cNvPr>
          <p:cNvGrpSpPr/>
          <p:nvPr/>
        </p:nvGrpSpPr>
        <p:grpSpPr>
          <a:xfrm>
            <a:off x="8142873" y="2664579"/>
            <a:ext cx="1557540" cy="648000"/>
            <a:chOff x="8143277" y="2737149"/>
            <a:chExt cx="1557540" cy="648000"/>
          </a:xfrm>
        </p:grpSpPr>
        <p:pic>
          <p:nvPicPr>
            <p:cNvPr id="19" name="Graphic 18" descr="Blueprint with solid fill">
              <a:extLst>
                <a:ext uri="{FF2B5EF4-FFF2-40B4-BE49-F238E27FC236}">
                  <a16:creationId xmlns:a16="http://schemas.microsoft.com/office/drawing/2014/main" id="{7B27FEF6-848D-E8F9-9CFC-719460FD54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143277" y="2737149"/>
              <a:ext cx="648000" cy="648000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8E1B94B-4694-B79D-53FA-C500841B2945}"/>
                </a:ext>
              </a:extLst>
            </p:cNvPr>
            <p:cNvSpPr txBox="1"/>
            <p:nvPr/>
          </p:nvSpPr>
          <p:spPr>
            <a:xfrm>
              <a:off x="8830066" y="2876483"/>
              <a:ext cx="8707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chemeClr val="bg1"/>
                  </a:solidFill>
                </a:rPr>
                <a:t>Design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6B5A625-1F96-D16F-7E04-4A5DB01D1052}"/>
              </a:ext>
            </a:extLst>
          </p:cNvPr>
          <p:cNvGrpSpPr/>
          <p:nvPr/>
        </p:nvGrpSpPr>
        <p:grpSpPr>
          <a:xfrm>
            <a:off x="8142873" y="3289893"/>
            <a:ext cx="2463897" cy="648000"/>
            <a:chOff x="8142873" y="3440000"/>
            <a:chExt cx="2463897" cy="648000"/>
          </a:xfrm>
        </p:grpSpPr>
        <p:pic>
          <p:nvPicPr>
            <p:cNvPr id="17" name="Graphic 16" descr="Web design with solid fill">
              <a:extLst>
                <a:ext uri="{FF2B5EF4-FFF2-40B4-BE49-F238E27FC236}">
                  <a16:creationId xmlns:a16="http://schemas.microsoft.com/office/drawing/2014/main" id="{03AA1E4A-E479-5D0B-5FE8-CF5EF219CD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142873" y="3440000"/>
              <a:ext cx="648000" cy="648000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22EB376-91B3-40C5-C963-3530C7ADFECD}"/>
                </a:ext>
              </a:extLst>
            </p:cNvPr>
            <p:cNvSpPr txBox="1"/>
            <p:nvPr/>
          </p:nvSpPr>
          <p:spPr>
            <a:xfrm>
              <a:off x="8830065" y="3579334"/>
              <a:ext cx="17767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chemeClr val="bg1"/>
                  </a:solidFill>
                </a:rPr>
                <a:t>Implementation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69F7891-A702-49F5-C647-859D00E82E54}"/>
              </a:ext>
            </a:extLst>
          </p:cNvPr>
          <p:cNvGrpSpPr/>
          <p:nvPr/>
        </p:nvGrpSpPr>
        <p:grpSpPr>
          <a:xfrm>
            <a:off x="8142873" y="3915207"/>
            <a:ext cx="1565381" cy="648000"/>
            <a:chOff x="8142873" y="4142851"/>
            <a:chExt cx="1565381" cy="648000"/>
          </a:xfrm>
        </p:grpSpPr>
        <p:pic>
          <p:nvPicPr>
            <p:cNvPr id="15" name="Graphic 14" descr="Clipboard Mixed with solid fill">
              <a:extLst>
                <a:ext uri="{FF2B5EF4-FFF2-40B4-BE49-F238E27FC236}">
                  <a16:creationId xmlns:a16="http://schemas.microsoft.com/office/drawing/2014/main" id="{0AE7BCAF-C442-23F5-E079-F8567EC52A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142873" y="4142851"/>
              <a:ext cx="648000" cy="64800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682EAF9-5490-6997-7140-113BF0FA3532}"/>
                </a:ext>
              </a:extLst>
            </p:cNvPr>
            <p:cNvSpPr txBox="1"/>
            <p:nvPr/>
          </p:nvSpPr>
          <p:spPr>
            <a:xfrm>
              <a:off x="8830065" y="4276797"/>
              <a:ext cx="8781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chemeClr val="bg1"/>
                  </a:solidFill>
                </a:rPr>
                <a:t>Testing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1A2FAA2-A88A-ED34-6C70-8EB1B8EA0793}"/>
              </a:ext>
            </a:extLst>
          </p:cNvPr>
          <p:cNvGrpSpPr/>
          <p:nvPr/>
        </p:nvGrpSpPr>
        <p:grpSpPr>
          <a:xfrm>
            <a:off x="3986968" y="2695496"/>
            <a:ext cx="4155905" cy="1748972"/>
            <a:chOff x="3986968" y="2695496"/>
            <a:chExt cx="4155905" cy="1748972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D8A612A7-70DF-00F2-E1F3-2D75EE9162BA}"/>
                </a:ext>
              </a:extLst>
            </p:cNvPr>
            <p:cNvSpPr/>
            <p:nvPr/>
          </p:nvSpPr>
          <p:spPr>
            <a:xfrm>
              <a:off x="4420319" y="2695496"/>
              <a:ext cx="3336842" cy="1748972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noProof="0" dirty="0"/>
                <a:t>Requirements Engineering</a:t>
              </a:r>
            </a:p>
          </p:txBody>
        </p:sp>
        <p:pic>
          <p:nvPicPr>
            <p:cNvPr id="40" name="Graphic 39" descr="Recycle with solid fill">
              <a:extLst>
                <a:ext uri="{FF2B5EF4-FFF2-40B4-BE49-F238E27FC236}">
                  <a16:creationId xmlns:a16="http://schemas.microsoft.com/office/drawing/2014/main" id="{5A7A142B-8997-BE39-17C2-F26F90AFB62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045300" y="3073893"/>
              <a:ext cx="432000" cy="432000"/>
            </a:xfrm>
            <a:prstGeom prst="rect">
              <a:avLst/>
            </a:prstGeom>
          </p:spPr>
        </p:pic>
        <p:pic>
          <p:nvPicPr>
            <p:cNvPr id="42" name="Graphic 41" descr="Filter with solid fill">
              <a:extLst>
                <a:ext uri="{FF2B5EF4-FFF2-40B4-BE49-F238E27FC236}">
                  <a16:creationId xmlns:a16="http://schemas.microsoft.com/office/drawing/2014/main" id="{BCAEF0FD-1EBD-F6CA-B662-D361BFBB99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297493" y="3388910"/>
              <a:ext cx="432000" cy="432000"/>
            </a:xfrm>
            <a:prstGeom prst="rect">
              <a:avLst/>
            </a:prstGeom>
          </p:spPr>
        </p:pic>
        <p:pic>
          <p:nvPicPr>
            <p:cNvPr id="44" name="Graphic 43" descr="Priorities with solid fill">
              <a:extLst>
                <a:ext uri="{FF2B5EF4-FFF2-40B4-BE49-F238E27FC236}">
                  <a16:creationId xmlns:a16="http://schemas.microsoft.com/office/drawing/2014/main" id="{1C68AC50-70A4-2B93-CC69-C94F9D05FB6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299159" y="3961211"/>
              <a:ext cx="432000" cy="432000"/>
            </a:xfrm>
            <a:prstGeom prst="rect">
              <a:avLst/>
            </a:prstGeom>
          </p:spPr>
        </p:pic>
        <p:pic>
          <p:nvPicPr>
            <p:cNvPr id="46" name="Graphic 45" descr="Contract with solid fill">
              <a:extLst>
                <a:ext uri="{FF2B5EF4-FFF2-40B4-BE49-F238E27FC236}">
                  <a16:creationId xmlns:a16="http://schemas.microsoft.com/office/drawing/2014/main" id="{843DDE66-8CC0-FCF9-B02C-3A1338F5598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629522" y="3961211"/>
              <a:ext cx="432000" cy="432000"/>
            </a:xfrm>
            <a:prstGeom prst="rect">
              <a:avLst/>
            </a:prstGeom>
          </p:spPr>
        </p:pic>
        <p:pic>
          <p:nvPicPr>
            <p:cNvPr id="48" name="Graphic 47" descr="Document with solid fill">
              <a:extLst>
                <a:ext uri="{FF2B5EF4-FFF2-40B4-BE49-F238E27FC236}">
                  <a16:creationId xmlns:a16="http://schemas.microsoft.com/office/drawing/2014/main" id="{1D5B573E-FB15-74F5-075A-7B17B0CB1C5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162959" y="3388910"/>
              <a:ext cx="432000" cy="432000"/>
            </a:xfrm>
            <a:prstGeom prst="rect">
              <a:avLst/>
            </a:prstGeom>
          </p:spPr>
        </p:pic>
        <p:pic>
          <p:nvPicPr>
            <p:cNvPr id="50" name="Graphic 49" descr="Database with solid fill">
              <a:extLst>
                <a:ext uri="{FF2B5EF4-FFF2-40B4-BE49-F238E27FC236}">
                  <a16:creationId xmlns:a16="http://schemas.microsoft.com/office/drawing/2014/main" id="{8BF32422-D08F-3651-96DF-74F8312F33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581593" y="3394630"/>
              <a:ext cx="432000" cy="432000"/>
            </a:xfrm>
            <a:prstGeom prst="rect">
              <a:avLst/>
            </a:prstGeom>
          </p:spPr>
        </p:pic>
        <p:cxnSp>
          <p:nvCxnSpPr>
            <p:cNvPr id="52" name="Connector: Elbow 51">
              <a:extLst>
                <a:ext uri="{FF2B5EF4-FFF2-40B4-BE49-F238E27FC236}">
                  <a16:creationId xmlns:a16="http://schemas.microsoft.com/office/drawing/2014/main" id="{B911A164-DE30-E189-C361-2CC433FB0DAC}"/>
                </a:ext>
              </a:extLst>
            </p:cNvPr>
            <p:cNvCxnSpPr>
              <a:cxnSpLocks/>
              <a:stCxn id="25" idx="3"/>
              <a:endCxn id="50" idx="1"/>
            </p:cNvCxnSpPr>
            <p:nvPr/>
          </p:nvCxnSpPr>
          <p:spPr>
            <a:xfrm>
              <a:off x="3986968" y="2988579"/>
              <a:ext cx="594625" cy="622051"/>
            </a:xfrm>
            <a:prstGeom prst="bentConnector3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: Elbow 52">
              <a:extLst>
                <a:ext uri="{FF2B5EF4-FFF2-40B4-BE49-F238E27FC236}">
                  <a16:creationId xmlns:a16="http://schemas.microsoft.com/office/drawing/2014/main" id="{0DD533A1-2571-7C69-B028-604DA33E439A}"/>
                </a:ext>
              </a:extLst>
            </p:cNvPr>
            <p:cNvCxnSpPr>
              <a:cxnSpLocks/>
              <a:stCxn id="23" idx="3"/>
              <a:endCxn id="50" idx="1"/>
            </p:cNvCxnSpPr>
            <p:nvPr/>
          </p:nvCxnSpPr>
          <p:spPr>
            <a:xfrm flipV="1">
              <a:off x="3986968" y="3610630"/>
              <a:ext cx="594625" cy="622354"/>
            </a:xfrm>
            <a:prstGeom prst="bentConnector3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or: Elbow 55">
              <a:extLst>
                <a:ext uri="{FF2B5EF4-FFF2-40B4-BE49-F238E27FC236}">
                  <a16:creationId xmlns:a16="http://schemas.microsoft.com/office/drawing/2014/main" id="{B4BAEC8B-577E-2BD4-70ED-830CE269B2ED}"/>
                </a:ext>
              </a:extLst>
            </p:cNvPr>
            <p:cNvCxnSpPr>
              <a:cxnSpLocks/>
              <a:stCxn id="21" idx="3"/>
              <a:endCxn id="50" idx="1"/>
            </p:cNvCxnSpPr>
            <p:nvPr/>
          </p:nvCxnSpPr>
          <p:spPr>
            <a:xfrm flipV="1">
              <a:off x="3986968" y="3610630"/>
              <a:ext cx="594625" cy="3263"/>
            </a:xfrm>
            <a:prstGeom prst="bentConnector3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: Elbow 61">
              <a:extLst>
                <a:ext uri="{FF2B5EF4-FFF2-40B4-BE49-F238E27FC236}">
                  <a16:creationId xmlns:a16="http://schemas.microsoft.com/office/drawing/2014/main" id="{231EE8A7-8C63-8353-8A53-333ECD6D1A66}"/>
                </a:ext>
              </a:extLst>
            </p:cNvPr>
            <p:cNvCxnSpPr>
              <a:cxnSpLocks/>
              <a:stCxn id="44" idx="1"/>
              <a:endCxn id="50" idx="2"/>
            </p:cNvCxnSpPr>
            <p:nvPr/>
          </p:nvCxnSpPr>
          <p:spPr>
            <a:xfrm rot="10800000">
              <a:off x="4797593" y="3826631"/>
              <a:ext cx="501566" cy="350581"/>
            </a:xfrm>
            <a:prstGeom prst="bentConnector2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ctor: Elbow 66">
              <a:extLst>
                <a:ext uri="{FF2B5EF4-FFF2-40B4-BE49-F238E27FC236}">
                  <a16:creationId xmlns:a16="http://schemas.microsoft.com/office/drawing/2014/main" id="{92A42999-5479-A2B7-DD9F-9E260D282D03}"/>
                </a:ext>
              </a:extLst>
            </p:cNvPr>
            <p:cNvCxnSpPr>
              <a:cxnSpLocks/>
              <a:stCxn id="50" idx="0"/>
              <a:endCxn id="40" idx="1"/>
            </p:cNvCxnSpPr>
            <p:nvPr/>
          </p:nvCxnSpPr>
          <p:spPr>
            <a:xfrm rot="5400000" flipH="1" flipV="1">
              <a:off x="5369078" y="2718409"/>
              <a:ext cx="104737" cy="1247707"/>
            </a:xfrm>
            <a:prstGeom prst="bentConnector2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or: Elbow 69">
              <a:extLst>
                <a:ext uri="{FF2B5EF4-FFF2-40B4-BE49-F238E27FC236}">
                  <a16:creationId xmlns:a16="http://schemas.microsoft.com/office/drawing/2014/main" id="{F77202B8-2E57-20F8-F188-8BE520C14C72}"/>
                </a:ext>
              </a:extLst>
            </p:cNvPr>
            <p:cNvCxnSpPr>
              <a:cxnSpLocks/>
              <a:stCxn id="50" idx="3"/>
              <a:endCxn id="42" idx="1"/>
            </p:cNvCxnSpPr>
            <p:nvPr/>
          </p:nvCxnSpPr>
          <p:spPr>
            <a:xfrm flipV="1">
              <a:off x="5013593" y="3604910"/>
              <a:ext cx="283900" cy="572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ctor: Elbow 69">
              <a:extLst>
                <a:ext uri="{FF2B5EF4-FFF2-40B4-BE49-F238E27FC236}">
                  <a16:creationId xmlns:a16="http://schemas.microsoft.com/office/drawing/2014/main" id="{D97E9735-29D4-7414-5E43-2919AEB36DC1}"/>
                </a:ext>
              </a:extLst>
            </p:cNvPr>
            <p:cNvCxnSpPr>
              <a:cxnSpLocks/>
              <a:stCxn id="42" idx="2"/>
              <a:endCxn id="44" idx="0"/>
            </p:cNvCxnSpPr>
            <p:nvPr/>
          </p:nvCxnSpPr>
          <p:spPr>
            <a:xfrm>
              <a:off x="5513493" y="3820910"/>
              <a:ext cx="1666" cy="140301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: Elbow 84">
              <a:extLst>
                <a:ext uri="{FF2B5EF4-FFF2-40B4-BE49-F238E27FC236}">
                  <a16:creationId xmlns:a16="http://schemas.microsoft.com/office/drawing/2014/main" id="{04A5274E-A3A7-E7AE-E8FB-5D93BC2E92F0}"/>
                </a:ext>
              </a:extLst>
            </p:cNvPr>
            <p:cNvCxnSpPr>
              <a:cxnSpLocks/>
              <a:stCxn id="40" idx="2"/>
              <a:endCxn id="46" idx="1"/>
            </p:cNvCxnSpPr>
            <p:nvPr/>
          </p:nvCxnSpPr>
          <p:spPr>
            <a:xfrm rot="16200000" flipH="1">
              <a:off x="6109752" y="3657441"/>
              <a:ext cx="671318" cy="368222"/>
            </a:xfrm>
            <a:prstGeom prst="bentConnector2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: Elbow 87">
              <a:extLst>
                <a:ext uri="{FF2B5EF4-FFF2-40B4-BE49-F238E27FC236}">
                  <a16:creationId xmlns:a16="http://schemas.microsoft.com/office/drawing/2014/main" id="{C409D72E-414E-9F67-9547-CA460C2D2D8D}"/>
                </a:ext>
              </a:extLst>
            </p:cNvPr>
            <p:cNvCxnSpPr>
              <a:cxnSpLocks/>
              <a:stCxn id="44" idx="3"/>
              <a:endCxn id="46" idx="1"/>
            </p:cNvCxnSpPr>
            <p:nvPr/>
          </p:nvCxnSpPr>
          <p:spPr>
            <a:xfrm>
              <a:off x="5731159" y="4177211"/>
              <a:ext cx="898363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ctor: Elbow 90">
              <a:extLst>
                <a:ext uri="{FF2B5EF4-FFF2-40B4-BE49-F238E27FC236}">
                  <a16:creationId xmlns:a16="http://schemas.microsoft.com/office/drawing/2014/main" id="{C0D78D5B-8FB9-E74F-D9C6-E9FAB317A38D}"/>
                </a:ext>
              </a:extLst>
            </p:cNvPr>
            <p:cNvCxnSpPr>
              <a:cxnSpLocks/>
              <a:stCxn id="40" idx="3"/>
              <a:endCxn id="48" idx="0"/>
            </p:cNvCxnSpPr>
            <p:nvPr/>
          </p:nvCxnSpPr>
          <p:spPr>
            <a:xfrm>
              <a:off x="6477300" y="3289893"/>
              <a:ext cx="901659" cy="99017"/>
            </a:xfrm>
            <a:prstGeom prst="bentConnector2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: Elbow 93">
              <a:extLst>
                <a:ext uri="{FF2B5EF4-FFF2-40B4-BE49-F238E27FC236}">
                  <a16:creationId xmlns:a16="http://schemas.microsoft.com/office/drawing/2014/main" id="{17DC249B-E171-E63D-C124-303FC3B3E83F}"/>
                </a:ext>
              </a:extLst>
            </p:cNvPr>
            <p:cNvCxnSpPr>
              <a:cxnSpLocks/>
              <a:stCxn id="46" idx="3"/>
              <a:endCxn id="48" idx="2"/>
            </p:cNvCxnSpPr>
            <p:nvPr/>
          </p:nvCxnSpPr>
          <p:spPr>
            <a:xfrm flipV="1">
              <a:off x="7061522" y="3820910"/>
              <a:ext cx="317437" cy="356301"/>
            </a:xfrm>
            <a:prstGeom prst="bentConnector2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or: Elbow 69">
              <a:extLst>
                <a:ext uri="{FF2B5EF4-FFF2-40B4-BE49-F238E27FC236}">
                  <a16:creationId xmlns:a16="http://schemas.microsoft.com/office/drawing/2014/main" id="{B04BCE2A-5229-E504-B1B8-680A0D33B730}"/>
                </a:ext>
              </a:extLst>
            </p:cNvPr>
            <p:cNvCxnSpPr>
              <a:cxnSpLocks/>
              <a:stCxn id="42" idx="3"/>
              <a:endCxn id="48" idx="1"/>
            </p:cNvCxnSpPr>
            <p:nvPr/>
          </p:nvCxnSpPr>
          <p:spPr>
            <a:xfrm>
              <a:off x="5729493" y="3604910"/>
              <a:ext cx="1433466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ctor: Elbow 103">
              <a:extLst>
                <a:ext uri="{FF2B5EF4-FFF2-40B4-BE49-F238E27FC236}">
                  <a16:creationId xmlns:a16="http://schemas.microsoft.com/office/drawing/2014/main" id="{25D4AB44-19C8-AC98-3684-BC53B3DA2815}"/>
                </a:ext>
              </a:extLst>
            </p:cNvPr>
            <p:cNvCxnSpPr>
              <a:cxnSpLocks/>
              <a:stCxn id="48" idx="3"/>
              <a:endCxn id="19" idx="1"/>
            </p:cNvCxnSpPr>
            <p:nvPr/>
          </p:nvCxnSpPr>
          <p:spPr>
            <a:xfrm flipV="1">
              <a:off x="7594959" y="2988579"/>
              <a:ext cx="547914" cy="616331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ctor: Elbow 106">
              <a:extLst>
                <a:ext uri="{FF2B5EF4-FFF2-40B4-BE49-F238E27FC236}">
                  <a16:creationId xmlns:a16="http://schemas.microsoft.com/office/drawing/2014/main" id="{AFFC6B7F-12EF-DAB6-1DFA-E607EE104958}"/>
                </a:ext>
              </a:extLst>
            </p:cNvPr>
            <p:cNvCxnSpPr>
              <a:cxnSpLocks/>
              <a:stCxn id="48" idx="3"/>
              <a:endCxn id="15" idx="1"/>
            </p:cNvCxnSpPr>
            <p:nvPr/>
          </p:nvCxnSpPr>
          <p:spPr>
            <a:xfrm>
              <a:off x="7594959" y="3604910"/>
              <a:ext cx="547914" cy="634297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ctor: Elbow 69">
              <a:extLst>
                <a:ext uri="{FF2B5EF4-FFF2-40B4-BE49-F238E27FC236}">
                  <a16:creationId xmlns:a16="http://schemas.microsoft.com/office/drawing/2014/main" id="{9A85C2B0-C40B-FF72-BC59-9A45086F21B9}"/>
                </a:ext>
              </a:extLst>
            </p:cNvPr>
            <p:cNvCxnSpPr>
              <a:cxnSpLocks/>
              <a:stCxn id="48" idx="3"/>
              <a:endCxn id="17" idx="1"/>
            </p:cNvCxnSpPr>
            <p:nvPr/>
          </p:nvCxnSpPr>
          <p:spPr>
            <a:xfrm>
              <a:off x="7594959" y="3604910"/>
              <a:ext cx="547914" cy="8983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30155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</p:bldLst>
  </p:timing>
</p:sld>
</file>

<file path=ppt/theme/theme1.xml><?xml version="1.0" encoding="utf-8"?>
<a:theme xmlns:a="http://schemas.openxmlformats.org/drawingml/2006/main" name="Office Theme">
  <a:themeElements>
    <a:clrScheme name="Chalmers">
      <a:dk1>
        <a:sysClr val="windowText" lastClr="000000"/>
      </a:dk1>
      <a:lt1>
        <a:srgbClr val="FFFFFF"/>
      </a:lt1>
      <a:dk2>
        <a:srgbClr val="003050"/>
      </a:dk2>
      <a:lt2>
        <a:srgbClr val="FFCB05"/>
      </a:lt2>
      <a:accent1>
        <a:srgbClr val="F15A22"/>
      </a:accent1>
      <a:accent2>
        <a:srgbClr val="7FB539"/>
      </a:accent2>
      <a:accent3>
        <a:srgbClr val="006C5C"/>
      </a:accent3>
      <a:accent4>
        <a:srgbClr val="5D6F7A"/>
      </a:accent4>
      <a:accent5>
        <a:srgbClr val="58B0E3"/>
      </a:accent5>
      <a:accent6>
        <a:srgbClr val="270089"/>
      </a:accent6>
      <a:hlink>
        <a:srgbClr val="00A99D"/>
      </a:hlink>
      <a:folHlink>
        <a:srgbClr val="48372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1333</Words>
  <Application>Microsoft Office PowerPoint</Application>
  <PresentationFormat>Widescreen</PresentationFormat>
  <Paragraphs>287</Paragraphs>
  <Slides>21</Slides>
  <Notes>13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Cambria Math</vt:lpstr>
      <vt:lpstr>Wingdings</vt:lpstr>
      <vt:lpstr>Office Theme</vt:lpstr>
      <vt:lpstr>Information is all you need:</vt:lpstr>
      <vt:lpstr>Requirements Quality Research</vt:lpstr>
      <vt:lpstr>Observed Inconsistencies</vt:lpstr>
      <vt:lpstr>Observed Inconsistencies</vt:lpstr>
      <vt:lpstr>Research Philosophy: Kuhn’s Paradigms</vt:lpstr>
      <vt:lpstr>Information-centric RE</vt:lpstr>
      <vt:lpstr>Information-Centric Requirements Engineering</vt:lpstr>
      <vt:lpstr>Information-Centric Requirements Engineering</vt:lpstr>
      <vt:lpstr>Information-Centric Requirements Engineering</vt:lpstr>
      <vt:lpstr>Information-Centric Requirements Engineering</vt:lpstr>
      <vt:lpstr>Resolving the Anomaly</vt:lpstr>
      <vt:lpstr>Resolving the Anomaly</vt:lpstr>
      <vt:lpstr>Modelling RE as Information Flow</vt:lpstr>
      <vt:lpstr>Modelling RE as Information Flow</vt:lpstr>
      <vt:lpstr>Modelling RE as Information Flow</vt:lpstr>
      <vt:lpstr>Modelling RE as Information Flow</vt:lpstr>
      <vt:lpstr>Modelling RE as Information Flow</vt:lpstr>
      <vt:lpstr>Modelling RE as Information Flow</vt:lpstr>
      <vt:lpstr>Outlook</vt:lpstr>
      <vt:lpstr>Future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 Frattini</dc:creator>
  <cp:lastModifiedBy>Julian Frattini</cp:lastModifiedBy>
  <cp:revision>31</cp:revision>
  <dcterms:created xsi:type="dcterms:W3CDTF">2025-05-23T14:20:09Z</dcterms:created>
  <dcterms:modified xsi:type="dcterms:W3CDTF">2026-05-28T08:45:22Z</dcterms:modified>
</cp:coreProperties>
</file>